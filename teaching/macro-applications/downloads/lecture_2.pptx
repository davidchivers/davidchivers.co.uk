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24645f16774b34" /><Relationship Type="http://schemas.openxmlformats.org/officeDocument/2006/relationships/extended-properties" Target="/docProps/app.xml" Id="R46dc33d55a544310" /><Relationship Type="http://schemas.openxmlformats.org/officeDocument/2006/relationships/officeDocument" Target="/ppt/presentation.xml" Id="R51e0ac5fe46742a1" /></Relationships>
</file>

<file path=ppt/presentation.xml><?xml version="1.0" encoding="utf-8"?>
<p:presentation xmlns:p="http://schemas.openxmlformats.org/presentationml/2006/main">
  <p:sldMasterIdLst>
    <p:sldMasterId xmlns:r="http://schemas.openxmlformats.org/officeDocument/2006/relationships" id="2147483648" r:id="Ra4351ec6a08e4efd"/>
  </p:sldMasterIdLst>
  <p:notesMasterIdLst>
    <p:notesMasterId xmlns:r="http://schemas.openxmlformats.org/officeDocument/2006/relationships" r:id="Ra8f9f98daaf64450"/>
  </p:notesMasterIdLst>
  <p:sldIdLst>
    <p:sldId xmlns:r="http://schemas.openxmlformats.org/officeDocument/2006/relationships" id="256" r:id="R01f46237a53f4daf"/>
    <p:sldId xmlns:r="http://schemas.openxmlformats.org/officeDocument/2006/relationships" id="257" r:id="Rad04b6e432d84915"/>
    <p:sldId xmlns:r="http://schemas.openxmlformats.org/officeDocument/2006/relationships" id="258" r:id="R6a8cf57055b94271"/>
    <p:sldId xmlns:r="http://schemas.openxmlformats.org/officeDocument/2006/relationships" id="259" r:id="Rb9e5581d3a804485"/>
    <p:sldId xmlns:r="http://schemas.openxmlformats.org/officeDocument/2006/relationships" id="260" r:id="R7bfe6231bdc546b7"/>
    <p:sldId xmlns:r="http://schemas.openxmlformats.org/officeDocument/2006/relationships" id="261" r:id="R2c3164c32e6348fa"/>
    <p:sldId xmlns:r="http://schemas.openxmlformats.org/officeDocument/2006/relationships" id="262" r:id="Rc659bda866b341d9"/>
    <p:sldId xmlns:r="http://schemas.openxmlformats.org/officeDocument/2006/relationships" id="263" r:id="R26fc504a73ee41a9"/>
    <p:sldId xmlns:r="http://schemas.openxmlformats.org/officeDocument/2006/relationships" id="264" r:id="Re1f0170e1c85421a"/>
    <p:sldId xmlns:r="http://schemas.openxmlformats.org/officeDocument/2006/relationships" id="265" r:id="Raaccb36f23894e00"/>
    <p:sldId xmlns:r="http://schemas.openxmlformats.org/officeDocument/2006/relationships" id="266" r:id="R1195ed1e82e54356"/>
    <p:sldId xmlns:r="http://schemas.openxmlformats.org/officeDocument/2006/relationships" id="267" r:id="R829fbbdb3c094989"/>
    <p:sldId xmlns:r="http://schemas.openxmlformats.org/officeDocument/2006/relationships" id="268" r:id="Ra6103a8ed8b54572"/>
    <p:sldId xmlns:r="http://schemas.openxmlformats.org/officeDocument/2006/relationships" id="269" r:id="Ra737208b4bd04552"/>
    <p:sldId xmlns:r="http://schemas.openxmlformats.org/officeDocument/2006/relationships" id="270" r:id="Rad5ef4689adb4761"/>
    <p:sldId xmlns:r="http://schemas.openxmlformats.org/officeDocument/2006/relationships" id="271" r:id="R762d365d07764276"/>
    <p:sldId xmlns:r="http://schemas.openxmlformats.org/officeDocument/2006/relationships" id="272" r:id="Rb0f0e7dc09da43b8"/>
    <p:sldId xmlns:r="http://schemas.openxmlformats.org/officeDocument/2006/relationships" id="273" r:id="R8e3b463dbd884b3d"/>
    <p:sldId xmlns:r="http://schemas.openxmlformats.org/officeDocument/2006/relationships" id="274" r:id="R5dc748a8f3f14708"/>
    <p:sldId xmlns:r="http://schemas.openxmlformats.org/officeDocument/2006/relationships" id="275" r:id="R5ae4273dfb9d48ee"/>
    <p:sldId xmlns:r="http://schemas.openxmlformats.org/officeDocument/2006/relationships" id="276" r:id="R6a1f2370eb9845b4"/>
    <p:sldId xmlns:r="http://schemas.openxmlformats.org/officeDocument/2006/relationships" id="277" r:id="R52c56af9d96b41b1"/>
    <p:sldId xmlns:r="http://schemas.openxmlformats.org/officeDocument/2006/relationships" id="278" r:id="R1010825900404b2e"/>
    <p:sldId xmlns:r="http://schemas.openxmlformats.org/officeDocument/2006/relationships" id="279" r:id="Re2c89f78d9734870"/>
    <p:sldId xmlns:r="http://schemas.openxmlformats.org/officeDocument/2006/relationships" id="280" r:id="Rf028feea83494f38"/>
    <p:sldId xmlns:r="http://schemas.openxmlformats.org/officeDocument/2006/relationships" id="281" r:id="R813eaa4d32d14bd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5564ddd9474c6a" /><Relationship Type="http://schemas.openxmlformats.org/officeDocument/2006/relationships/slideMaster" Target="/ppt/slideMasters/slideMaster1.xml" Id="Ra4351ec6a08e4efd" /><Relationship Type="http://schemas.openxmlformats.org/officeDocument/2006/relationships/notesMaster" Target="/ppt/notesMasters/notesMaster1.xml" Id="Ra8f9f98daaf64450" /><Relationship Type="http://schemas.openxmlformats.org/officeDocument/2006/relationships/presProps" Target="/ppt/presProps.xml" Id="R084ed262780d4251" /><Relationship Type="http://schemas.openxmlformats.org/officeDocument/2006/relationships/tableStyles" Target="/ppt/tableStyles.xml" Id="Rb56b7c79ee34470e" /><Relationship Type="http://schemas.openxmlformats.org/officeDocument/2006/relationships/slide" Target="/ppt/slides/slide1.xml" Id="R01f46237a53f4daf" /><Relationship Type="http://schemas.openxmlformats.org/officeDocument/2006/relationships/slide" Target="/ppt/slides/slide2.xml" Id="Rad04b6e432d84915" /><Relationship Type="http://schemas.openxmlformats.org/officeDocument/2006/relationships/slide" Target="/ppt/slides/slide3.xml" Id="R6a8cf57055b94271" /><Relationship Type="http://schemas.openxmlformats.org/officeDocument/2006/relationships/slide" Target="/ppt/slides/slide4.xml" Id="Rb9e5581d3a804485" /><Relationship Type="http://schemas.openxmlformats.org/officeDocument/2006/relationships/slide" Target="/ppt/slides/slide5.xml" Id="R7bfe6231bdc546b7" /><Relationship Type="http://schemas.openxmlformats.org/officeDocument/2006/relationships/slide" Target="/ppt/slides/slide6.xml" Id="R2c3164c32e6348fa" /><Relationship Type="http://schemas.openxmlformats.org/officeDocument/2006/relationships/slide" Target="/ppt/slides/slide7.xml" Id="Rc659bda866b341d9" /><Relationship Type="http://schemas.openxmlformats.org/officeDocument/2006/relationships/slide" Target="/ppt/slides/slide8.xml" Id="R26fc504a73ee41a9" /><Relationship Type="http://schemas.openxmlformats.org/officeDocument/2006/relationships/slide" Target="/ppt/slides/slide9.xml" Id="Re1f0170e1c85421a" /><Relationship Type="http://schemas.openxmlformats.org/officeDocument/2006/relationships/slide" Target="/ppt/slides/slide10.xml" Id="Raaccb36f23894e00" /><Relationship Type="http://schemas.openxmlformats.org/officeDocument/2006/relationships/slide" Target="/ppt/slides/slide11.xml" Id="R1195ed1e82e54356" /><Relationship Type="http://schemas.openxmlformats.org/officeDocument/2006/relationships/slide" Target="/ppt/slides/slide12.xml" Id="R829fbbdb3c094989" /><Relationship Type="http://schemas.openxmlformats.org/officeDocument/2006/relationships/slide" Target="/ppt/slides/slide13.xml" Id="Ra6103a8ed8b54572" /><Relationship Type="http://schemas.openxmlformats.org/officeDocument/2006/relationships/slide" Target="/ppt/slides/slide14.xml" Id="Ra737208b4bd04552" /><Relationship Type="http://schemas.openxmlformats.org/officeDocument/2006/relationships/slide" Target="/ppt/slides/slide15.xml" Id="Rad5ef4689adb4761" /><Relationship Type="http://schemas.openxmlformats.org/officeDocument/2006/relationships/slide" Target="/ppt/slides/slide16.xml" Id="R762d365d07764276" /><Relationship Type="http://schemas.openxmlformats.org/officeDocument/2006/relationships/slide" Target="/ppt/slides/slide17.xml" Id="Rb0f0e7dc09da43b8" /><Relationship Type="http://schemas.openxmlformats.org/officeDocument/2006/relationships/slide" Target="/ppt/slides/slide18.xml" Id="R8e3b463dbd884b3d" /><Relationship Type="http://schemas.openxmlformats.org/officeDocument/2006/relationships/slide" Target="/ppt/slides/slide19.xml" Id="R5dc748a8f3f14708" /><Relationship Type="http://schemas.openxmlformats.org/officeDocument/2006/relationships/slide" Target="/ppt/slides/slide20.xml" Id="R5ae4273dfb9d48ee" /><Relationship Type="http://schemas.openxmlformats.org/officeDocument/2006/relationships/slide" Target="/ppt/slides/slide21.xml" Id="R6a1f2370eb9845b4" /><Relationship Type="http://schemas.openxmlformats.org/officeDocument/2006/relationships/slide" Target="/ppt/slides/slide22.xml" Id="R52c56af9d96b41b1" /><Relationship Type="http://schemas.openxmlformats.org/officeDocument/2006/relationships/slide" Target="/ppt/slides/slide23.xml" Id="R1010825900404b2e" /><Relationship Type="http://schemas.openxmlformats.org/officeDocument/2006/relationships/slide" Target="/ppt/slides/slide24.xml" Id="Re2c89f78d9734870" /><Relationship Type="http://schemas.openxmlformats.org/officeDocument/2006/relationships/slide" Target="/ppt/slides/slide25.xml" Id="Rf028feea83494f38" /><Relationship Type="http://schemas.openxmlformats.org/officeDocument/2006/relationships/slide" Target="/ppt/slides/slide26.xml" Id="R813eaa4d32d14b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850b29cbfc4b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f1be35feda4320" /><Relationship Type="http://schemas.openxmlformats.org/officeDocument/2006/relationships/notesMaster" Target="/ppt/notesMasters/notesMaster1.xml" Id="R81dbb43eec0742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cfd6f3c7c14a90" /><Relationship Type="http://schemas.openxmlformats.org/officeDocument/2006/relationships/notesMaster" Target="/ppt/notesMasters/notesMaster1.xml" Id="Rc66afe10310640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ecc159712b41c2" /><Relationship Type="http://schemas.openxmlformats.org/officeDocument/2006/relationships/notesMaster" Target="/ppt/notesMasters/notesMaster1.xml" Id="Rd87510a9957045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649f22ecfe4034" /><Relationship Type="http://schemas.openxmlformats.org/officeDocument/2006/relationships/notesMaster" Target="/ppt/notesMasters/notesMaster1.xml" Id="R7e9cc27cbee34a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ddcb4ddcba4fc5" /><Relationship Type="http://schemas.openxmlformats.org/officeDocument/2006/relationships/notesMaster" Target="/ppt/notesMasters/notesMaster1.xml" Id="R239ecab9286548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28ad9e5f254d0b" /><Relationship Type="http://schemas.openxmlformats.org/officeDocument/2006/relationships/notesMaster" Target="/ppt/notesMasters/notesMaster1.xml" Id="R3d372805475d42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c36d3ad6f74e63" /><Relationship Type="http://schemas.openxmlformats.org/officeDocument/2006/relationships/notesMaster" Target="/ppt/notesMasters/notesMaster1.xml" Id="Rfa746e051d0545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dc07bfff134cc7" /><Relationship Type="http://schemas.openxmlformats.org/officeDocument/2006/relationships/notesMaster" Target="/ppt/notesMasters/notesMaster1.xml" Id="Rf1270fb568d249f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be80d54b9949a2" /><Relationship Type="http://schemas.openxmlformats.org/officeDocument/2006/relationships/notesMaster" Target="/ppt/notesMasters/notesMaster1.xml" Id="R55fc6624e7bd41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b11046b6a543c0" /><Relationship Type="http://schemas.openxmlformats.org/officeDocument/2006/relationships/notesMaster" Target="/ppt/notesMasters/notesMaster1.xml" Id="Rc491187d5ecb4a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3abe5161314b97" /><Relationship Type="http://schemas.openxmlformats.org/officeDocument/2006/relationships/notesMaster" Target="/ppt/notesMasters/notesMaster1.xml" Id="R6d7d0a38e06641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6f72a73dc564973" /><Relationship Type="http://schemas.openxmlformats.org/officeDocument/2006/relationships/notesMaster" Target="/ppt/notesMasters/notesMaster1.xml" Id="Rd4b3de61c6594e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9a2260f72a4c89" /><Relationship Type="http://schemas.openxmlformats.org/officeDocument/2006/relationships/notesMaster" Target="/ppt/notesMasters/notesMaster1.xml" Id="Rd914192ce20941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f3d70b1c87d4821" /><Relationship Type="http://schemas.openxmlformats.org/officeDocument/2006/relationships/notesMaster" Target="/ppt/notesMasters/notesMaster1.xml" Id="Rea2ea0c6af6d4b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b8615548d314ce6" /><Relationship Type="http://schemas.openxmlformats.org/officeDocument/2006/relationships/notesMaster" Target="/ppt/notesMasters/notesMaster1.xml" Id="Ra8afab12585d41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3e3c58b5bb34870" /><Relationship Type="http://schemas.openxmlformats.org/officeDocument/2006/relationships/notesMaster" Target="/ppt/notesMasters/notesMaster1.xml" Id="R609ada2a32f948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f101d898e74f75" /><Relationship Type="http://schemas.openxmlformats.org/officeDocument/2006/relationships/notesMaster" Target="/ppt/notesMasters/notesMaster1.xml" Id="R1e21205717f243e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a4330757fbf4c3d" /><Relationship Type="http://schemas.openxmlformats.org/officeDocument/2006/relationships/notesMaster" Target="/ppt/notesMasters/notesMaster1.xml" Id="R7b12ffcb4cdb4d1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ebe5a3d56994465" /><Relationship Type="http://schemas.openxmlformats.org/officeDocument/2006/relationships/notesMaster" Target="/ppt/notesMasters/notesMaster1.xml" Id="Rdfaf2ab3d0f048f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0d181be80a04693" /><Relationship Type="http://schemas.openxmlformats.org/officeDocument/2006/relationships/notesMaster" Target="/ppt/notesMasters/notesMaster1.xml" Id="Ra9bf6fa88fdb415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375b2134ece471e" /><Relationship Type="http://schemas.openxmlformats.org/officeDocument/2006/relationships/notesMaster" Target="/ppt/notesMasters/notesMaster1.xml" Id="R4b15093a146f40d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60b3660273246fc" /><Relationship Type="http://schemas.openxmlformats.org/officeDocument/2006/relationships/notesMaster" Target="/ppt/notesMasters/notesMaster1.xml" Id="R49d81096fa53417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dc8f3b2cf5f43a0" /><Relationship Type="http://schemas.openxmlformats.org/officeDocument/2006/relationships/notesMaster" Target="/ppt/notesMasters/notesMaster1.xml" Id="R537f203196434af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15a833d00404ff1" /><Relationship Type="http://schemas.openxmlformats.org/officeDocument/2006/relationships/notesMaster" Target="/ppt/notesMasters/notesMaster1.xml" Id="R72b9567b7ab448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e4d4209acc344fa" /><Relationship Type="http://schemas.openxmlformats.org/officeDocument/2006/relationships/notesMaster" Target="/ppt/notesMasters/notesMaster1.xml" Id="Rc5e6048fa8bb45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a279ad9db5247f3" /><Relationship Type="http://schemas.openxmlformats.org/officeDocument/2006/relationships/notesMaster" Target="/ppt/notesMasters/notesMaster1.xml" Id="R748aa0eeebb24d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EAEU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Current membership: October 2026.</a:t>
            </a:r>
          </a:p>
          <a:p xmlns:a="http://schemas.openxmlformats.org/drawingml/2006/main">
            <a:r>
              <a:t/>
            </a:r>
          </a:p>
          <a:p xmlns:a="http://schemas.openxmlformats.org/drawingml/2006/main">
            <a:r>
              <a:t>EUCU</a:t>
            </a:r>
          </a:p>
          <a:p xmlns:a="http://schemas.openxmlformats.org/drawingml/2006/main">
            <a:r>
              <a:t>EAEU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Checked 6 October 2026 · Selected arrangements; implementation varies. Stripes: special status or overlapping membership.</a:t>
            </a:r>
          </a:p>
          <a:p xmlns:a="http://schemas.openxmlformats.org/drawingml/2006/main">
            <a:r>
              <a:t>Hover for details and official sources. Map base (adapted; territories simplified).</a:t>
            </a:r>
          </a:p>
          <a:p xmlns:a="http://schemas.openxmlformats.org/drawingml/2006/main">
            <a:r>
              <a:t/>
            </a:r>
          </a:p>
          <a:p xmlns:a="http://schemas.openxmlformats.org/drawingml/2006/main">
            <a:r>
              <a:t>Current membership and status (6 October 2026):</a:t>
            </a:r>
          </a:p>
          <a:p xmlns:a="http://schemas.openxmlformats.org/drawingml/2006/main">
            <a:r>
              <a:t>EUCU: EU customs union and linked unions</a:t>
            </a:r>
          </a:p>
          <a:p xmlns:a="http://schemas.openxmlformats.org/drawingml/2006/main">
            <a:r>
              <a:t>EU 27 and neighbouring arrangements</a:t>
            </a:r>
          </a:p>
          <a:p xmlns:a="http://schemas.openxmlformats.org/drawingml/2006/main">
            <a:r>
              <a:t>EU 27 and Monaco share the EU customs territory. Türkiye, Andorra and San Marino have separate customs-union agreements (striped), with differing product coverage. The UK is outside.</a:t>
            </a:r>
          </a:p>
          <a:p xmlns:a="http://schemas.openxmlformats.org/drawingml/2006/main">
            <a:r>
              <a:t/>
            </a:r>
          </a:p>
          <a:p xmlns:a="http://schemas.openxmlformats.org/drawingml/2006/main">
            <a:r>
              <a:t>EAEU: Eurasian Economic Union</a:t>
            </a:r>
          </a:p>
          <a:p xmlns:a="http://schemas.openxmlformats.org/drawingml/2006/main">
            <a:r>
              <a:t>5 members · Eurasia</a:t>
            </a:r>
          </a:p>
          <a:p xmlns:a="http://schemas.openxmlformats.org/drawingml/2006/main">
            <a:r>
              <a:t>Armenia, Belarus, Kazakhstan, Kyrgyzstan and Russia share a customs union and common external tariff. Observer states and free-trade partners are not members and are not shaded.</a:t>
            </a:r>
          </a:p>
          <a:p xmlns:a="http://schemas.openxmlformats.org/drawingml/2006/main">
            <a:r>
              <a:t/>
            </a:r>
          </a:p>
          <a:p xmlns:a="http://schemas.openxmlformats.org/drawingml/2006/main">
            <a:r>
              <a:t>MERCOSUR: Southern Common Market</a:t>
            </a:r>
          </a:p>
          <a:p xmlns:a="http://schemas.openxmlformats.org/drawingml/2006/main">
            <a:r>
              <a:t>5 active members · South America</a:t>
            </a:r>
          </a:p>
          <a:p xmlns:a="http://schemas.openxmlformats.org/drawingml/2006/main">
            <a:r>
              <a:t>Argentina, Bolivia, Brazil, Paraguay and Uruguay. Bolivia joined in 2024, with up to four years to adopt bloc rules. Two-colour stripes show its Andean membership too. Venezuela remains suspended.</a:t>
            </a:r>
          </a:p>
          <a:p xmlns:a="http://schemas.openxmlformats.org/drawingml/2006/main">
            <a:r>
              <a:t/>
            </a:r>
          </a:p>
          <a:p xmlns:a="http://schemas.openxmlformats.org/drawingml/2006/main">
            <a:r>
              <a:t>CAN: Andean Community</a:t>
            </a:r>
          </a:p>
          <a:p xmlns:a="http://schemas.openxmlformats.org/drawingml/2006/main">
            <a:r>
              <a:t>4 members · Andean South America</a:t>
            </a:r>
          </a:p>
          <a:p xmlns:a="http://schemas.openxmlformats.org/drawingml/2006/main">
            <a:r>
              <a:t>Bolivia, Colombia, Ecuador and Peru. This is a free-trade integration bloc, without a fully operating common external tariff. Stripes flag that distinction; Bolivia also belongs to MERCOSUR.</a:t>
            </a:r>
          </a:p>
          <a:p xmlns:a="http://schemas.openxmlformats.org/drawingml/2006/main">
            <a:r>
              <a:t/>
            </a:r>
          </a:p>
          <a:p xmlns:a="http://schemas.openxmlformats.org/drawingml/2006/main">
            <a:r>
              <a:t>CACM: Central American economic integration</a:t>
            </a:r>
          </a:p>
          <a:p xmlns:a="http://schemas.openxmlformats.org/drawingml/2006/main">
            <a:r>
              <a:t>6 participants · Central America</a:t>
            </a:r>
          </a:p>
          <a:p xmlns:a="http://schemas.openxmlformats.org/drawingml/2006/main">
            <a:r>
              <a:t>Costa Rica, El Salvador, Guatemala, Honduras, Nicaragua and Panama. Panama joined in 2013; stripes mark its distinct incorporation arrangements. Customs and tariff integration remain incomplete.</a:t>
            </a:r>
          </a:p>
          <a:p xmlns:a="http://schemas.openxmlformats.org/drawingml/2006/main">
            <a:r>
              <a:t/>
            </a:r>
          </a:p>
          <a:p xmlns:a="http://schemas.openxmlformats.org/drawingml/2006/main">
            <a:r>
              <a:t>CARICOM: Caribbean Community</a:t>
            </a:r>
          </a:p>
          <a:p xmlns:a="http://schemas.openxmlformats.org/drawingml/2006/main">
            <a:r>
              <a:t>15 members · 8 associate members</a:t>
            </a:r>
          </a:p>
          <a:p xmlns:a="http://schemas.openxmlformats.org/drawingml/2006/main">
            <a:r>
              <a:t>Twelve Single Market participants. Haiti and Montserrat have special arrangements (striped). The Bahamas and associates are outside this tariff shading. Martinique and French Guiana became associates in 2026.</a:t>
            </a:r>
          </a:p>
          <a:p xmlns:a="http://schemas.openxmlformats.org/drawingml/2006/main">
            <a:r>
              <a:t/>
            </a:r>
          </a:p>
          <a:p xmlns:a="http://schemas.openxmlformats.org/drawingml/2006/main">
            <a:r>
              <a:t>WAEMU: West African Economic and Monetary Union</a:t>
            </a:r>
          </a:p>
          <a:p xmlns:a="http://schemas.openxmlformats.org/drawingml/2006/main">
            <a:r>
              <a:t>8 members · also called UEMOA</a:t>
            </a:r>
          </a:p>
          <a:p xmlns:a="http://schemas.openxmlformats.org/drawingml/2006/main">
            <a:r>
              <a:t>Eight members, including Mali, Burkina Faso and Niger. UEMOA remains their customs and monetary union. It is a separate organisation from ECOWAS.</a:t>
            </a:r>
          </a:p>
          <a:p xmlns:a="http://schemas.openxmlformats.org/drawingml/2006/main">
            <a:r>
              <a:t/>
            </a:r>
          </a:p>
          <a:p xmlns:a="http://schemas.openxmlformats.org/drawingml/2006/main">
            <a:r>
              <a:t>CEMAC: Central African Economic and Monetary Community</a:t>
            </a:r>
          </a:p>
          <a:p xmlns:a="http://schemas.openxmlformats.org/drawingml/2006/main">
            <a:r>
              <a:t>6 members · Central Africa</a:t>
            </a:r>
          </a:p>
          <a:p xmlns:a="http://schemas.openxmlformats.org/drawingml/2006/main">
            <a:r>
              <a:t>Cameroon, Central African Republic, Chad, Republic of the Congo, Equatorial Guinea and Gabon share a customs-union framework and common currency.</a:t>
            </a:r>
          </a:p>
          <a:p xmlns:a="http://schemas.openxmlformats.org/drawingml/2006/main">
            <a:r>
              <a:t/>
            </a:r>
          </a:p>
          <a:p xmlns:a="http://schemas.openxmlformats.org/drawingml/2006/main">
            <a:r>
              <a:t>EAC: East African Community</a:t>
            </a:r>
          </a:p>
          <a:p xmlns:a="http://schemas.openxmlformats.org/drawingml/2006/main">
            <a:r>
              <a:t>8 partner states · East Africa</a:t>
            </a:r>
          </a:p>
          <a:p xmlns:a="http://schemas.openxmlformats.org/drawingml/2006/main">
            <a:r>
              <a:t>Now eight members. South Sudan joined in 2016, DR Congo in 2022 and Somalia in 2024. These three are striped because integration into EAC rules is still underway.</a:t>
            </a:r>
          </a:p>
          <a:p xmlns:a="http://schemas.openxmlformats.org/drawingml/2006/main">
            <a:r>
              <a:t/>
            </a:r>
          </a:p>
          <a:p xmlns:a="http://schemas.openxmlformats.org/drawingml/2006/main">
            <a:r>
              <a:t>SACU: Southern African Customs Union</a:t>
            </a:r>
          </a:p>
          <a:p xmlns:a="http://schemas.openxmlformats.org/drawingml/2006/main">
            <a:r>
              <a:t>5 members · Southern Africa</a:t>
            </a:r>
          </a:p>
          <a:p xmlns:a="http://schemas.openxmlformats.org/drawingml/2006/main">
            <a:r>
              <a:t>Botswana, Eswatini, Lesotho, Namibia and South Africa share a customs area, a common external tariff and a revenue-sharing arrangement.</a:t>
            </a:r>
          </a:p>
          <a:p xmlns:a="http://schemas.openxmlformats.org/drawingml/2006/main">
            <a:r>
              <a:t/>
            </a:r>
          </a:p>
          <a:p xmlns:a="http://schemas.openxmlformats.org/drawingml/2006/main">
            <a:r>
              <a:t>GCC: Gulf Cooperation Council</a:t>
            </a:r>
          </a:p>
          <a:p xmlns:a="http://schemas.openxmlformats.org/drawingml/2006/main">
            <a:r>
              <a:t>6 members · Arabian Gulf</a:t>
            </a:r>
          </a:p>
          <a:p xmlns:a="http://schemas.openxmlformats.org/drawingml/2006/main">
            <a:r>
              <a:t>Bahrain, Kuwait, Oman, Qatar, Saudi Arabia and the United Arab Emirates. Their customs union dates from 2003; completing its remaining requirements is still an official priority.</a:t>
            </a:r>
          </a:p>
          <a:p xmlns:a="http://schemas.openxmlformats.org/drawingml/2006/main">
            <a:r>
              <a:t/>
            </a:r>
          </a:p>
          <a:p xmlns:a="http://schemas.openxmlformats.org/drawingml/2006/main">
            <a:r>
              <a:t>CH-FL: Switzerland–Liechtenstein customs union</a:t>
            </a:r>
          </a:p>
          <a:p xmlns:a="http://schemas.openxmlformats.org/drawingml/2006/main">
            <a:r>
              <a:t>2 countries · Central Europe</a:t>
            </a:r>
          </a:p>
          <a:p xmlns:a="http://schemas.openxmlformats.org/drawingml/2006/main">
            <a:r>
              <a:t>Liechtenstein forms a common customs area with Switzerland under their bilateral treaty. Both countries are outside the EU customs union.</a:t>
            </a:r>
          </a:p>
          <a:p xmlns:a="http://schemas.openxmlformats.org/drawingml/2006/main">
            <a:r>
              <a:t/>
            </a:r>
          </a:p>
          <a:p xmlns:a="http://schemas.openxmlformats.org/drawingml/2006/main">
            <a:r>
              <a:t>Membership checked 6 October 2026. The East African Community includes eight countries, including South Sudan, DR Congo and Somalia. Bolivia belongs to MERCOSUR and the Andean Community. Stripes identify special or transitional arrangements. Choose a bloc for current membership and qualifications; geography is simplified.</a:t>
            </a:r>
          </a:p>
          <a:p xmlns:a="http://schemas.openxmlformats.org/drawingml/2006/main">
            <a:r>
              <a:t/>
            </a:r>
          </a:p>
          <a:p xmlns:a="http://schemas.openxmlformats.org/drawingml/2006/main">
            <a:r>
              <a:t/>
            </a:r>
          </a:p>
          <a:p xmlns:a="http://schemas.openxmlformats.org/drawingml/2006/main">
            <a:r>
              <a:t/>
            </a:r>
          </a:p>
          <a:p xmlns:a="http://schemas.openxmlformats.org/drawingml/2006/main">
            <a:r>
              <a:t>https://taxation-customs.ec.europa.eu/list-non-eu-countries_en</a:t>
            </a:r>
          </a:p>
          <a:p xmlns:a="http://schemas.openxmlformats.org/drawingml/2006/main">
            <a:r>
              <a:t>https://taxation-customs.ec.europa.eu/customs/eu-customs-reform_en</a:t>
            </a:r>
          </a:p>
          <a:p xmlns:a="http://schemas.openxmlformats.org/drawingml/2006/main">
            <a:r>
              <a:t>https://www.eaeunion.org/?lang=en</a:t>
            </a:r>
          </a:p>
          <a:p xmlns:a="http://schemas.openxmlformats.org/drawingml/2006/main">
            <a:r>
              <a:t>https://www.mercosur.int/en/about-mercosur/countries</a:t>
            </a:r>
          </a:p>
          <a:p xmlns:a="http://schemas.openxmlformats.org/drawingml/2006/main">
            <a:r>
              <a:t>https://www.comunidadandina.org/quienes-somos/paises-miembros/</a:t>
            </a:r>
          </a:p>
          <a:p xmlns:a="http://schemas.openxmlformats.org/drawingml/2006/main">
            <a:r>
              <a:t>https://www.comunidadandina.org/DocOficialesFiles/DInformativos/SGdi1053.pdf</a:t>
            </a:r>
          </a:p>
          <a:p xmlns:a="http://schemas.openxmlformats.org/drawingml/2006/main">
            <a:r>
              <a:t>https://www.sieca.int/faq/</a:t>
            </a:r>
          </a:p>
          <a:p xmlns:a="http://schemas.openxmlformats.org/drawingml/2006/main">
            <a:r>
              <a:t>https://www.sieca.int/integracion-economica-centroamericana/panama-en-el-subsistema-economico/</a:t>
            </a:r>
          </a:p>
          <a:p xmlns:a="http://schemas.openxmlformats.org/drawingml/2006/main">
            <a:r>
              <a:t>https://caricom.org/caricom-secretariat-wraps-up-trade-readiness-talks-with-400-stakeholders-across-12-countries/</a:t>
            </a:r>
          </a:p>
          <a:p xmlns:a="http://schemas.openxmlformats.org/drawingml/2006/main">
            <a:r>
              <a:t>https://caricom.org/communique-fifty-first-regular-meeting-of-the-conference-of-heads-of-government-of-the-caribbean-community-caricom-saint-lucia/</a:t>
            </a:r>
          </a:p>
          <a:p xmlns:a="http://schemas.openxmlformats.org/drawingml/2006/main">
            <a:r>
              <a:t>https://www.uemoa.int/index.php/en/presentation-of-uemoa</a:t>
            </a:r>
          </a:p>
          <a:p xmlns:a="http://schemas.openxmlformats.org/drawingml/2006/main">
            <a:r>
              <a:t>https://cemac.int/</a:t>
            </a:r>
          </a:p>
          <a:p xmlns:a="http://schemas.openxmlformats.org/drawingml/2006/main">
            <a:r>
              <a:t>https://www.eac.int/overview-of-eac</a:t>
            </a:r>
          </a:p>
          <a:p xmlns:a="http://schemas.openxmlformats.org/drawingml/2006/main">
            <a:r>
              <a:t>https://www.sacu.int/about-sacu</a:t>
            </a:r>
          </a:p>
          <a:p xmlns:a="http://schemas.openxmlformats.org/drawingml/2006/main">
            <a:r>
              <a:t>https://www.gcc-sg.org/en/AboutUs/Pages/FoundingDay.aspx</a:t>
            </a:r>
          </a:p>
          <a:p xmlns:a="http://schemas.openxmlformats.org/drawingml/2006/main">
            <a:r>
              <a:t>https://www.gcc-sg.org/en/MediaCenter/News/Pages/news2025-12-3-3.aspx</a:t>
            </a:r>
          </a:p>
          <a:p xmlns:a="http://schemas.openxmlformats.org/drawingml/2006/main">
            <a:r>
              <a:t>https://www.llv.li/en/national-administration/diplomatic-representations/berne-ch/bilateral-relations-liechtenstein---switzerland</a:t>
            </a:r>
          </a:p>
          <a:p xmlns:a="http://schemas.openxmlformats.org/drawingml/2006/main">
            <a:r>
              <a:t>https://commons.wikimedia.org/wiki/File:Customs_Unions_World.svg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a:t>
            </a:r>
          </a:p>
          <a:p xmlns:a="http://schemas.openxmlformats.org/drawingml/2006/main">
            <a:r>
              <a:t/>
            </a:r>
          </a:p>
          <a:p xmlns:a="http://schemas.openxmlformats.org/drawingml/2006/main">
            <a:r>
              <a:t>Trade creation exceeded trade diversion in Europe, but the estimated gains were small.</a:t>
            </a:r>
          </a:p>
          <a:p xmlns:a="http://schemas.openxmlformats.org/drawingml/2006/main">
            <a:r>
              <a:t/>
            </a:r>
          </a:p>
          <a:p xmlns:a="http://schemas.openxmlformats.org/drawingml/2006/main">
            <a:r>
              <a:t>Baldwin and Venables (1995).</a:t>
            </a:r>
          </a:p>
          <a:p xmlns:a="http://schemas.openxmlformats.org/drawingml/2006/main">
            <a:r>
              <a:t/>
            </a:r>
          </a:p>
          <a:p xmlns:a="http://schemas.openxmlformats.org/drawingml/2006/main">
            <a:r>
              <a:t>Findings in context</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and Wyplosz, The Economics of European Integration, Chapters 4 and 5 (any edition).</a:t>
            </a:r>
          </a:p>
          <a:p xmlns:a="http://schemas.openxmlformats.org/drawingml/2006/main">
            <a:r>
              <a:t>Further reading</a:t>
            </a:r>
          </a:p>
          <a:p xmlns:a="http://schemas.openxmlformats.org/drawingml/2006/main">
            <a:r>
              <a:t/>
            </a:r>
          </a:p>
          <a:p xmlns:a="http://schemas.openxmlformats.org/drawingml/2006/main">
            <a:r>
              <a:t>See the ECON2271 Talis reading list,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c7014ba50148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8d17f2461742f4" /><Relationship Type="http://schemas.openxmlformats.org/officeDocument/2006/relationships/slideLayout" Target="/ppt/slideLayouts/slideLayout1.xml" Id="R4087482ac4d142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87482ac4d142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d51e4c80164041" /><Relationship Type="http://schemas.openxmlformats.org/officeDocument/2006/relationships/image" Target="/ppt/media/image.jpeg" Id="R19209e166b2446da" /><Relationship Type="http://schemas.openxmlformats.org/officeDocument/2006/relationships/notesSlide" Target="/ppt/notesSlides/notesSlide1.xml" Id="R240b2edd3a4f4a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fd7cca36854306" /><Relationship Type="http://schemas.openxmlformats.org/officeDocument/2006/relationships/image" Target="/ppt/media/image2.jpeg" Id="R5b3331a3f2664105" /><Relationship Type="http://schemas.openxmlformats.org/officeDocument/2006/relationships/notesSlide" Target="/ppt/notesSlides/notesSlide2.xml" Id="R4d0038dad0fe4f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9729724bfe46f6" /><Relationship Type="http://schemas.openxmlformats.org/officeDocument/2006/relationships/image" Target="/ppt/media/image3.jpeg" Id="Radbf11c479da4e9c" /><Relationship Type="http://schemas.openxmlformats.org/officeDocument/2006/relationships/notesSlide" Target="/ppt/notesSlides/notesSlide3.xml" Id="Ra006f83b96884e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b3e5bfac5c14daf" /><Relationship Type="http://schemas.openxmlformats.org/officeDocument/2006/relationships/image" Target="/ppt/media/image.png" Id="R39ea768e5a944c1f" /><Relationship Type="http://schemas.openxmlformats.org/officeDocument/2006/relationships/notesSlide" Target="/ppt/notesSlides/notesSlide4.xml" Id="R5081152e4a2745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d2dcaf2b574c3a" /><Relationship Type="http://schemas.openxmlformats.org/officeDocument/2006/relationships/image" Target="/ppt/media/image4.jpeg" Id="Ra189893051d248b5" /><Relationship Type="http://schemas.openxmlformats.org/officeDocument/2006/relationships/notesSlide" Target="/ppt/notesSlides/notesSlide5.xml" Id="Rbbcd29d490d4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970c3f1ff74861" /><Relationship Type="http://schemas.openxmlformats.org/officeDocument/2006/relationships/image" Target="/ppt/media/image5.jpeg" Id="R9d606b5eb47e42e3" /><Relationship Type="http://schemas.openxmlformats.org/officeDocument/2006/relationships/notesSlide" Target="/ppt/notesSlides/notesSlide6.xml" Id="R8369ff34ae7946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5a759458da48a1" /><Relationship Type="http://schemas.openxmlformats.org/officeDocument/2006/relationships/image" Target="/ppt/media/image6.jpeg" Id="R7f21f2289da64e8e" /><Relationship Type="http://schemas.openxmlformats.org/officeDocument/2006/relationships/notesSlide" Target="/ppt/notesSlides/notesSlide7.xml" Id="R806b895f4f7643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ce4ab372854a0d" /><Relationship Type="http://schemas.openxmlformats.org/officeDocument/2006/relationships/image" Target="/ppt/media/image7.jpeg" Id="R0f00c436891a4f49" /><Relationship Type="http://schemas.openxmlformats.org/officeDocument/2006/relationships/notesSlide" Target="/ppt/notesSlides/notesSlide8.xml" Id="Re6375591045347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759740297e4f7f" /><Relationship Type="http://schemas.openxmlformats.org/officeDocument/2006/relationships/image" Target="/ppt/media/image8.jpeg" Id="Ra2ce5149afbe4d00" /><Relationship Type="http://schemas.openxmlformats.org/officeDocument/2006/relationships/notesSlide" Target="/ppt/notesSlides/notesSlide9.xml" Id="Rd8f3bac84f8947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23e91f39e714113" /><Relationship Type="http://schemas.openxmlformats.org/officeDocument/2006/relationships/image" Target="/ppt/media/image9.jpeg" Id="R6f78218eb959474d" /><Relationship Type="http://schemas.openxmlformats.org/officeDocument/2006/relationships/notesSlide" Target="/ppt/notesSlides/notesSlide10.xml" Id="Rfae950ed94444e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bc62497e80a47c8" /><Relationship Type="http://schemas.openxmlformats.org/officeDocument/2006/relationships/image" Target="/ppt/media/image10.jpeg" Id="Rfac238d41d114cab" /><Relationship Type="http://schemas.openxmlformats.org/officeDocument/2006/relationships/notesSlide" Target="/ppt/notesSlides/notesSlide11.xml" Id="R9bdb4ea798bb42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0b8b7da51974686" /><Relationship Type="http://schemas.openxmlformats.org/officeDocument/2006/relationships/image" Target="/ppt/media/image11.jpeg" Id="R32d8cd28f29a42d8" /><Relationship Type="http://schemas.openxmlformats.org/officeDocument/2006/relationships/notesSlide" Target="/ppt/notesSlides/notesSlide12.xml" Id="R80aa62b7b81843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a098b96d93043f5" /><Relationship Type="http://schemas.openxmlformats.org/officeDocument/2006/relationships/image" Target="/ppt/media/image12.jpeg" Id="R6a3cac71aad44e8f" /><Relationship Type="http://schemas.openxmlformats.org/officeDocument/2006/relationships/notesSlide" Target="/ppt/notesSlides/notesSlide13.xml" Id="R4658984b2cf844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e260869f4f4c51" /><Relationship Type="http://schemas.openxmlformats.org/officeDocument/2006/relationships/image" Target="/ppt/media/image13.jpeg" Id="R73980ee4d3b44b22" /><Relationship Type="http://schemas.openxmlformats.org/officeDocument/2006/relationships/notesSlide" Target="/ppt/notesSlides/notesSlide14.xml" Id="R79d35ca21b8c4dc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92f0a30c0574e0d" /><Relationship Type="http://schemas.openxmlformats.org/officeDocument/2006/relationships/image" Target="/ppt/media/image14.jpeg" Id="Rc31f3f006e434098" /><Relationship Type="http://schemas.openxmlformats.org/officeDocument/2006/relationships/notesSlide" Target="/ppt/notesSlides/notesSlide15.xml" Id="R390e6f05002842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9b6640e612a4d94" /><Relationship Type="http://schemas.openxmlformats.org/officeDocument/2006/relationships/image" Target="/ppt/media/image15.jpeg" Id="R48f35e6596cb425e" /><Relationship Type="http://schemas.openxmlformats.org/officeDocument/2006/relationships/notesSlide" Target="/ppt/notesSlides/notesSlide16.xml" Id="Rce8c76872e87436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1c4f61ee5b5487b" /><Relationship Type="http://schemas.openxmlformats.org/officeDocument/2006/relationships/image" Target="/ppt/media/image16.jpeg" Id="R96f61085ed824667" /><Relationship Type="http://schemas.openxmlformats.org/officeDocument/2006/relationships/notesSlide" Target="/ppt/notesSlides/notesSlide17.xml" Id="R10059f866afc40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fcf11afedbf4a19" /><Relationship Type="http://schemas.openxmlformats.org/officeDocument/2006/relationships/image" Target="/ppt/media/image17.jpeg" Id="R5f528c5a708a4fe2" /><Relationship Type="http://schemas.openxmlformats.org/officeDocument/2006/relationships/notesSlide" Target="/ppt/notesSlides/notesSlide18.xml" Id="Ref6e7870d6eb45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623de3ce8cc428f" /><Relationship Type="http://schemas.openxmlformats.org/officeDocument/2006/relationships/image" Target="/ppt/media/image18.jpeg" Id="Rf5d29d4084f54658" /><Relationship Type="http://schemas.openxmlformats.org/officeDocument/2006/relationships/notesSlide" Target="/ppt/notesSlides/notesSlide19.xml" Id="Rc8c2fa66185346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2f49b3866fa4792" /><Relationship Type="http://schemas.openxmlformats.org/officeDocument/2006/relationships/image" Target="/ppt/media/image19.jpeg" Id="Rb059737d3ad04674" /><Relationship Type="http://schemas.openxmlformats.org/officeDocument/2006/relationships/notesSlide" Target="/ppt/notesSlides/notesSlide20.xml" Id="Re7ff8859d2844ff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b15126c16064055" /><Relationship Type="http://schemas.openxmlformats.org/officeDocument/2006/relationships/image" Target="/ppt/media/image20.jpeg" Id="R131dc00d7a2f4302" /><Relationship Type="http://schemas.openxmlformats.org/officeDocument/2006/relationships/notesSlide" Target="/ppt/notesSlides/notesSlide21.xml" Id="Re84f85ef7bfe418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0718cecc6214973" /><Relationship Type="http://schemas.openxmlformats.org/officeDocument/2006/relationships/image" Target="/ppt/media/image21.jpeg" Id="R81fb117c711c4d40" /><Relationship Type="http://schemas.openxmlformats.org/officeDocument/2006/relationships/notesSlide" Target="/ppt/notesSlides/notesSlide22.xml" Id="Re067b92a3a5a41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f6612460c74f4b" /><Relationship Type="http://schemas.openxmlformats.org/officeDocument/2006/relationships/image" Target="/ppt/media/image2.png" Id="Red2615ef9d514b46" /><Relationship Type="http://schemas.openxmlformats.org/officeDocument/2006/relationships/notesSlide" Target="/ppt/notesSlides/notesSlide23.xml" Id="R3d96f0ba5a564b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5d607a891064555" /><Relationship Type="http://schemas.openxmlformats.org/officeDocument/2006/relationships/image" Target="/ppt/media/image3.png" Id="R87f30c52078c4b39" /><Relationship Type="http://schemas.openxmlformats.org/officeDocument/2006/relationships/notesSlide" Target="/ppt/notesSlides/notesSlide24.xml" Id="R1238f8763a494ac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c08b7552ae84786" /><Relationship Type="http://schemas.openxmlformats.org/officeDocument/2006/relationships/image" Target="/ppt/media/image22.jpeg" Id="Rc0bf13665473491f" /><Relationship Type="http://schemas.openxmlformats.org/officeDocument/2006/relationships/notesSlide" Target="/ppt/notesSlides/notesSlide25.xml" Id="R53636d2316e7454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9b5753f3a274180" /><Relationship Type="http://schemas.openxmlformats.org/officeDocument/2006/relationships/image" Target="/ppt/media/image4.png" Id="Rd4e8c0f53e81410d" /><Relationship Type="http://schemas.openxmlformats.org/officeDocument/2006/relationships/notesSlide" Target="/ppt/notesSlides/notesSlide26.xml" Id="R19dcfd035f714ac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209e166b2446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467689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b3331a3f266410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362124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dbf11c479da4e9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6490847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9ea768e5a944c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130836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89893051d248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184091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d606b5eb47e42e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3965652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f21f2289da64e8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8178516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f00c436891a4f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7921796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2ce5149afbe4d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794125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f78218eb959474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00674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c238d41d114c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6388182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2d8cd28f29a42d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814308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a3cac71aad44e8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0424189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980ee4d3b44b2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66826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31f3f006e43409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891843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8f35e6596cb425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33735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6f61085ed8246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7222765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528c5a708a4fe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175488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d29d4084f546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7464646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059737d3ad0467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145341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31dc00d7a2f430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2276843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1fb117c711c4d4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087591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d2615ef9d514b4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2246429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7f30c52078c4b3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3007841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0bf1366547349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560113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4e8c0f53e81410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397412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2026-10-06T15:15:29.6140000Z</dcterms:created>
  <dcterms:modified xsi:type="dcterms:W3CDTF">2026-10-06T15:15:29.6140000Z</dcterms:modified>
</coreProperties>
</file>