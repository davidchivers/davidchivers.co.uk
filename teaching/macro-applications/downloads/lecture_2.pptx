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d272836ad554b7f" /><Relationship Type="http://schemas.openxmlformats.org/officeDocument/2006/relationships/extended-properties" Target="/docProps/app.xml" Id="R3b2e07dfc356426a" /><Relationship Type="http://schemas.openxmlformats.org/officeDocument/2006/relationships/officeDocument" Target="/ppt/presentation.xml" Id="R51f7f80a0ff24f12" /></Relationships>
</file>

<file path=ppt/presentation.xml><?xml version="1.0" encoding="utf-8"?>
<p:presentation xmlns:p="http://schemas.openxmlformats.org/presentationml/2006/main">
  <p:sldMasterIdLst>
    <p:sldMasterId xmlns:r="http://schemas.openxmlformats.org/officeDocument/2006/relationships" id="2147483648" r:id="R8e95411e8c8946be"/>
  </p:sldMasterIdLst>
  <p:notesMasterIdLst>
    <p:notesMasterId xmlns:r="http://schemas.openxmlformats.org/officeDocument/2006/relationships" r:id="R83259020f2314950"/>
  </p:notesMasterIdLst>
  <p:sldIdLst>
    <p:sldId xmlns:r="http://schemas.openxmlformats.org/officeDocument/2006/relationships" id="256" r:id="R6a6a4b0d9e384c56"/>
    <p:sldId xmlns:r="http://schemas.openxmlformats.org/officeDocument/2006/relationships" id="257" r:id="R13576ef886dc4ffc"/>
    <p:sldId xmlns:r="http://schemas.openxmlformats.org/officeDocument/2006/relationships" id="258" r:id="R973a93a991dc4cb4"/>
    <p:sldId xmlns:r="http://schemas.openxmlformats.org/officeDocument/2006/relationships" id="259" r:id="R978800d8979245ff"/>
    <p:sldId xmlns:r="http://schemas.openxmlformats.org/officeDocument/2006/relationships" id="260" r:id="Rf39b7c181a254e68"/>
    <p:sldId xmlns:r="http://schemas.openxmlformats.org/officeDocument/2006/relationships" id="261" r:id="Rc89a31ca18ca427b"/>
    <p:sldId xmlns:r="http://schemas.openxmlformats.org/officeDocument/2006/relationships" id="262" r:id="Raabadbfefa8243dc"/>
    <p:sldId xmlns:r="http://schemas.openxmlformats.org/officeDocument/2006/relationships" id="263" r:id="R4f6888ddf81842a4"/>
    <p:sldId xmlns:r="http://schemas.openxmlformats.org/officeDocument/2006/relationships" id="264" r:id="R5b2bf34dd81d43c7"/>
    <p:sldId xmlns:r="http://schemas.openxmlformats.org/officeDocument/2006/relationships" id="265" r:id="R01d61b30340841ec"/>
    <p:sldId xmlns:r="http://schemas.openxmlformats.org/officeDocument/2006/relationships" id="266" r:id="Rf7af2b244a864936"/>
    <p:sldId xmlns:r="http://schemas.openxmlformats.org/officeDocument/2006/relationships" id="267" r:id="R5f204b6078fb478b"/>
    <p:sldId xmlns:r="http://schemas.openxmlformats.org/officeDocument/2006/relationships" id="268" r:id="Re25c0ac2fa1b4e04"/>
    <p:sldId xmlns:r="http://schemas.openxmlformats.org/officeDocument/2006/relationships" id="269" r:id="R0645fa70f07845e6"/>
    <p:sldId xmlns:r="http://schemas.openxmlformats.org/officeDocument/2006/relationships" id="270" r:id="R962f614f1b6b4ba2"/>
    <p:sldId xmlns:r="http://schemas.openxmlformats.org/officeDocument/2006/relationships" id="271" r:id="R722defbb311e4021"/>
    <p:sldId xmlns:r="http://schemas.openxmlformats.org/officeDocument/2006/relationships" id="272" r:id="R1362a3cb7cce4996"/>
    <p:sldId xmlns:r="http://schemas.openxmlformats.org/officeDocument/2006/relationships" id="273" r:id="R0c9def19cbcc412d"/>
    <p:sldId xmlns:r="http://schemas.openxmlformats.org/officeDocument/2006/relationships" id="274" r:id="R40361c60d8d846ba"/>
    <p:sldId xmlns:r="http://schemas.openxmlformats.org/officeDocument/2006/relationships" id="275" r:id="Ra0cc7b1eb6ce4263"/>
    <p:sldId xmlns:r="http://schemas.openxmlformats.org/officeDocument/2006/relationships" id="276" r:id="R93d4a68325a14875"/>
    <p:sldId xmlns:r="http://schemas.openxmlformats.org/officeDocument/2006/relationships" id="277" r:id="R8eed4e5ed2bd4974"/>
    <p:sldId xmlns:r="http://schemas.openxmlformats.org/officeDocument/2006/relationships" id="278" r:id="R903a7b0c1fe54652"/>
    <p:sldId xmlns:r="http://schemas.openxmlformats.org/officeDocument/2006/relationships" id="279" r:id="R5b1ae799408b4457"/>
    <p:sldId xmlns:r="http://schemas.openxmlformats.org/officeDocument/2006/relationships" id="280" r:id="Reb2ac1070c4045b0"/>
    <p:sldId xmlns:r="http://schemas.openxmlformats.org/officeDocument/2006/relationships" id="281" r:id="Re875279b001e477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dcc62e67f340c5" /><Relationship Type="http://schemas.openxmlformats.org/officeDocument/2006/relationships/slideMaster" Target="/ppt/slideMasters/slideMaster1.xml" Id="R8e95411e8c8946be" /><Relationship Type="http://schemas.openxmlformats.org/officeDocument/2006/relationships/notesMaster" Target="/ppt/notesMasters/notesMaster1.xml" Id="R83259020f2314950" /><Relationship Type="http://schemas.openxmlformats.org/officeDocument/2006/relationships/presProps" Target="/ppt/presProps.xml" Id="Rff3663b834e749f5" /><Relationship Type="http://schemas.openxmlformats.org/officeDocument/2006/relationships/tableStyles" Target="/ppt/tableStyles.xml" Id="R8e96f1fc2c9e4c4d" /><Relationship Type="http://schemas.openxmlformats.org/officeDocument/2006/relationships/slide" Target="/ppt/slides/slide1.xml" Id="R6a6a4b0d9e384c56" /><Relationship Type="http://schemas.openxmlformats.org/officeDocument/2006/relationships/slide" Target="/ppt/slides/slide2.xml" Id="R13576ef886dc4ffc" /><Relationship Type="http://schemas.openxmlformats.org/officeDocument/2006/relationships/slide" Target="/ppt/slides/slide3.xml" Id="R973a93a991dc4cb4" /><Relationship Type="http://schemas.openxmlformats.org/officeDocument/2006/relationships/slide" Target="/ppt/slides/slide4.xml" Id="R978800d8979245ff" /><Relationship Type="http://schemas.openxmlformats.org/officeDocument/2006/relationships/slide" Target="/ppt/slides/slide5.xml" Id="Rf39b7c181a254e68" /><Relationship Type="http://schemas.openxmlformats.org/officeDocument/2006/relationships/slide" Target="/ppt/slides/slide6.xml" Id="Rc89a31ca18ca427b" /><Relationship Type="http://schemas.openxmlformats.org/officeDocument/2006/relationships/slide" Target="/ppt/slides/slide7.xml" Id="Raabadbfefa8243dc" /><Relationship Type="http://schemas.openxmlformats.org/officeDocument/2006/relationships/slide" Target="/ppt/slides/slide8.xml" Id="R4f6888ddf81842a4" /><Relationship Type="http://schemas.openxmlformats.org/officeDocument/2006/relationships/slide" Target="/ppt/slides/slide9.xml" Id="R5b2bf34dd81d43c7" /><Relationship Type="http://schemas.openxmlformats.org/officeDocument/2006/relationships/slide" Target="/ppt/slides/slide10.xml" Id="R01d61b30340841ec" /><Relationship Type="http://schemas.openxmlformats.org/officeDocument/2006/relationships/slide" Target="/ppt/slides/slide11.xml" Id="Rf7af2b244a864936" /><Relationship Type="http://schemas.openxmlformats.org/officeDocument/2006/relationships/slide" Target="/ppt/slides/slide12.xml" Id="R5f204b6078fb478b" /><Relationship Type="http://schemas.openxmlformats.org/officeDocument/2006/relationships/slide" Target="/ppt/slides/slide13.xml" Id="Re25c0ac2fa1b4e04" /><Relationship Type="http://schemas.openxmlformats.org/officeDocument/2006/relationships/slide" Target="/ppt/slides/slide14.xml" Id="R0645fa70f07845e6" /><Relationship Type="http://schemas.openxmlformats.org/officeDocument/2006/relationships/slide" Target="/ppt/slides/slide15.xml" Id="R962f614f1b6b4ba2" /><Relationship Type="http://schemas.openxmlformats.org/officeDocument/2006/relationships/slide" Target="/ppt/slides/slide16.xml" Id="R722defbb311e4021" /><Relationship Type="http://schemas.openxmlformats.org/officeDocument/2006/relationships/slide" Target="/ppt/slides/slide17.xml" Id="R1362a3cb7cce4996" /><Relationship Type="http://schemas.openxmlformats.org/officeDocument/2006/relationships/slide" Target="/ppt/slides/slide18.xml" Id="R0c9def19cbcc412d" /><Relationship Type="http://schemas.openxmlformats.org/officeDocument/2006/relationships/slide" Target="/ppt/slides/slide19.xml" Id="R40361c60d8d846ba" /><Relationship Type="http://schemas.openxmlformats.org/officeDocument/2006/relationships/slide" Target="/ppt/slides/slide20.xml" Id="Ra0cc7b1eb6ce4263" /><Relationship Type="http://schemas.openxmlformats.org/officeDocument/2006/relationships/slide" Target="/ppt/slides/slide21.xml" Id="R93d4a68325a14875" /><Relationship Type="http://schemas.openxmlformats.org/officeDocument/2006/relationships/slide" Target="/ppt/slides/slide22.xml" Id="R8eed4e5ed2bd4974" /><Relationship Type="http://schemas.openxmlformats.org/officeDocument/2006/relationships/slide" Target="/ppt/slides/slide23.xml" Id="R903a7b0c1fe54652" /><Relationship Type="http://schemas.openxmlformats.org/officeDocument/2006/relationships/slide" Target="/ppt/slides/slide24.xml" Id="R5b1ae799408b4457" /><Relationship Type="http://schemas.openxmlformats.org/officeDocument/2006/relationships/slide" Target="/ppt/slides/slide25.xml" Id="Reb2ac1070c4045b0" /><Relationship Type="http://schemas.openxmlformats.org/officeDocument/2006/relationships/slide" Target="/ppt/slides/slide26.xml" Id="Re875279b001e47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dff2552f2c44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4b952cdb78e41b4" /><Relationship Type="http://schemas.openxmlformats.org/officeDocument/2006/relationships/notesMaster" Target="/ppt/notesMasters/notesMaster1.xml" Id="R54409f41c9e047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7f76a9f3a34c0b" /><Relationship Type="http://schemas.openxmlformats.org/officeDocument/2006/relationships/notesMaster" Target="/ppt/notesMasters/notesMaster1.xml" Id="R8a957f6dc95a4b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e3d6bd7a5c3a4d86" /><Relationship Type="http://schemas.openxmlformats.org/officeDocument/2006/relationships/notesMaster" Target="/ppt/notesMasters/notesMaster1.xml" Id="R1cd8533b4bf446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18d0275314284058" /><Relationship Type="http://schemas.openxmlformats.org/officeDocument/2006/relationships/notesMaster" Target="/ppt/notesMasters/notesMaster1.xml" Id="R7ffc47bfdeb2455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340c15b78e64e9a" /><Relationship Type="http://schemas.openxmlformats.org/officeDocument/2006/relationships/notesMaster" Target="/ppt/notesMasters/notesMaster1.xml" Id="Rb1aab9de163f4812"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b706759f2f4f5c" /><Relationship Type="http://schemas.openxmlformats.org/officeDocument/2006/relationships/notesMaster" Target="/ppt/notesMasters/notesMaster1.xml" Id="R80d09bccfc524350" /></Relationships>
</file>

<file path=ppt/notesSlides/_rels/notesSlide7.xml.rels>&#65279;<?xml version="1.0" encoding="utf-8"?><Relationships xmlns="http://schemas.openxmlformats.org/package/2006/relationships"><Relationship Type="http://schemas.openxmlformats.org/officeDocument/2006/relationships/slide" Target="/ppt/slides/slide7.xml" Id="R0717ae9a28bd4830" /><Relationship Type="http://schemas.openxmlformats.org/officeDocument/2006/relationships/notesMaster" Target="/ppt/notesMasters/notesMaster1.xml" Id="Rdb503f4cd1004d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9b8c1de9d6094623" /><Relationship Type="http://schemas.openxmlformats.org/officeDocument/2006/relationships/notesMaster" Target="/ppt/notesMasters/notesMaster1.xml" Id="R5d392c4ea96a4cb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cfe0c85fec147e0" /><Relationship Type="http://schemas.openxmlformats.org/officeDocument/2006/relationships/notesMaster" Target="/ppt/notesMasters/notesMaster1.xml" Id="R222962efe3db43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9c5011eca7a463e" /><Relationship Type="http://schemas.openxmlformats.org/officeDocument/2006/relationships/notesMaster" Target="/ppt/notesMasters/notesMaster1.xml" Id="Rd265f08d714f4f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5c843dd6040465e" /><Relationship Type="http://schemas.openxmlformats.org/officeDocument/2006/relationships/notesMaster" Target="/ppt/notesMasters/notesMaster1.xml" Id="Rb9a4c93cc6b6434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7938b6b30514ab1" /><Relationship Type="http://schemas.openxmlformats.org/officeDocument/2006/relationships/notesMaster" Target="/ppt/notesMasters/notesMaster1.xml" Id="R0caf1be6ff7340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e9d20db86464167" /><Relationship Type="http://schemas.openxmlformats.org/officeDocument/2006/relationships/notesMaster" Target="/ppt/notesMasters/notesMaster1.xml" Id="Rf650a5715736422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e1325ca87744435" /><Relationship Type="http://schemas.openxmlformats.org/officeDocument/2006/relationships/notesMaster" Target="/ppt/notesMasters/notesMaster1.xml" Id="R55972e7758294b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27b81bc15c2472e" /><Relationship Type="http://schemas.openxmlformats.org/officeDocument/2006/relationships/notesMaster" Target="/ppt/notesMasters/notesMaster1.xml" Id="R6a7d15caff5c487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5fb5309d6bb4eaf" /><Relationship Type="http://schemas.openxmlformats.org/officeDocument/2006/relationships/notesMaster" Target="/ppt/notesMasters/notesMaster1.xml" Id="Rd364b204b193436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cc5c356693f418b" /><Relationship Type="http://schemas.openxmlformats.org/officeDocument/2006/relationships/notesMaster" Target="/ppt/notesMasters/notesMaster1.xml" Id="R8ff475859092439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bac13f8210c4b3c" /><Relationship Type="http://schemas.openxmlformats.org/officeDocument/2006/relationships/notesMaster" Target="/ppt/notesMasters/notesMaster1.xml" Id="R30e0fb89d57a43b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00ebac59563406a" /><Relationship Type="http://schemas.openxmlformats.org/officeDocument/2006/relationships/notesMaster" Target="/ppt/notesMasters/notesMaster1.xml" Id="R5db0309f3502460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9379b22794646a6" /><Relationship Type="http://schemas.openxmlformats.org/officeDocument/2006/relationships/notesMaster" Target="/ppt/notesMasters/notesMaster1.xml" Id="R3bc3f3d013a545a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194d9bef04d4fda" /><Relationship Type="http://schemas.openxmlformats.org/officeDocument/2006/relationships/notesMaster" Target="/ppt/notesMasters/notesMaster1.xml" Id="R49f99579c406470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27bebae0de14936" /><Relationship Type="http://schemas.openxmlformats.org/officeDocument/2006/relationships/notesMaster" Target="/ppt/notesMasters/notesMaster1.xml" Id="R2c9051f8bca6462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322ad674f964b6e" /><Relationship Type="http://schemas.openxmlformats.org/officeDocument/2006/relationships/notesMaster" Target="/ppt/notesMasters/notesMaster1.xml" Id="R8b3a2a843582465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697ff2c814145ef" /><Relationship Type="http://schemas.openxmlformats.org/officeDocument/2006/relationships/notesMaster" Target="/ppt/notesMasters/notesMaster1.xml" Id="R5272064305754df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f88345ac4fc4260" /><Relationship Type="http://schemas.openxmlformats.org/officeDocument/2006/relationships/notesMaster" Target="/ppt/notesMasters/notesMaster1.xml" Id="R7f12eab20729467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e52c7d0451a4241" /><Relationship Type="http://schemas.openxmlformats.org/officeDocument/2006/relationships/notesMaster" Target="/ppt/notesMasters/notesMaster1.xml" Id="R17b9e60ee503484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2: Customs unions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https://davidchivers.co.uk/teaching/macro-applications/lecture_2.html#/l2-s02</a:t>
            </a:r>
          </a:p>
          <a:p xmlns:a="http://schemas.openxmlformats.org/drawingml/2006/main">
            <a:r>
              <a:t/>
            </a:r>
          </a:p>
          <a:p xmlns:a="http://schemas.openxmlformats.org/drawingml/2006/main">
            <a:r>
              <a:t>Context</a:t>
            </a:r>
          </a:p>
          <a:p xmlns:a="http://schemas.openxmlformats.org/drawingml/2006/main">
            <a:r>
              <a:t>One of the main goals of the Treaty of Rome was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https://davidchivers.co.uk/teaching/macro-applications/lecture_2.html#/l2-s03</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lecture, you will be able to:</a:t>
            </a:r>
          </a:p>
          <a:p xmlns:a="http://schemas.openxmlformats.org/drawingml/2006/main">
            <a:r>
              <a:t/>
            </a:r>
          </a:p>
          <a:p xmlns:a="http://schemas.openxmlformats.org/drawingml/2006/main">
            <a:r>
              <a:t>Analyse the welfare effects of joining a customs union:</a:t>
            </a:r>
          </a:p>
          <a:p xmlns:a="http://schemas.openxmlformats.org/drawingml/2006/main">
            <a:r>
              <a:t>Removal of tariff barriers and establishment of a common external tariff (1958–1968).</a:t>
            </a:r>
          </a:p>
          <a:p xmlns:a="http://schemas.openxmlformats.org/drawingml/2006/main">
            <a:r>
              <a:t>Removal of non-tariff barriers (1986–1992).</a:t>
            </a:r>
          </a:p>
          <a:p xmlns:a="http://schemas.openxmlformats.org/drawingml/2006/main">
            <a:r>
              <a:t>Understand the economic incentives to join a preferential trade agreement.</a:t>
            </a:r>
          </a:p>
          <a:p xmlns:a="http://schemas.openxmlformats.org/drawingml/2006/main">
            <a:r>
              <a:t>Discuss evidence on the welfare impact of customs unions.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https://davidchivers.co.uk/teaching/macro-applications/lecture_2.html#/l2-s04</a:t>
            </a:r>
          </a:p>
          <a:p xmlns:a="http://schemas.openxmlformats.org/drawingml/2006/main">
            <a:r>
              <a:t/>
            </a:r>
          </a:p>
          <a:p xmlns:a="http://schemas.openxmlformats.org/drawingml/2006/main">
            <a:r>
              <a:t>Customs unions</a:t>
            </a:r>
          </a:p>
          <a:p xmlns:a="http://schemas.openxmlformats.org/drawingml/2006/main">
            <a:r>
              <a:t>MERCOSUR</a:t>
            </a:r>
          </a:p>
          <a:p xmlns:a="http://schemas.openxmlformats.org/drawingml/2006/main">
            <a:r>
              <a:t>CARICOM</a:t>
            </a:r>
          </a:p>
          <a:p xmlns:a="http://schemas.openxmlformats.org/drawingml/2006/main">
            <a:r>
              <a:t>CACM</a:t>
            </a:r>
          </a:p>
          <a:p xmlns:a="http://schemas.openxmlformats.org/drawingml/2006/main">
            <a:r>
              <a:t>CAN</a:t>
            </a:r>
          </a:p>
          <a:p xmlns:a="http://schemas.openxmlformats.org/drawingml/2006/main">
            <a:r>
              <a:t>CH-FL</a:t>
            </a:r>
          </a:p>
          <a:p xmlns:a="http://schemas.openxmlformats.org/drawingml/2006/main">
            <a:r>
              <a:t>EUCU</a:t>
            </a:r>
          </a:p>
          <a:p xmlns:a="http://schemas.openxmlformats.org/drawingml/2006/main">
            <a:r>
              <a:t>EAEU</a:t>
            </a:r>
          </a:p>
          <a:p xmlns:a="http://schemas.openxmlformats.org/drawingml/2006/main">
            <a:r>
              <a:t>GCC</a:t>
            </a:r>
          </a:p>
          <a:p xmlns:a="http://schemas.openxmlformats.org/drawingml/2006/main">
            <a:r>
              <a:t>EAC</a:t>
            </a:r>
          </a:p>
          <a:p xmlns:a="http://schemas.openxmlformats.org/drawingml/2006/main">
            <a:r>
              <a:t>WAEMU</a:t>
            </a:r>
          </a:p>
          <a:p xmlns:a="http://schemas.openxmlformats.org/drawingml/2006/main">
            <a:r>
              <a:t>CEMAC</a:t>
            </a:r>
          </a:p>
          <a:p xmlns:a="http://schemas.openxmlformats.org/drawingml/2006/main">
            <a:r>
              <a:t>SACU</a:t>
            </a:r>
          </a:p>
          <a:p xmlns:a="http://schemas.openxmlformats.org/drawingml/2006/main">
            <a:r>
              <a:t>Explore a trade bloc</a:t>
            </a:r>
          </a:p>
          <a:p xmlns:a="http://schemas.openxmlformats.org/drawingml/2006/main">
            <a:r>
              <a:t/>
            </a:r>
          </a:p>
          <a:p xmlns:a="http://schemas.openxmlformats.org/drawingml/2006/main">
            <a:r>
              <a:t>Hover over a coloured region, or select its abbreviation below.</a:t>
            </a:r>
          </a:p>
          <a:p xmlns:a="http://schemas.openxmlformats.org/drawingml/2006/main">
            <a:r>
              <a:t/>
            </a:r>
          </a:p>
          <a:p xmlns:a="http://schemas.openxmlformats.org/drawingml/2006/main">
            <a:r>
              <a:t>A customs union removes internal tariffs and adopts a common external tariff.</a:t>
            </a:r>
          </a:p>
          <a:p xmlns:a="http://schemas.openxmlformats.org/drawingml/2006/main">
            <a:r>
              <a:t/>
            </a:r>
          </a:p>
          <a:p xmlns:a="http://schemas.openxmlformats.org/drawingml/2006/main">
            <a:r>
              <a:t>Current membership: October 2026.</a:t>
            </a:r>
          </a:p>
          <a:p xmlns:a="http://schemas.openxmlformats.org/drawingml/2006/main">
            <a:r>
              <a:t/>
            </a:r>
          </a:p>
          <a:p xmlns:a="http://schemas.openxmlformats.org/drawingml/2006/main">
            <a:r>
              <a:t>EUCU</a:t>
            </a:r>
          </a:p>
          <a:p xmlns:a="http://schemas.openxmlformats.org/drawingml/2006/main">
            <a:r>
              <a:t>EAEU</a:t>
            </a:r>
          </a:p>
          <a:p xmlns:a="http://schemas.openxmlformats.org/drawingml/2006/main">
            <a:r>
              <a:t>MERCOSUR</a:t>
            </a:r>
          </a:p>
          <a:p xmlns:a="http://schemas.openxmlformats.org/drawingml/2006/main">
            <a:r>
              <a:t>CAN</a:t>
            </a:r>
          </a:p>
          <a:p xmlns:a="http://schemas.openxmlformats.org/drawingml/2006/main">
            <a:r>
              <a:t>CACM</a:t>
            </a:r>
          </a:p>
          <a:p xmlns:a="http://schemas.openxmlformats.org/drawingml/2006/main">
            <a:r>
              <a:t>CARICOM</a:t>
            </a:r>
          </a:p>
          <a:p xmlns:a="http://schemas.openxmlformats.org/drawingml/2006/main">
            <a:r>
              <a:t>WAEMU</a:t>
            </a:r>
          </a:p>
          <a:p xmlns:a="http://schemas.openxmlformats.org/drawingml/2006/main">
            <a:r>
              <a:t>CEMAC</a:t>
            </a:r>
          </a:p>
          <a:p xmlns:a="http://schemas.openxmlformats.org/drawingml/2006/main">
            <a:r>
              <a:t>EAC</a:t>
            </a:r>
          </a:p>
          <a:p xmlns:a="http://schemas.openxmlformats.org/drawingml/2006/main">
            <a:r>
              <a:t>SACU</a:t>
            </a:r>
          </a:p>
          <a:p xmlns:a="http://schemas.openxmlformats.org/drawingml/2006/main">
            <a:r>
              <a:t>GCC</a:t>
            </a:r>
          </a:p>
          <a:p xmlns:a="http://schemas.openxmlformats.org/drawingml/2006/main">
            <a:r>
              <a:t>CH-FL</a:t>
            </a:r>
          </a:p>
          <a:p xmlns:a="http://schemas.openxmlformats.org/drawingml/2006/main">
            <a:r>
              <a:t/>
            </a:r>
          </a:p>
          <a:p xmlns:a="http://schemas.openxmlformats.org/drawingml/2006/main">
            <a:r>
              <a:t>Checked 6 October 2026 · Selected arrangements; implementation varies. Stripes: special status or overlapping membership.</a:t>
            </a:r>
          </a:p>
          <a:p xmlns:a="http://schemas.openxmlformats.org/drawingml/2006/main">
            <a:r>
              <a:t>Hover for details and official sources. Map base (adapted; territories simplified).</a:t>
            </a:r>
          </a:p>
          <a:p xmlns:a="http://schemas.openxmlformats.org/drawingml/2006/main">
            <a:r>
              <a:t/>
            </a:r>
          </a:p>
          <a:p xmlns:a="http://schemas.openxmlformats.org/drawingml/2006/main">
            <a:r>
              <a:t>Current membership and status (6 October 2026):</a:t>
            </a:r>
          </a:p>
          <a:p xmlns:a="http://schemas.openxmlformats.org/drawingml/2006/main">
            <a:r>
              <a:t>EUCU: EU customs union and linked unions</a:t>
            </a:r>
          </a:p>
          <a:p xmlns:a="http://schemas.openxmlformats.org/drawingml/2006/main">
            <a:r>
              <a:t>EU 27 and neighbouring arrangements</a:t>
            </a:r>
          </a:p>
          <a:p xmlns:a="http://schemas.openxmlformats.org/drawingml/2006/main">
            <a:r>
              <a:t>EU 27 and Monaco share the EU customs territory. Türkiye, Andorra and San Marino have separate customs-union agreements (striped), with differing product coverage. The UK is outside.</a:t>
            </a:r>
          </a:p>
          <a:p xmlns:a="http://schemas.openxmlformats.org/drawingml/2006/main">
            <a:r>
              <a:t/>
            </a:r>
          </a:p>
          <a:p xmlns:a="http://schemas.openxmlformats.org/drawingml/2006/main">
            <a:r>
              <a:t>EAEU: Eurasian Economic Union</a:t>
            </a:r>
          </a:p>
          <a:p xmlns:a="http://schemas.openxmlformats.org/drawingml/2006/main">
            <a:r>
              <a:t>5 members · Eurasia</a:t>
            </a:r>
          </a:p>
          <a:p xmlns:a="http://schemas.openxmlformats.org/drawingml/2006/main">
            <a:r>
              <a:t>Armenia, Belarus, Kazakhstan, Kyrgyzstan and Russia share a customs union and common external tariff. Observer states and free-trade partners are not members and are not shaded.</a:t>
            </a:r>
          </a:p>
          <a:p xmlns:a="http://schemas.openxmlformats.org/drawingml/2006/main">
            <a:r>
              <a:t/>
            </a:r>
          </a:p>
          <a:p xmlns:a="http://schemas.openxmlformats.org/drawingml/2006/main">
            <a:r>
              <a:t>MERCOSUR: Southern Common Market</a:t>
            </a:r>
          </a:p>
          <a:p xmlns:a="http://schemas.openxmlformats.org/drawingml/2006/main">
            <a:r>
              <a:t>5 active members · South America</a:t>
            </a:r>
          </a:p>
          <a:p xmlns:a="http://schemas.openxmlformats.org/drawingml/2006/main">
            <a:r>
              <a:t>Argentina, Bolivia, Brazil, Paraguay and Uruguay. Bolivia joined in 2024, with up to four years to adopt bloc rules. Two-colour stripes show its Andean membership too. Venezuela remains suspended.</a:t>
            </a:r>
          </a:p>
          <a:p xmlns:a="http://schemas.openxmlformats.org/drawingml/2006/main">
            <a:r>
              <a:t/>
            </a:r>
          </a:p>
          <a:p xmlns:a="http://schemas.openxmlformats.org/drawingml/2006/main">
            <a:r>
              <a:t>CAN: Andean Community</a:t>
            </a:r>
          </a:p>
          <a:p xmlns:a="http://schemas.openxmlformats.org/drawingml/2006/main">
            <a:r>
              <a:t>4 members · Andean South America</a:t>
            </a:r>
          </a:p>
          <a:p xmlns:a="http://schemas.openxmlformats.org/drawingml/2006/main">
            <a:r>
              <a:t>Bolivia, Colombia, Ecuador and Peru. This is a free-trade integration bloc, without a fully operating common external tariff. Stripes flag that distinction; Bolivia also belongs to MERCOSUR.</a:t>
            </a:r>
          </a:p>
          <a:p xmlns:a="http://schemas.openxmlformats.org/drawingml/2006/main">
            <a:r>
              <a:t/>
            </a:r>
          </a:p>
          <a:p xmlns:a="http://schemas.openxmlformats.org/drawingml/2006/main">
            <a:r>
              <a:t>CACM: Central American economic integration</a:t>
            </a:r>
          </a:p>
          <a:p xmlns:a="http://schemas.openxmlformats.org/drawingml/2006/main">
            <a:r>
              <a:t>6 participants · Central America</a:t>
            </a:r>
          </a:p>
          <a:p xmlns:a="http://schemas.openxmlformats.org/drawingml/2006/main">
            <a:r>
              <a:t>Costa Rica, El Salvador, Guatemala, Honduras, Nicaragua and Panama. Panama joined in 2013; stripes mark its distinct incorporation arrangements. Customs and tariff integration remain incomplete.</a:t>
            </a:r>
          </a:p>
          <a:p xmlns:a="http://schemas.openxmlformats.org/drawingml/2006/main">
            <a:r>
              <a:t/>
            </a:r>
          </a:p>
          <a:p xmlns:a="http://schemas.openxmlformats.org/drawingml/2006/main">
            <a:r>
              <a:t>CARICOM: Caribbean Community</a:t>
            </a:r>
          </a:p>
          <a:p xmlns:a="http://schemas.openxmlformats.org/drawingml/2006/main">
            <a:r>
              <a:t>15 members · 8 associate members</a:t>
            </a:r>
          </a:p>
          <a:p xmlns:a="http://schemas.openxmlformats.org/drawingml/2006/main">
            <a:r>
              <a:t>Twelve Single Market participants. Haiti and Montserrat have special arrangements (striped). The Bahamas and associates are outside this tariff shading. Martinique and French Guiana became associates in 2026.</a:t>
            </a:r>
          </a:p>
          <a:p xmlns:a="http://schemas.openxmlformats.org/drawingml/2006/main">
            <a:r>
              <a:t/>
            </a:r>
          </a:p>
          <a:p xmlns:a="http://schemas.openxmlformats.org/drawingml/2006/main">
            <a:r>
              <a:t>WAEMU: West African Economic and Monetary Union</a:t>
            </a:r>
          </a:p>
          <a:p xmlns:a="http://schemas.openxmlformats.org/drawingml/2006/main">
            <a:r>
              <a:t>8 members · also called UEMOA</a:t>
            </a:r>
          </a:p>
          <a:p xmlns:a="http://schemas.openxmlformats.org/drawingml/2006/main">
            <a:r>
              <a:t>Eight members, including Mali, Burkina Faso and Niger. UEMOA remains their customs and monetary union. It is a separate organisation from ECOWAS.</a:t>
            </a:r>
          </a:p>
          <a:p xmlns:a="http://schemas.openxmlformats.org/drawingml/2006/main">
            <a:r>
              <a:t/>
            </a:r>
          </a:p>
          <a:p xmlns:a="http://schemas.openxmlformats.org/drawingml/2006/main">
            <a:r>
              <a:t>CEMAC: Central African Economic and Monetary Community</a:t>
            </a:r>
          </a:p>
          <a:p xmlns:a="http://schemas.openxmlformats.org/drawingml/2006/main">
            <a:r>
              <a:t>6 members · Central Africa</a:t>
            </a:r>
          </a:p>
          <a:p xmlns:a="http://schemas.openxmlformats.org/drawingml/2006/main">
            <a:r>
              <a:t>Cameroon, Central African Republic, Chad, Republic of the Congo, Equatorial Guinea and Gabon share a customs-union framework and common currency.</a:t>
            </a:r>
          </a:p>
          <a:p xmlns:a="http://schemas.openxmlformats.org/drawingml/2006/main">
            <a:r>
              <a:t/>
            </a:r>
          </a:p>
          <a:p xmlns:a="http://schemas.openxmlformats.org/drawingml/2006/main">
            <a:r>
              <a:t>EAC: East African Community</a:t>
            </a:r>
          </a:p>
          <a:p xmlns:a="http://schemas.openxmlformats.org/drawingml/2006/main">
            <a:r>
              <a:t>8 partner states · East Africa</a:t>
            </a:r>
          </a:p>
          <a:p xmlns:a="http://schemas.openxmlformats.org/drawingml/2006/main">
            <a:r>
              <a:t>Now eight members. South Sudan joined in 2016, DR Congo in 2022 and Somalia in 2024. These three are striped because integration into EAC rules is still underway.</a:t>
            </a:r>
          </a:p>
          <a:p xmlns:a="http://schemas.openxmlformats.org/drawingml/2006/main">
            <a:r>
              <a:t/>
            </a:r>
          </a:p>
          <a:p xmlns:a="http://schemas.openxmlformats.org/drawingml/2006/main">
            <a:r>
              <a:t>SACU: Southern African Customs Union</a:t>
            </a:r>
          </a:p>
          <a:p xmlns:a="http://schemas.openxmlformats.org/drawingml/2006/main">
            <a:r>
              <a:t>5 members · Southern Africa</a:t>
            </a:r>
          </a:p>
          <a:p xmlns:a="http://schemas.openxmlformats.org/drawingml/2006/main">
            <a:r>
              <a:t>Botswana, Eswatini, Lesotho, Namibia and South Africa share a customs area, a common external tariff and a revenue-sharing arrangement.</a:t>
            </a:r>
          </a:p>
          <a:p xmlns:a="http://schemas.openxmlformats.org/drawingml/2006/main">
            <a:r>
              <a:t/>
            </a:r>
          </a:p>
          <a:p xmlns:a="http://schemas.openxmlformats.org/drawingml/2006/main">
            <a:r>
              <a:t>GCC: Gulf Cooperation Council</a:t>
            </a:r>
          </a:p>
          <a:p xmlns:a="http://schemas.openxmlformats.org/drawingml/2006/main">
            <a:r>
              <a:t>6 members · Arabian Gulf</a:t>
            </a:r>
          </a:p>
          <a:p xmlns:a="http://schemas.openxmlformats.org/drawingml/2006/main">
            <a:r>
              <a:t>Bahrain, Kuwait, Oman, Qatar, Saudi Arabia and the United Arab Emirates. Their customs union dates from 2003; completing its remaining requirements is still an official priority.</a:t>
            </a:r>
          </a:p>
          <a:p xmlns:a="http://schemas.openxmlformats.org/drawingml/2006/main">
            <a:r>
              <a:t/>
            </a:r>
          </a:p>
          <a:p xmlns:a="http://schemas.openxmlformats.org/drawingml/2006/main">
            <a:r>
              <a:t>CH-FL: Switzerland–Liechtenstein customs union</a:t>
            </a:r>
          </a:p>
          <a:p xmlns:a="http://schemas.openxmlformats.org/drawingml/2006/main">
            <a:r>
              <a:t>2 countries · Central Europe</a:t>
            </a:r>
          </a:p>
          <a:p xmlns:a="http://schemas.openxmlformats.org/drawingml/2006/main">
            <a:r>
              <a:t>Liechtenstein forms a common customs area with Switzerland under their bilateral treaty. Both countries are outside the EU customs union.</a:t>
            </a:r>
          </a:p>
          <a:p xmlns:a="http://schemas.openxmlformats.org/drawingml/2006/main">
            <a:r>
              <a:t/>
            </a:r>
          </a:p>
          <a:p xmlns:a="http://schemas.openxmlformats.org/drawingml/2006/main">
            <a:r>
              <a:t>Membership checked 6 October 2026. The East African Community includes eight countries, including South Sudan, DR Congo and Somalia. Bolivia belongs to MERCOSUR and the Andean Community. Stripes identify special or transitional arrangements. Choose a bloc for current membership and qualifications; geography is simplified.</a:t>
            </a:r>
          </a:p>
          <a:p xmlns:a="http://schemas.openxmlformats.org/drawingml/2006/main">
            <a:r>
              <a:t/>
            </a:r>
          </a:p>
          <a:p xmlns:a="http://schemas.openxmlformats.org/drawingml/2006/main">
            <a:r>
              <a:t/>
            </a:r>
          </a:p>
          <a:p xmlns:a="http://schemas.openxmlformats.org/drawingml/2006/main">
            <a:r>
              <a:t/>
            </a:r>
          </a:p>
          <a:p xmlns:a="http://schemas.openxmlformats.org/drawingml/2006/main">
            <a:r>
              <a:t>https://taxation-customs.ec.europa.eu/list-non-eu-countries_en</a:t>
            </a:r>
          </a:p>
          <a:p xmlns:a="http://schemas.openxmlformats.org/drawingml/2006/main">
            <a:r>
              <a:t>https://taxation-customs.ec.europa.eu/customs/eu-customs-reform_en</a:t>
            </a:r>
          </a:p>
          <a:p xmlns:a="http://schemas.openxmlformats.org/drawingml/2006/main">
            <a:r>
              <a:t>https://www.eaeunion.org/?lang=en</a:t>
            </a:r>
          </a:p>
          <a:p xmlns:a="http://schemas.openxmlformats.org/drawingml/2006/main">
            <a:r>
              <a:t>https://www.mercosur.int/en/about-mercosur/countries</a:t>
            </a:r>
          </a:p>
          <a:p xmlns:a="http://schemas.openxmlformats.org/drawingml/2006/main">
            <a:r>
              <a:t>https://www.comunidadandina.org/quienes-somos/paises-miembros/</a:t>
            </a:r>
          </a:p>
          <a:p xmlns:a="http://schemas.openxmlformats.org/drawingml/2006/main">
            <a:r>
              <a:t>https://www.comunidadandina.org/DocOficialesFiles/DInformativos/SGdi1053.pdf</a:t>
            </a:r>
          </a:p>
          <a:p xmlns:a="http://schemas.openxmlformats.org/drawingml/2006/main">
            <a:r>
              <a:t>https://www.sieca.int/faq/</a:t>
            </a:r>
          </a:p>
          <a:p xmlns:a="http://schemas.openxmlformats.org/drawingml/2006/main">
            <a:r>
              <a:t>https://www.sieca.int/integracion-economica-centroamericana/panama-en-el-subsistema-economico/</a:t>
            </a:r>
          </a:p>
          <a:p xmlns:a="http://schemas.openxmlformats.org/drawingml/2006/main">
            <a:r>
              <a:t>https://caricom.org/caricom-secretariat-wraps-up-trade-readiness-talks-with-400-stakeholders-across-12-countries/</a:t>
            </a:r>
          </a:p>
          <a:p xmlns:a="http://schemas.openxmlformats.org/drawingml/2006/main">
            <a:r>
              <a:t>https://caricom.org/communique-fifty-first-regular-meeting-of-the-conference-of-heads-of-government-of-the-caribbean-community-caricom-saint-lucia/</a:t>
            </a:r>
          </a:p>
          <a:p xmlns:a="http://schemas.openxmlformats.org/drawingml/2006/main">
            <a:r>
              <a:t>https://www.uemoa.int/index.php/en/presentation-of-uemoa</a:t>
            </a:r>
          </a:p>
          <a:p xmlns:a="http://schemas.openxmlformats.org/drawingml/2006/main">
            <a:r>
              <a:t>https://cemac.int/</a:t>
            </a:r>
          </a:p>
          <a:p xmlns:a="http://schemas.openxmlformats.org/drawingml/2006/main">
            <a:r>
              <a:t>https://www.eac.int/overview-of-eac</a:t>
            </a:r>
          </a:p>
          <a:p xmlns:a="http://schemas.openxmlformats.org/drawingml/2006/main">
            <a:r>
              <a:t>https://www.sacu.int/about-sacu</a:t>
            </a:r>
          </a:p>
          <a:p xmlns:a="http://schemas.openxmlformats.org/drawingml/2006/main">
            <a:r>
              <a:t>https://www.gcc-sg.org/en/AboutUs/Pages/FoundingDay.aspx</a:t>
            </a:r>
          </a:p>
          <a:p xmlns:a="http://schemas.openxmlformats.org/drawingml/2006/main">
            <a:r>
              <a:t>https://www.gcc-sg.org/en/MediaCenter/News/Pages/news2025-12-3-3.aspx</a:t>
            </a:r>
          </a:p>
          <a:p xmlns:a="http://schemas.openxmlformats.org/drawingml/2006/main">
            <a:r>
              <a:t>https://www.llv.li/en/national-administration/diplomatic-representations/berne-ch/bilateral-relations-liechtenstein---switzerland</a:t>
            </a:r>
          </a:p>
          <a:p xmlns:a="http://schemas.openxmlformats.org/drawingml/2006/main">
            <a:r>
              <a:t>https://commons.wikimedia.org/wiki/File:Customs_Unions_World.svg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https://davidchivers.co.uk/teaching/macro-applications/lecture_2.html#/l2-s05</a:t>
            </a:r>
          </a:p>
          <a:p xmlns:a="http://schemas.openxmlformats.org/drawingml/2006/main">
            <a:r>
              <a:t/>
            </a:r>
          </a:p>
          <a:p xmlns:a="http://schemas.openxmlformats.org/drawingml/2006/main">
            <a:r>
              <a:t>Tariff removal: who benefits?</a:t>
            </a:r>
          </a:p>
          <a:p xmlns:a="http://schemas.openxmlformats.org/drawingml/2006/main">
            <a:r>
              <a:t/>
            </a:r>
          </a:p>
          <a:p xmlns:a="http://schemas.openxmlformats.org/drawingml/2006/main">
            <a:r>
              <a:t>Is the removal of tariff barriers beneficial for all countries involved?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https://davidchivers.co.uk/teaching/macro-applications/lecture_2.html#/l2-s06</a:t>
            </a:r>
          </a:p>
          <a:p xmlns:a="http://schemas.openxmlformats.org/drawingml/2006/main">
            <a:r>
              <a:t/>
            </a:r>
          </a:p>
          <a:p xmlns:a="http://schemas.openxmlformats.org/drawingml/2006/main">
            <a:r>
              <a:t>Framework</a:t>
            </a:r>
          </a:p>
          <a:p xmlns:a="http://schemas.openxmlformats.org/drawingml/2006/main">
            <a:r>
              <a:t>Perfect competition</a:t>
            </a:r>
          </a:p>
          <a:p xmlns:a="http://schemas.openxmlformats.org/drawingml/2006/main">
            <a:r>
              <a:t>Full employment</a:t>
            </a:r>
          </a:p>
          <a:p xmlns:a="http://schemas.openxmlformats.org/drawingml/2006/main">
            <a:r>
              <a:t>No transport costs</a:t>
            </a:r>
          </a:p>
          <a:p xmlns:a="http://schemas.openxmlformats.org/drawingml/2006/main">
            <a:r>
              <a:t>Perfect factor mobility (capital and labour)</a:t>
            </a:r>
          </a:p>
          <a:p xmlns:a="http://schemas.openxmlformats.org/drawingml/2006/main">
            <a:r>
              <a:t>Firms optimise (P=MR=MC)</a:t>
            </a:r>
          </a:p>
          <a:p xmlns:a="http://schemas.openxmlformats.org/drawingml/2006/main">
            <a:r>
              <a:t>Consumers optimise (P=MU)</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https://davidchivers.co.uk/teaching/macro-applications/lecture_2.html#/l2-s07</a:t>
            </a:r>
          </a:p>
          <a:p xmlns:a="http://schemas.openxmlformats.org/drawingml/2006/main">
            <a:r>
              <a:t/>
            </a:r>
          </a:p>
          <a:p xmlns:a="http://schemas.openxmlformats.org/drawingml/2006/main">
            <a:r>
              <a:t>Customs union</a:t>
            </a:r>
          </a:p>
          <a:p xmlns:a="http://schemas.openxmlformats.org/drawingml/2006/main">
            <a:r>
              <a:t>A simple, symmetric framework</a:t>
            </a:r>
          </a:p>
          <a:p xmlns:a="http://schemas.openxmlformats.org/drawingml/2006/main">
            <a:r>
              <a:t>Good 1</a:t>
            </a:r>
          </a:p>
          <a:p xmlns:a="http://schemas.openxmlformats.org/drawingml/2006/main">
            <a:r>
              <a:t>Good 1</a:t>
            </a:r>
          </a:p>
          <a:p xmlns:a="http://schemas.openxmlformats.org/drawingml/2006/main">
            <a:r>
              <a:t>Good 2</a:t>
            </a:r>
          </a:p>
          <a:p xmlns:a="http://schemas.openxmlformats.org/drawingml/2006/main">
            <a:r>
              <a:t>Good 2</a:t>
            </a:r>
          </a:p>
          <a:p xmlns:a="http://schemas.openxmlformats.org/drawingml/2006/main">
            <a:r>
              <a:t>Good 3</a:t>
            </a:r>
          </a:p>
          <a:p xmlns:a="http://schemas.openxmlformats.org/drawingml/2006/main">
            <a:r>
              <a:t>Good 3</a:t>
            </a:r>
          </a:p>
          <a:p xmlns:a="http://schemas.openxmlformats.org/drawingml/2006/main">
            <a:r>
              <a:t>Home</a:t>
            </a:r>
          </a:p>
          <a:p xmlns:a="http://schemas.openxmlformats.org/drawingml/2006/main">
            <a:r>
              <a:t>Partner</a:t>
            </a:r>
          </a:p>
          <a:p xmlns:a="http://schemas.openxmlformats.org/drawingml/2006/main">
            <a:r>
              <a:t>RoW</a:t>
            </a:r>
          </a:p>
          <a:p xmlns:a="http://schemas.openxmlformats.org/drawingml/2006/main">
            <a:r>
              <a:t/>
            </a:r>
          </a:p>
          <a:p xmlns:a="http://schemas.openxmlformats.org/drawingml/2006/main">
            <a:r>
              <a:t>Home imports good 1; Partner imports good 2; RoW imports good 3.</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https://davidchivers.co.uk/teaching/macro-applications/lecture_2.html#/l2-s08</a:t>
            </a:r>
          </a:p>
          <a:p xmlns:a="http://schemas.openxmlformats.org/drawingml/2006/main">
            <a:r>
              <a:t/>
            </a:r>
          </a:p>
          <a:p xmlns:a="http://schemas.openxmlformats.org/drawingml/2006/main">
            <a:r>
              <a:t>The import demand curve</a:t>
            </a:r>
          </a:p>
          <a:p xmlns:a="http://schemas.openxmlformats.org/drawingml/2006/main">
            <a:r>
              <a:t/>
            </a:r>
          </a:p>
          <a:p xmlns:a="http://schemas.openxmlformats.org/drawingml/2006/main">
            <a:r>
              <a:t>Below Home’s autarky price, imports equal domestic demand minus domestic supply: </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
            </a:r>
          </a:p>
          <a:p xmlns:a="http://schemas.openxmlformats.org/drawingml/2006/main">
            <a:r>
              <a:t>The highlighted quantity intervals are equal: imports are the gap between demand and supply.</a:t>
            </a:r>
          </a:p>
          <a:p xmlns:a="http://schemas.openxmlformats.org/drawingml/2006/main">
            <a:r>
              <a:t/>
            </a:r>
          </a:p>
          <a:p xmlns:a="http://schemas.openxmlformats.org/drawingml/2006/main">
            <a:r>
              <a:t>Deriving Home import demand from domestic supply and demand. Continuous horizontal guides align Home's autarky and free-trade prices across both panels. At the autarky price, domestic supply equals demand and imports are zero. At the free-trade price, the highlighted gap between domestic supply and demand has exactly the same width as Home imports in the right panel. Import demand slopes downwards.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https://davidchivers.co.uk/teaching/macro-applications/lecture_2.html#/l2-s09</a:t>
            </a:r>
          </a:p>
          <a:p xmlns:a="http://schemas.openxmlformats.org/drawingml/2006/main">
            <a:r>
              <a:t/>
            </a:r>
          </a:p>
          <a:p xmlns:a="http://schemas.openxmlformats.org/drawingml/2006/main">
            <a:r>
              <a:t>Partner’s export supply curve</a:t>
            </a:r>
          </a:p>
          <a:p xmlns:a="http://schemas.openxmlformats.org/drawingml/2006/main">
            <a:r>
              <a:t/>
            </a:r>
          </a:p>
          <a:p xmlns:a="http://schemas.openxmlformats.org/drawingml/2006/main">
            <a:r>
              <a:t>Above Partner’s autarky price, exports equal domestic supply minus domestic demand: </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
            </a:r>
          </a:p>
          <a:p xmlns:a="http://schemas.openxmlformats.org/drawingml/2006/main">
            <a:r>
              <a:t>The highlighted quantity intervals are equal: exports are the gap between supply and demand.</a:t>
            </a:r>
          </a:p>
          <a:p xmlns:a="http://schemas.openxmlformats.org/drawingml/2006/main">
            <a:r>
              <a:t/>
            </a:r>
          </a:p>
          <a:p xmlns:a="http://schemas.openxmlformats.org/drawingml/2006/main">
            <a:r>
              <a:t>Deriving Partner export supply from domestic supply and demand. Continuous horizontal guides align the autarky and free-trade prices across both panels. At the autarky price, exports are zero. At the free-trade price, the highlighted gap between supply and demand is exactly as wide as exports in the right panel. Export supply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https://davidchivers.co.uk/teaching/macro-applications/lecture_2.html#/l2-s10</a:t>
            </a:r>
          </a:p>
          <a:p xmlns:a="http://schemas.openxmlformats.org/drawingml/2006/main">
            <a:r>
              <a:t/>
            </a:r>
          </a:p>
          <a:p xmlns:a="http://schemas.openxmlformats.org/drawingml/2006/main">
            <a:r>
              <a:t>The aggregate export supply curve</a:t>
            </a:r>
          </a:p>
          <a:p xmlns:a="http://schemas.openxmlformats.org/drawingml/2006/main">
            <a:r>
              <a:t/>
            </a:r>
          </a:p>
          <a:p xmlns:a="http://schemas.openxmlformats.org/drawingml/2006/main">
            <a:r>
              <a:t>Home’s import supply is the horizontal sum of both export supply curves: </a:t>
            </a:r>
          </a:p>
          <a:p xmlns:a="http://schemas.openxmlformats.org/drawingml/2006/main">
            <a:r>
              <a:t>𝑀</a:t>
            </a:r>
          </a:p>
          <a:p xmlns:a="http://schemas.openxmlformats.org/drawingml/2006/main">
            <a:r>
              <a:t>𝑆</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
            </a:r>
          </a:p>
          <a:p xmlns:a="http://schemas.openxmlformats.org/drawingml/2006/main">
            <a:r>
              <a:t>At each common price, add quantities horizontally to obtain aggregate supply.</a:t>
            </a:r>
          </a:p>
          <a:p xmlns:a="http://schemas.openxmlformats.org/drawingml/2006/main">
            <a:r>
              <a:t/>
            </a:r>
          </a:p>
          <a:p xmlns:a="http://schemas.openxmlformats.org/drawingml/2006/main">
            <a:r>
              <a:t>Three panels on common price and quantity scales. A continuous free-trade-price guide crosses both export supply panels and Home's import supply panel. The horizontal distance for aggregate supply equals the sum of the two exporter distances at that price.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https://davidchivers.co.uk/teaching/macro-applications/lecture_2.html#/l2-s11</a:t>
            </a:r>
          </a:p>
          <a:p xmlns:a="http://schemas.openxmlformats.org/drawingml/2006/main">
            <a:r>
              <a:t/>
            </a:r>
          </a:p>
          <a:p xmlns:a="http://schemas.openxmlformats.org/drawingml/2006/main">
            <a:r>
              <a:t>World equilibrium (free trade)</a:t>
            </a:r>
          </a:p>
          <a:p xmlns:a="http://schemas.openxmlformats.org/drawingml/2006/main">
            <a:r>
              <a:t/>
            </a:r>
          </a:p>
          <a:p xmlns:a="http://schemas.openxmlformats.org/drawingml/2006/main">
            <a:r>
              <a:t>At the free-trade equilibrium price </a:t>
            </a:r>
          </a:p>
          <a:p xmlns:a="http://schemas.openxmlformats.org/drawingml/2006/main">
            <a:r>
              <a:t>𝑃</a:t>
            </a:r>
          </a:p>
          <a:p xmlns:a="http://schemas.openxmlformats.org/drawingml/2006/main">
            <a:r>
              <a:t>𝐹</a:t>
            </a:r>
          </a:p>
          <a:p xmlns:a="http://schemas.openxmlformats.org/drawingml/2006/main">
            <a:r>
              <a:t>𝑇</a:t>
            </a:r>
          </a:p>
          <a:p xmlns:a="http://schemas.openxmlformats.org/drawingml/2006/main">
            <a:r>
              <a:t>, world demand equals world supply.</a:t>
            </a:r>
          </a:p>
          <a:p xmlns:a="http://schemas.openxmlformats.org/drawingml/2006/main">
            <a:r>
              <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𝑅</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
            </a:r>
          </a:p>
          <a:p xmlns:a="http://schemas.openxmlformats.org/drawingml/2006/main">
            <a:r>
              <a:t>The same three panels and scales as aggregate supply. Home import demand intersects aggregate import supply at the free-trade price. The continuous horizontal price guide links that intersection to both exporters. Home's import quantity equals the sum of Partner and rest-of-world exports.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https://davidchivers.co.uk/teaching/macro-applications/lecture_2.html#/l2-s12</a:t>
            </a:r>
          </a:p>
          <a:p xmlns:a="http://schemas.openxmlformats.org/drawingml/2006/main">
            <a:r>
              <a:t/>
            </a:r>
          </a:p>
          <a:p xmlns:a="http://schemas.openxmlformats.org/drawingml/2006/main">
            <a:r>
              <a:t>Before the formation of the CU</a:t>
            </a:r>
          </a:p>
          <a:p xmlns:a="http://schemas.openxmlformats.org/drawingml/2006/main">
            <a:r>
              <a:t>Assume that Home, Partner and RoW were all applying the ‘Most Favoured Nation’ principle (GATT/WTO), according to which trade barriers should not be discriminatory.</a:t>
            </a:r>
          </a:p>
          <a:p xmlns:a="http://schemas.openxmlformats.org/drawingml/2006/main">
            <a:r>
              <a:t>Home imposes the same tariff on Partner and RoW.</a:t>
            </a:r>
          </a:p>
          <a:p xmlns:a="http://schemas.openxmlformats.org/drawingml/2006/main">
            <a:r>
              <a:t>The “welfare” impact of the imposition of a MFN tariff is negative from a global point of view: the imposing country might gain, but the affected country always loses (see Baldwin and Wyplosz).</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GATT: General Agreement on Tariffs and Trade</a:t>
            </a:r>
          </a:p>
          <a:p xmlns:a="http://schemas.openxmlformats.org/drawingml/2006/main">
            <a:r>
              <a:t>WTO: World Trade Organization</a:t>
            </a:r>
          </a:p>
          <a:p xmlns:a="http://schemas.openxmlformats.org/drawingml/2006/main">
            <a:r>
              <a:t>MFN: Most-favoured-nation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https://davidchivers.co.uk/teaching/macro-applications/lecture_2.html#/l2-s13</a:t>
            </a:r>
          </a:p>
          <a:p xmlns:a="http://schemas.openxmlformats.org/drawingml/2006/main">
            <a:r>
              <a:t/>
            </a:r>
          </a:p>
          <a:p xmlns:a="http://schemas.openxmlformats.org/drawingml/2006/main">
            <a:r>
              <a:t>Three-country analysis (MFN)</a:t>
            </a:r>
          </a:p>
          <a:p xmlns:a="http://schemas.openxmlformats.org/drawingml/2006/main">
            <a:r>
              <a:t/>
            </a:r>
          </a:p>
          <a:p xmlns:a="http://schemas.openxmlformats.org/drawingml/2006/main">
            <a:r>
              <a:t>Home applies the same tariff </a:t>
            </a:r>
          </a:p>
          <a:p xmlns:a="http://schemas.openxmlformats.org/drawingml/2006/main">
            <a:r>
              <a:t>𝑇</a:t>
            </a:r>
          </a:p>
          <a:p xmlns:a="http://schemas.openxmlformats.org/drawingml/2006/main">
            <a:r>
              <a:t> to Partner and the rest of the world.</a:t>
            </a:r>
          </a:p>
          <a:p xmlns:a="http://schemas.openxmlformats.org/drawingml/2006/main">
            <a:r>
              <a:t/>
            </a:r>
          </a:p>
          <a:p xmlns:a="http://schemas.openxmlformats.org/drawingml/2006/main">
            <a:r>
              <a:t>Predict: what changes when Home removes the tariff on Partner?</a:t>
            </a:r>
          </a:p>
          <a:p xmlns:a="http://schemas.openxmlformats.org/drawingml/2006/main">
            <a:r>
              <a:t/>
            </a:r>
          </a:p>
          <a:p xmlns:a="http://schemas.openxmlformats.org/drawingml/2006/main">
            <a:r>
              <a:t>Three fixed panels: rest-of-world exports, Partner exports and Home imports. Blue dashed lines mark the initial MFN equilibrium. Home pays P prime; both exporters receive P prime minus T. Grey MS is aggregate supply under free trade.</a:t>
            </a:r>
          </a:p>
          <a:p xmlns:a="http://schemas.openxmlformats.org/drawingml/2006/main">
            <a:r>
              <a:t/>
            </a:r>
          </a:p>
          <a:p xmlns:a="http://schemas.openxmlformats.org/drawingml/2006/main">
            <a:r>
              <a:t>MFN: Most-favoured-nation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https://davidchivers.co.uk/teaching/macro-applications/lecture_2.html#/l2-s14</a:t>
            </a:r>
          </a:p>
          <a:p xmlns:a="http://schemas.openxmlformats.org/drawingml/2006/main">
            <a:r>
              <a:t/>
            </a:r>
          </a:p>
          <a:p xmlns:a="http://schemas.openxmlformats.org/drawingml/2006/main">
            <a:r>
              <a:t>The formation of the CU</a:t>
            </a:r>
          </a:p>
          <a:p xmlns:a="http://schemas.openxmlformats.org/drawingml/2006/main">
            <a:r>
              <a:t/>
            </a:r>
          </a:p>
          <a:p xmlns:a="http://schemas.openxmlformats.org/drawingml/2006/main">
            <a:r>
              <a:t>Home removes the tariff on Partner. The tariff on RoW remains </a:t>
            </a:r>
          </a:p>
          <a:p xmlns:a="http://schemas.openxmlformats.org/drawingml/2006/main">
            <a:r>
              <a:t>𝑇</a:t>
            </a:r>
          </a:p>
          <a:p xmlns:a="http://schemas.openxmlformats.org/drawingml/2006/main">
            <a:r>
              <a:t>.</a:t>
            </a:r>
          </a:p>
          <a:p xmlns:a="http://schemas.openxmlformats.org/drawingml/2006/main">
            <a:r>
              <a:t/>
            </a:r>
          </a:p>
          <a:p xmlns:a="http://schemas.openxmlformats.org/drawingml/2006/main">
            <a:r>
              <a:t>Home’s price falls; Partner exports more; RoW exports less. Dashed blue: before. Solid orange: after.</a:t>
            </a:r>
          </a:p>
          <a:p xmlns:a="http://schemas.openxmlformats.org/drawingml/2006/main">
            <a:r>
              <a:t/>
            </a:r>
          </a:p>
          <a:p xmlns:a="http://schemas.openxmlformats.org/drawingml/2006/main">
            <a:r>
              <a:t>The same three panels, with axes and curves fixed. Blue dashed lines retain the MFN equilibrium; orange solid lines mark the customs-union equilibrium. Home's price falls to P double prime. Partner receives that price and exports more. RoW receives P double prime minus T and exports less. Home imports increase.</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https://davidchivers.co.uk/teaching/macro-applications/lecture_2.html#/l2-s15</a:t>
            </a:r>
          </a:p>
          <a:p xmlns:a="http://schemas.openxmlformats.org/drawingml/2006/main">
            <a:r>
              <a:t/>
            </a:r>
          </a:p>
          <a:p xmlns:a="http://schemas.openxmlformats.org/drawingml/2006/main">
            <a:r>
              <a:t>“Welfare” effects</a:t>
            </a:r>
          </a:p>
          <a:p xmlns:a="http://schemas.openxmlformats.org/drawingml/2006/main">
            <a:r>
              <a:t/>
            </a:r>
          </a:p>
          <a:p xmlns:a="http://schemas.openxmlformats.org/drawingml/2006/main">
            <a:r>
              <a:t>The shaded areas measure each exporter’s net welfare change for this good.</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
            </a:r>
          </a:p>
          <a:p xmlns:a="http://schemas.openxmlformats.org/drawingml/2006/main">
            <a:r>
              <a:t>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Home’s welfare needs a separate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https://davidchivers.co.uk/teaching/macro-applications/lecture_2.html#/l2-s16</a:t>
            </a:r>
          </a:p>
          <a:p xmlns:a="http://schemas.openxmlformats.org/drawingml/2006/main">
            <a:r>
              <a:t/>
            </a:r>
          </a:p>
          <a:p xmlns:a="http://schemas.openxmlformats.org/drawingml/2006/main">
            <a:r>
              <a:t>Home welfare: consumers and producers</a:t>
            </a:r>
          </a:p>
          <a:p xmlns:a="http://schemas.openxmlformats.org/drawingml/2006/main">
            <a:r>
              <a:t/>
            </a:r>
          </a:p>
          <a:p xmlns:a="http://schemas.openxmlformats.org/drawingml/2006/main">
            <a:r>
              <a:t>Home’s price falls from </a:t>
            </a:r>
          </a:p>
          <a:p xmlns:a="http://schemas.openxmlformats.org/drawingml/2006/main">
            <a:r>
              <a:t>𝑃</a:t>
            </a:r>
          </a:p>
          <a:p xmlns:a="http://schemas.openxmlformats.org/drawingml/2006/main">
            <a:r>
              <a:t>′</a:t>
            </a:r>
          </a:p>
          <a:p xmlns:a="http://schemas.openxmlformats.org/drawingml/2006/main">
            <a:r>
              <a:t> to </a:t>
            </a:r>
          </a:p>
          <a:p xmlns:a="http://schemas.openxmlformats.org/drawingml/2006/main">
            <a:r>
              <a:t>𝑃</a:t>
            </a:r>
          </a:p>
          <a:p xmlns:a="http://schemas.openxmlformats.org/drawingml/2006/main">
            <a:r>
              <a:t>″</a:t>
            </a:r>
          </a:p>
          <a:p xmlns:a="http://schemas.openxmlformats.org/drawingml/2006/main">
            <a:r>
              <a:t>: consumers gain and producers lose.</a:t>
            </a:r>
          </a:p>
          <a:p xmlns:a="http://schemas.openxmlformats.org/drawingml/2006/main">
            <a:r>
              <a:t/>
            </a:r>
          </a:p>
          <a:p xmlns:a="http://schemas.openxmlformats.org/drawingml/2006/main">
            <a:r>
              <a:t>Price</a:t>
            </a:r>
          </a:p>
          <a:p xmlns:a="http://schemas.openxmlformats.org/drawingml/2006/main">
            <a:r>
              <a:t>Quantity</a:t>
            </a:r>
          </a:p>
          <a:p xmlns:a="http://schemas.openxmlformats.org/drawingml/2006/main">
            <a:r>
              <a:t>S</a:t>
            </a:r>
          </a:p>
          <a:p xmlns:a="http://schemas.openxmlformats.org/drawingml/2006/main">
            <a:r>
              <a:t>D</a:t>
            </a:r>
          </a:p>
          <a:p xmlns:a="http://schemas.openxmlformats.org/drawingml/2006/main">
            <a:r>
              <a:t>P′</a:t>
            </a:r>
          </a:p>
          <a:p xmlns:a="http://schemas.openxmlformats.org/drawingml/2006/main">
            <a:r>
              <a:t>P″</a:t>
            </a:r>
          </a:p>
          <a:p xmlns:a="http://schemas.openxmlformats.org/drawingml/2006/main">
            <a:r>
              <a:t>D</a:t>
            </a:r>
          </a:p>
          <a:p xmlns:a="http://schemas.openxmlformats.org/drawingml/2006/main">
            <a:r>
              <a:t>A1</a:t>
            </a:r>
          </a:p>
          <a:p xmlns:a="http://schemas.openxmlformats.org/drawingml/2006/main">
            <a:r>
              <a:t>A2</a:t>
            </a:r>
          </a:p>
          <a:p xmlns:a="http://schemas.openxmlformats.org/drawingml/2006/main">
            <a:r>
              <a:t>A3</a:t>
            </a:r>
          </a:p>
          <a:p xmlns:a="http://schemas.openxmlformats.org/drawingml/2006/main">
            <a:r>
              <a:t>S″</a:t>
            </a:r>
          </a:p>
          <a:p xmlns:a="http://schemas.openxmlformats.org/drawingml/2006/main">
            <a:r>
              <a:t>S′</a:t>
            </a:r>
          </a:p>
          <a:p xmlns:a="http://schemas.openxmlformats.org/drawingml/2006/main">
            <a:r>
              <a:t>D′</a:t>
            </a:r>
          </a:p>
          <a:p xmlns:a="http://schemas.openxmlformats.org/drawingml/2006/main">
            <a:r>
              <a:t>D″</a:t>
            </a:r>
          </a:p>
          <a:p xmlns:a="http://schemas.openxmlformats.org/drawingml/2006/main">
            <a:r>
              <a:t>D is a transfer from producers to consumers.</a:t>
            </a:r>
          </a:p>
          <a:p xmlns:a="http://schemas.openxmlformats.org/drawingml/2006/main">
            <a:r>
              <a:t>Consumer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Producer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
            </a:r>
          </a:p>
          <a:p xmlns:a="http://schemas.openxmlformats.org/drawingml/2006/main">
            <a:r>
              <a:t>Net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The transfer </a:t>
            </a:r>
          </a:p>
          <a:p xmlns:a="http://schemas.openxmlformats.org/drawingml/2006/main">
            <a:r>
              <a:t>𝐷</a:t>
            </a:r>
          </a:p>
          <a:p xmlns:a="http://schemas.openxmlformats.org/drawingml/2006/main">
            <a:r>
              <a:t> cancels. We still need the change in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https://davidchivers.co.uk/teaching/macro-applications/lecture_2.html#/l2-s17</a:t>
            </a:r>
          </a:p>
          <a:p xmlns:a="http://schemas.openxmlformats.org/drawingml/2006/main">
            <a:r>
              <a:t/>
            </a:r>
          </a:p>
          <a:p xmlns:a="http://schemas.openxmlformats.org/drawingml/2006/main">
            <a:r>
              <a:t>Home welfare: tariff revenue and total</a:t>
            </a:r>
          </a:p>
          <a:p xmlns:a="http://schemas.openxmlformats.org/drawingml/2006/main">
            <a:r>
              <a:t/>
            </a:r>
          </a:p>
          <a:p xmlns:a="http://schemas.openxmlformats.org/drawingml/2006/main">
            <a:r>
              <a:t>After the customs union, only imports from RoW generate tariff revenue.</a:t>
            </a:r>
          </a:p>
          <a:p xmlns:a="http://schemas.openxmlformats.org/drawingml/2006/main">
            <a:r>
              <a:t/>
            </a:r>
          </a:p>
          <a:p xmlns:a="http://schemas.openxmlformats.org/drawingml/2006/main">
            <a:r>
              <a:t>Price</a:t>
            </a:r>
          </a:p>
          <a:p xmlns:a="http://schemas.openxmlformats.org/drawingml/2006/main">
            <a:r>
              <a:t>Home imports</a:t>
            </a:r>
          </a:p>
          <a:p xmlns:a="http://schemas.openxmlformats.org/drawingml/2006/main">
            <a:r>
              <a:t>MD</a:t>
            </a:r>
          </a:p>
          <a:p xmlns:a="http://schemas.openxmlformats.org/drawingml/2006/main">
            <a:r>
              <a:t>P′</a:t>
            </a:r>
          </a:p>
          <a:p xmlns:a="http://schemas.openxmlformats.org/drawingml/2006/main">
            <a:r>
              <a:t>P″</a:t>
            </a:r>
          </a:p>
          <a:p xmlns:a="http://schemas.openxmlformats.org/drawingml/2006/main">
            <a:r>
              <a:t>P′ − T</a:t>
            </a:r>
          </a:p>
          <a:p xmlns:a="http://schemas.openxmlformats.org/drawingml/2006/main">
            <a:r>
              <a:t>P″ − T</a:t>
            </a:r>
          </a:p>
          <a:p xmlns:a="http://schemas.openxmlformats.org/drawingml/2006/main">
            <a:r>
              <a:t>XR″</a:t>
            </a:r>
          </a:p>
          <a:p xmlns:a="http://schemas.openxmlformats.org/drawingml/2006/main">
            <a:r>
              <a:t>M′</a:t>
            </a:r>
          </a:p>
          <a:p xmlns:a="http://schemas.openxmlformats.org/drawingml/2006/main">
            <a:r>
              <a:t>M″</a:t>
            </a:r>
          </a:p>
          <a:p xmlns:a="http://schemas.openxmlformats.org/drawingml/2006/main">
            <a:r>
              <a:t>A1</a:t>
            </a:r>
          </a:p>
          <a:p xmlns:a="http://schemas.openxmlformats.org/drawingml/2006/main">
            <a:r>
              <a:t>B1</a:t>
            </a:r>
          </a:p>
          <a:p xmlns:a="http://schemas.openxmlformats.org/drawingml/2006/main">
            <a:r>
              <a:t>C</a:t>
            </a:r>
          </a:p>
          <a:p xmlns:a="http://schemas.openxmlformats.org/drawingml/2006/main">
            <a:r>
              <a:t>B</a:t>
            </a:r>
          </a:p>
          <a:p xmlns:a="http://schemas.openxmlformats.org/drawingml/2006/main">
            <a:r>
              <a:t>A</a:t>
            </a:r>
          </a:p>
          <a:p xmlns:a="http://schemas.openxmlformats.org/drawingml/2006/main">
            <a:r>
              <a:t>T</a:t>
            </a:r>
          </a:p>
          <a:p xmlns:a="http://schemas.openxmlformats.org/drawingml/2006/main">
            <a:r>
              <a:t>T</a:t>
            </a:r>
          </a:p>
          <a:p xmlns:a="http://schemas.openxmlformats.org/drawingml/2006/main">
            <a:r>
              <a:t>A = A₂ + A₃; the net welfare effect is A + B − C.</a:t>
            </a:r>
          </a:p>
          <a:p xmlns:a="http://schemas.openxmlformats.org/drawingml/2006/main">
            <a:r>
              <a:t>Tariff revenue</a:t>
            </a:r>
          </a:p>
          <a:p xmlns:a="http://schemas.openxmlformats.org/drawingml/2006/main">
            <a:r>
              <a:t/>
            </a:r>
          </a:p>
          <a:p xmlns:a="http://schemas.openxmlformats.org/drawingml/2006/main">
            <a:r>
              <a:t>Before: </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𝑇</a:t>
            </a:r>
          </a:p>
          <a:p xmlns:a="http://schemas.openxmlformats.org/drawingml/2006/main">
            <a:r>
              <a:t>𝑀</a:t>
            </a:r>
          </a:p>
          <a:p xmlns:a="http://schemas.openxmlformats.org/drawingml/2006/main">
            <a:r>
              <a:t>′</a:t>
            </a:r>
          </a:p>
          <a:p xmlns:a="http://schemas.openxmlformats.org/drawingml/2006/main">
            <a:r>
              <a:t>.</a:t>
            </a:r>
          </a:p>
          <a:p xmlns:a="http://schemas.openxmlformats.org/drawingml/2006/main">
            <a:r>
              <a:t/>
            </a:r>
          </a:p>
          <a:p xmlns:a="http://schemas.openxmlformats.org/drawingml/2006/main">
            <a:r>
              <a:t>After: </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𝑇</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a:t>
            </a:r>
          </a:p>
          <a:p xmlns:a="http://schemas.openxmlformats.org/drawingml/2006/main">
            <a:r>
              <a:t>.</a:t>
            </a:r>
          </a:p>
          <a:p xmlns:a="http://schemas.openxmlformats.org/drawingml/2006/main">
            <a:r>
              <a:t/>
            </a:r>
          </a:p>
          <a:p xmlns:a="http://schemas.openxmlformats.org/drawingml/2006/main">
            <a:r>
              <a:t>Change: </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Add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The sign is ambiguous. Here, </a:t>
            </a:r>
          </a:p>
          <a:p xmlns:a="http://schemas.openxmlformats.org/drawingml/2006/main">
            <a:r>
              <a:t>𝐴</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https://davidchivers.co.uk/teaching/macro-applications/lecture_2.html#/l2-s18</a:t>
            </a:r>
          </a:p>
          <a:p xmlns:a="http://schemas.openxmlformats.org/drawingml/2006/main">
            <a:r>
              <a:t/>
            </a:r>
          </a:p>
          <a:p xmlns:a="http://schemas.openxmlformats.org/drawingml/2006/main">
            <a:r>
              <a:t>Summing up the welfare effects</a:t>
            </a:r>
          </a:p>
          <a:p xmlns:a="http://schemas.openxmlformats.org/drawingml/2006/main">
            <a:r>
              <a:t>Home</a:t>
            </a:r>
          </a:p>
          <a:p xmlns:a="http://schemas.openxmlformats.org/drawingml/2006/main">
            <a:r>
              <a:t>Good 1 (imported): </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Good 2 (exported to Partner):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Good 3 (exported to RoW): no change.</a:t>
            </a:r>
          </a:p>
          <a:p xmlns:a="http://schemas.openxmlformats.org/drawingml/2006/main">
            <a:r>
              <a:t>Partner</a:t>
            </a:r>
          </a:p>
          <a:p xmlns:a="http://schemas.openxmlformats.org/drawingml/2006/main">
            <a:r>
              <a:t/>
            </a:r>
          </a:p>
          <a:p xmlns:a="http://schemas.openxmlformats.org/drawingml/2006/main">
            <a:r>
              <a:t>Identical to Home.</a:t>
            </a:r>
          </a:p>
          <a:p xmlns:a="http://schemas.openxmlformats.org/drawingml/2006/main">
            <a:r>
              <a:t/>
            </a:r>
          </a:p>
          <a:p xmlns:a="http://schemas.openxmlformats.org/drawingml/2006/main">
            <a:r>
              <a:t>Rest of the world</a:t>
            </a:r>
          </a:p>
          <a:p xmlns:a="http://schemas.openxmlformats.org/drawingml/2006/main">
            <a:r>
              <a:t>Goods 1 and 2 (exported to customs union members): </a:t>
            </a:r>
          </a:p>
          <a:p xmlns:a="http://schemas.openxmlformats.org/drawingml/2006/main">
            <a:r>
              <a:t>−</a:t>
            </a:r>
          </a:p>
          <a:p xmlns:a="http://schemas.openxmlformats.org/drawingml/2006/main">
            <a:r>
              <a:t>2</a:t>
            </a:r>
          </a:p>
          <a:p xmlns:a="http://schemas.openxmlformats.org/drawingml/2006/main">
            <a:r>
              <a:t>𝐸</a:t>
            </a:r>
          </a:p>
          <a:p xmlns:a="http://schemas.openxmlformats.org/drawingml/2006/main">
            <a:r>
              <a:t>.</a:t>
            </a:r>
          </a:p>
          <a:p xmlns:a="http://schemas.openxmlformats.org/drawingml/2006/main">
            <a:r>
              <a:t>Good 3 (imported from customs union members): no change.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https://davidchivers.co.uk/teaching/macro-applications/lecture_2.html#/l2-s19</a:t>
            </a:r>
          </a:p>
          <a:p xmlns:a="http://schemas.openxmlformats.org/drawingml/2006/main">
            <a:r>
              <a:t/>
            </a:r>
          </a:p>
          <a:p xmlns:a="http://schemas.openxmlformats.org/drawingml/2006/main">
            <a:r>
              <a:t>Summing up the welfare effects: in words</a:t>
            </a:r>
          </a:p>
          <a:p xmlns:a="http://schemas.openxmlformats.org/drawingml/2006/main">
            <a:r>
              <a:t>Three elements</a:t>
            </a:r>
          </a:p>
          <a:p xmlns:a="http://schemas.openxmlformats.org/drawingml/2006/main">
            <a:r>
              <a:t>Adam Smith’s certitude: foreign firms gain when tariffs against them are eliminated (increase in the price of the exported good);</a:t>
            </a:r>
          </a:p>
          <a:p xmlns:a="http://schemas.openxmlformats.org/drawingml/2006/main">
            <a:r>
              <a:t>Haberler’s spillover: third nations – those excluded from the tariff reductions – lose (fall in the price of the exported good);</a:t>
            </a:r>
          </a:p>
          <a:p xmlns:a="http://schemas.openxmlformats.org/drawingml/2006/main">
            <a:r>
              <a:t>Viner’s ambiguity: “trade creation” effect with Partner has to be weighed against “supply switching” or “trade diversion”.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https://davidchivers.co.uk/teaching/macro-applications/lecture_2.html#/l2-s20</a:t>
            </a:r>
          </a:p>
          <a:p xmlns:a="http://schemas.openxmlformats.org/drawingml/2006/main">
            <a:r>
              <a:t/>
            </a:r>
          </a:p>
          <a:p xmlns:a="http://schemas.openxmlformats.org/drawingml/2006/main">
            <a:r>
              <a:t>What do we mean by welfare?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https://davidchivers.co.uk/teaching/macro-applications/lecture_2.html#/l2-s21</a:t>
            </a:r>
          </a:p>
          <a:p xmlns:a="http://schemas.openxmlformats.org/drawingml/2006/main">
            <a:r>
              <a:t/>
            </a:r>
          </a:p>
          <a:p xmlns:a="http://schemas.openxmlformats.org/drawingml/2006/main">
            <a:r>
              <a:t>Non-tariff barriers</a:t>
            </a:r>
          </a:p>
          <a:p xmlns:a="http://schemas.openxmlformats.org/drawingml/2006/main">
            <a:r>
              <a:t>Protection by country</a:t>
            </a:r>
          </a:p>
          <a:p xmlns:a="http://schemas.openxmlformats.org/drawingml/2006/main">
            <a:r>
              <a:t>Country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Belgium	7.0	7.6	19.6	28.2</a:t>
            </a:r>
          </a:p>
          <a:p xmlns:a="http://schemas.openxmlformats.org/drawingml/2006/main">
            <a:r>
              <a:t>Denmark	7.1	4.1	18.2	27.0</a:t>
            </a:r>
          </a:p>
          <a:p xmlns:a="http://schemas.openxmlformats.org/drawingml/2006/main">
            <a:r>
              <a:t>Germany, West	7.4	6.0	22.3	27.4</a:t>
            </a:r>
          </a:p>
          <a:p xmlns:a="http://schemas.openxmlformats.org/drawingml/2006/main">
            <a:r>
              <a:t>Greece	7.0	8.6	25.5	25.8</a:t>
            </a:r>
          </a:p>
          <a:p xmlns:a="http://schemas.openxmlformats.org/drawingml/2006/main">
            <a:r>
              <a:t>Spain	6.8	4.8	13.9	22.1</a:t>
            </a:r>
          </a:p>
          <a:p xmlns:a="http://schemas.openxmlformats.org/drawingml/2006/main">
            <a:r>
              <a:t>France	7.4	14.3	18.4	26.1</a:t>
            </a:r>
          </a:p>
          <a:p xmlns:a="http://schemas.openxmlformats.org/drawingml/2006/main">
            <a:r>
              <a:t>Ireland	7.5	7.5	20.8	27.0</a:t>
            </a:r>
          </a:p>
          <a:p xmlns:a="http://schemas.openxmlformats.org/drawingml/2006/main">
            <a:r>
              <a:t>Italy	7.6	14.4	20.9	27.1</a:t>
            </a:r>
          </a:p>
          <a:p xmlns:a="http://schemas.openxmlformats.org/drawingml/2006/main">
            <a:r>
              <a:t>Netherlands	7.1	7.6	20.6	28.1</a:t>
            </a:r>
          </a:p>
          <a:p xmlns:a="http://schemas.openxmlformats.org/drawingml/2006/main">
            <a:r>
              <a:t>Portugal	7.1	3.4	19.1	20.2</a:t>
            </a:r>
          </a:p>
          <a:p xmlns:a="http://schemas.openxmlformats.org/drawingml/2006/main">
            <a:r>
              <a:t>Protection by industry</a:t>
            </a:r>
          </a:p>
          <a:p xmlns:a="http://schemas.openxmlformats.org/drawingml/2006/main">
            <a:r>
              <a:t>Industry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Food products	9.8	33.6	45.9	30.0</a:t>
            </a:r>
          </a:p>
          <a:p xmlns:a="http://schemas.openxmlformats.org/drawingml/2006/main">
            <a:r>
              <a:t>Textiles	11.7	24.5	69.8	38.2</a:t>
            </a:r>
          </a:p>
          <a:p xmlns:a="http://schemas.openxmlformats.org/drawingml/2006/main">
            <a:r>
              <a:t>Apparel	12.3	30.4	71.7	35.7</a:t>
            </a:r>
          </a:p>
          <a:p xmlns:a="http://schemas.openxmlformats.org/drawingml/2006/main">
            <a:r>
              <a:t>Footwear	13.3	44.5	33.8	41.9</a:t>
            </a:r>
          </a:p>
          <a:p xmlns:a="http://schemas.openxmlformats.org/drawingml/2006/main">
            <a:r>
              <a:t>Furniture	6.4	46.2	0.9	46.5</a:t>
            </a:r>
          </a:p>
          <a:p xmlns:a="http://schemas.openxmlformats.org/drawingml/2006/main">
            <a:r>
              <a:t>Industrial chemicals	10.2	23.5	9.1	30.1</a:t>
            </a:r>
          </a:p>
          <a:p xmlns:a="http://schemas.openxmlformats.org/drawingml/2006/main">
            <a:r>
              <a:t>Iron &amp; steel	9.8	38.0	47.7	34.6</a:t>
            </a:r>
          </a:p>
          <a:p xmlns:a="http://schemas.openxmlformats.org/drawingml/2006/main">
            <a:r>
              <a:t>Machinery, electric	8.6	28.3	14.3	33.3</a:t>
            </a:r>
          </a:p>
          <a:p xmlns:a="http://schemas.openxmlformats.org/drawingml/2006/main">
            <a:r>
              <a:t>Transport equipment	7.9	30.7	25.5	38.8</a:t>
            </a:r>
          </a:p>
          <a:p xmlns:a="http://schemas.openxmlformats.org/drawingml/2006/main">
            <a:r>
              <a:t>Professional &amp; scientific equipment	6.5	23.6	2.7	30.3</a:t>
            </a:r>
          </a:p>
          <a:p xmlns:a="http://schemas.openxmlformats.org/drawingml/2006/main">
            <a:r>
              <a:t/>
            </a:r>
          </a:p>
          <a:p xmlns:a="http://schemas.openxmlformats.org/drawingml/2006/main">
            <a:r>
              <a:t>¹ Import-weighted measure. Source: Lee and Swagel (1997), as reproduced in the original lecture. Historical figures.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https://davidchivers.co.uk/teaching/macro-applications/lecture_2.html#/l2-s22</a:t>
            </a:r>
          </a:p>
          <a:p xmlns:a="http://schemas.openxmlformats.org/drawingml/2006/main">
            <a:r>
              <a:t/>
            </a:r>
          </a:p>
          <a:p xmlns:a="http://schemas.openxmlformats.org/drawingml/2006/main">
            <a:r>
              <a:t>Non-tariff barriers: welfare effects</a:t>
            </a:r>
          </a:p>
          <a:p xmlns:a="http://schemas.openxmlformats.org/drawingml/2006/main">
            <a:r>
              <a:t/>
            </a:r>
          </a:p>
          <a:p xmlns:a="http://schemas.openxmlformats.org/drawingml/2006/main">
            <a:r>
              <a:t>Here </a:t>
            </a:r>
          </a:p>
          <a:p xmlns:a="http://schemas.openxmlformats.org/drawingml/2006/main">
            <a:r>
              <a:t>𝑇</a:t>
            </a:r>
          </a:p>
          <a:p xmlns:a="http://schemas.openxmlformats.org/drawingml/2006/main">
            <a:r>
              <a:t> is a real per-unit trade cost. Home removes it on Partner’s goods; it remains on RoW goods.</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F</a:t>
            </a:r>
          </a:p>
          <a:p xmlns:a="http://schemas.openxmlformats.org/drawingml/2006/main">
            <a:r>
              <a:t>A</a:t>
            </a:r>
          </a:p>
          <a:p xmlns:a="http://schemas.openxmlformats.org/drawingml/2006/main">
            <a:r>
              <a:t/>
            </a:r>
          </a:p>
          <a:p xmlns:a="http://schemas.openxmlformats.org/drawingml/2006/main">
            <a:r>
              <a:t>Home gains </a:t>
            </a:r>
          </a:p>
          <a:p xmlns:a="http://schemas.openxmlformats.org/drawingml/2006/main">
            <a:r>
              <a:t>𝐴</a:t>
            </a:r>
          </a:p>
          <a:p xmlns:a="http://schemas.openxmlformats.org/drawingml/2006/main">
            <a:r>
              <a:t>+</a:t>
            </a:r>
          </a:p>
          <a:p xmlns:a="http://schemas.openxmlformats.org/drawingml/2006/main">
            <a:r>
              <a:t>𝐹</a:t>
            </a:r>
          </a:p>
          <a:p xmlns:a="http://schemas.openxmlformats.org/drawingml/2006/main">
            <a:r>
              <a:t>; 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A real trade cost generates no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https://davidchivers.co.uk/teaching/macro-applications/lecture_2.html#/l2-s23</a:t>
            </a:r>
          </a:p>
          <a:p xmlns:a="http://schemas.openxmlformats.org/drawingml/2006/main">
            <a:r>
              <a:t/>
            </a:r>
          </a:p>
          <a:p xmlns:a="http://schemas.openxmlformats.org/drawingml/2006/main">
            <a:r>
              <a:t>The incentives to join a CU</a:t>
            </a:r>
          </a:p>
          <a:p xmlns:a="http://schemas.openxmlformats.org/drawingml/2006/main">
            <a:r>
              <a:t/>
            </a:r>
          </a:p>
          <a:p xmlns:a="http://schemas.openxmlformats.org/drawingml/2006/main">
            <a:r>
              <a:t>We have seen that removing non-tariff barriers produces unambiguously positive welfare effects in this framework. This is not the case for tariff barriers.</a:t>
            </a:r>
          </a:p>
          <a:p xmlns:a="http://schemas.openxmlformats.org/drawingml/2006/main">
            <a:r>
              <a:t/>
            </a:r>
          </a:p>
          <a:p xmlns:a="http://schemas.openxmlformats.org/drawingml/2006/main">
            <a:r>
              <a:t>Question</a:t>
            </a:r>
          </a:p>
          <a:p xmlns:a="http://schemas.openxmlformats.org/drawingml/2006/main">
            <a:r>
              <a:t/>
            </a:r>
          </a:p>
          <a:p xmlns:a="http://schemas.openxmlformats.org/drawingml/2006/main">
            <a:r>
              <a:t>Why join a customs union? Would unilateral liberalisation towards the potential Partner be better?</a:t>
            </a:r>
          </a:p>
          <a:p xmlns:a="http://schemas.openxmlformats.org/drawingml/2006/main">
            <a:r>
              <a:t/>
            </a:r>
          </a:p>
          <a:p xmlns:a="http://schemas.openxmlformats.org/drawingml/2006/main">
            <a:r>
              <a:t>Answer</a:t>
            </a:r>
          </a:p>
          <a:p xmlns:a="http://schemas.openxmlformats.org/drawingml/2006/main">
            <a:r>
              <a:t/>
            </a:r>
          </a:p>
          <a:p xmlns:a="http://schemas.openxmlformats.org/drawingml/2006/main">
            <a:r>
              <a:t>Not necessarily: a country would not benefit from Partner’s tariff reduction within the customs union (area D).</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https://davidchivers.co.uk/teaching/macro-applications/lecture_2.html#/l2-s24</a:t>
            </a:r>
          </a:p>
          <a:p xmlns:a="http://schemas.openxmlformats.org/drawingml/2006/main">
            <a:r>
              <a:t/>
            </a:r>
          </a:p>
          <a:p xmlns:a="http://schemas.openxmlformats.org/drawingml/2006/main">
            <a:r>
              <a:t>What did the early studies find?</a:t>
            </a:r>
          </a:p>
          <a:p xmlns:a="http://schemas.openxmlformats.org/drawingml/2006/main">
            <a:r>
              <a:t/>
            </a:r>
          </a:p>
          <a:p xmlns:a="http://schemas.openxmlformats.org/drawingml/2006/main">
            <a:r>
              <a:t>Trade creation exceeded trade diversion in Europe, but the estimated gains were small.</a:t>
            </a:r>
          </a:p>
          <a:p xmlns:a="http://schemas.openxmlformats.org/drawingml/2006/main">
            <a:r>
              <a:t/>
            </a:r>
          </a:p>
          <a:p xmlns:a="http://schemas.openxmlformats.org/drawingml/2006/main">
            <a:r>
              <a:t>Baldwin and Venables (1995).</a:t>
            </a:r>
          </a:p>
          <a:p xmlns:a="http://schemas.openxmlformats.org/drawingml/2006/main">
            <a:r>
              <a:t/>
            </a:r>
          </a:p>
          <a:p xmlns:a="http://schemas.openxmlformats.org/drawingml/2006/main">
            <a:r>
              <a:t>Findings in context</a:t>
            </a:r>
          </a:p>
          <a:p xmlns:a="http://schemas.openxmlformats.org/drawingml/2006/main">
            <a:r>
              <a:t>Little diversion: much of Europe’s trade was already intra-European.</a:t>
            </a:r>
          </a:p>
          <a:p xmlns:a="http://schemas.openxmlformats.org/drawingml/2006/main">
            <a:r>
              <a:t>Limited creation: initial trade barriers were low.</a:t>
            </a:r>
          </a:p>
          <a:p xmlns:a="http://schemas.openxmlformats.org/drawingml/2006/main">
            <a:r>
              <a:t>The perfect-competition framework has limitations.</a:t>
            </a:r>
          </a:p>
          <a:p xmlns:a="http://schemas.openxmlformats.org/drawingml/2006/main">
            <a:r>
              <a:t>Empirical challenges</a:t>
            </a:r>
          </a:p>
          <a:p xmlns:a="http://schemas.openxmlformats.org/drawingml/2006/main">
            <a:r>
              <a:t>Ex ante: quantifying effects in a theoretical framework is complicated (e.g. Miller et al., 1977).</a:t>
            </a:r>
          </a:p>
          <a:p xmlns:a="http://schemas.openxmlformats.org/drawingml/2006/main">
            <a:r>
              <a:t>Ex post: attributing increased intra-European trade, or reduced RoW trade, to customs-union membership is difficult (e.g. Winters, 1987).</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https://davidchivers.co.uk/teaching/macro-applications/lecture_2.html#/l2-s25</a:t>
            </a:r>
          </a:p>
          <a:p xmlns:a="http://schemas.openxmlformats.org/drawingml/2006/main">
            <a:r>
              <a:t/>
            </a:r>
          </a:p>
          <a:p xmlns:a="http://schemas.openxmlformats.org/drawingml/2006/main">
            <a:r>
              <a:t>Next lecture</a:t>
            </a:r>
          </a:p>
          <a:p xmlns:a="http://schemas.openxmlformats.org/drawingml/2006/main">
            <a:r>
              <a:t>We will talk about the competition effects of the Single Market Act.</a:t>
            </a:r>
          </a:p>
          <a:p xmlns:a="http://schemas.openxmlformats.org/drawingml/2006/main">
            <a:r>
              <a:t>Tip: revise the theory of the firm under monopoly and oligopoly (Cournot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https://davidchivers.co.uk/teaching/macro-applications/lecture_2.html#/l2-s26</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R., Wyplosz C. (2022), The Economics of European Integration, Chapters 4 and 5</a:t>
            </a:r>
          </a:p>
          <a:p xmlns:a="http://schemas.openxmlformats.org/drawingml/2006/main">
            <a:r>
              <a:t>Further reading</a:t>
            </a:r>
          </a:p>
          <a:p xmlns:a="http://schemas.openxmlformats.org/drawingml/2006/main">
            <a:r>
              <a:t>Baldwin R., Venables A. (1995), Regional Economic Integration, Handbook of International Economics, Chapter 31.</a:t>
            </a:r>
          </a:p>
          <a:p xmlns:a="http://schemas.openxmlformats.org/drawingml/2006/main">
            <a:r>
              <a:t>Lee J.-W., Swagel P. (1997), Trade Barriers and Trade Flows Across Countries and Industries, Review of Economics and Statistics, 79 (3), pp. 372-382.</a:t>
            </a:r>
          </a:p>
          <a:p xmlns:a="http://schemas.openxmlformats.org/drawingml/2006/main">
            <a:r>
              <a:t>Miller M., Spencer J.E. (1977), The Static Economic Effects of the UK Joining the EEC: A General Equilibrium Approach, Review of Economic Studies, 44 (1), 71-93.</a:t>
            </a:r>
          </a:p>
          <a:p xmlns:a="http://schemas.openxmlformats.org/drawingml/2006/main">
            <a:r>
              <a:t>Winters L.A. (1987), Britain in Europe: a Survey of Quantitative Trade Studies, Journal of Common Market Studies, XXV (4), 315-335.</a:t>
            </a:r>
          </a:p>
          <a:p xmlns:a="http://schemas.openxmlformats.org/drawingml/2006/main">
            <a:r>
              <a:t/>
            </a:r>
          </a:p>
          <a:p xmlns:a="http://schemas.openxmlformats.org/drawingml/2006/main">
            <a:r>
              <a:t/>
            </a:r>
          </a:p>
          <a:p xmlns:a="http://schemas.openxmlformats.org/drawingml/2006/main">
            <a:r>
              <a:t/>
            </a:r>
          </a:p>
          <a:p xmlns:a="http://schemas.openxmlformats.org/drawingml/2006/main">
            <a:r>
              <a:t>EEC: European Economic Community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fa12dd7dc4645f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f5f702d7d94cda" /><Relationship Type="http://schemas.openxmlformats.org/officeDocument/2006/relationships/slideLayout" Target="/ppt/slideLayouts/slideLayout1.xml" Id="R343d1a3e7ea345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3d1a3e7ea345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542c9062f1649d9" /><Relationship Type="http://schemas.openxmlformats.org/officeDocument/2006/relationships/image" Target="/ppt/media/image.jpeg" Id="Rc98e3382a83b402d" /><Relationship Type="http://schemas.openxmlformats.org/officeDocument/2006/relationships/notesSlide" Target="/ppt/notesSlides/notesSlide1.xml" Id="Rd61b357e702f473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d8cf83552634e45" /><Relationship Type="http://schemas.openxmlformats.org/officeDocument/2006/relationships/image" Target="/ppt/media/image2.jpeg" Id="R233012deee424d07" /><Relationship Type="http://schemas.openxmlformats.org/officeDocument/2006/relationships/notesSlide" Target="/ppt/notesSlides/notesSlide2.xml" Id="Rd9bcfeea3c3747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e2bf02c9e924417" /><Relationship Type="http://schemas.openxmlformats.org/officeDocument/2006/relationships/image" Target="/ppt/media/image3.jpeg" Id="R991cc913cb434639" /><Relationship Type="http://schemas.openxmlformats.org/officeDocument/2006/relationships/notesSlide" Target="/ppt/notesSlides/notesSlide3.xml" Id="Rcfd5591d691e4e4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0b96b011d9e422f" /><Relationship Type="http://schemas.openxmlformats.org/officeDocument/2006/relationships/image" Target="/ppt/media/image.png" Id="Ref7fd98110634d52" /><Relationship Type="http://schemas.openxmlformats.org/officeDocument/2006/relationships/notesSlide" Target="/ppt/notesSlides/notesSlide4.xml" Id="R32b1e15a6324444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562a29d8574f84" /><Relationship Type="http://schemas.openxmlformats.org/officeDocument/2006/relationships/image" Target="/ppt/media/image4.jpeg" Id="R8a6d49d8c90947f4" /><Relationship Type="http://schemas.openxmlformats.org/officeDocument/2006/relationships/notesSlide" Target="/ppt/notesSlides/notesSlide5.xml" Id="Rffc70ac905e849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b139ae2939546c1" /><Relationship Type="http://schemas.openxmlformats.org/officeDocument/2006/relationships/image" Target="/ppt/media/image5.jpeg" Id="Rd34085bea2de4690" /><Relationship Type="http://schemas.openxmlformats.org/officeDocument/2006/relationships/notesSlide" Target="/ppt/notesSlides/notesSlide6.xml" Id="Rf9b2a3c2d0e247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ce3495810f3401f" /><Relationship Type="http://schemas.openxmlformats.org/officeDocument/2006/relationships/image" Target="/ppt/media/image6.jpeg" Id="R0c810852380548fc" /><Relationship Type="http://schemas.openxmlformats.org/officeDocument/2006/relationships/notesSlide" Target="/ppt/notesSlides/notesSlide7.xml" Id="Rf6b66a1d01e34b0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5fe29fc12ee4467" /><Relationship Type="http://schemas.openxmlformats.org/officeDocument/2006/relationships/image" Target="/ppt/media/image7.jpeg" Id="Rc357f19621274d91" /><Relationship Type="http://schemas.openxmlformats.org/officeDocument/2006/relationships/notesSlide" Target="/ppt/notesSlides/notesSlide8.xml" Id="R6e54ed96a36144f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ed1f37fa73b41eb" /><Relationship Type="http://schemas.openxmlformats.org/officeDocument/2006/relationships/image" Target="/ppt/media/image8.jpeg" Id="R1d22b1eb200149df" /><Relationship Type="http://schemas.openxmlformats.org/officeDocument/2006/relationships/notesSlide" Target="/ppt/notesSlides/notesSlide9.xml" Id="R907de2bde8f144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41ecf966c984918" /><Relationship Type="http://schemas.openxmlformats.org/officeDocument/2006/relationships/image" Target="/ppt/media/image9.jpeg" Id="Rc2ced3d278e9458f" /><Relationship Type="http://schemas.openxmlformats.org/officeDocument/2006/relationships/notesSlide" Target="/ppt/notesSlides/notesSlide10.xml" Id="Rbf1a18edd45d421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9e5461826204f18" /><Relationship Type="http://schemas.openxmlformats.org/officeDocument/2006/relationships/image" Target="/ppt/media/image10.jpeg" Id="R38a115bf15ac4c83" /><Relationship Type="http://schemas.openxmlformats.org/officeDocument/2006/relationships/notesSlide" Target="/ppt/notesSlides/notesSlide11.xml" Id="R7160073b9a1947a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f3842589fa1494e" /><Relationship Type="http://schemas.openxmlformats.org/officeDocument/2006/relationships/image" Target="/ppt/media/image11.jpeg" Id="Ree6785dd71d049e5" /><Relationship Type="http://schemas.openxmlformats.org/officeDocument/2006/relationships/notesSlide" Target="/ppt/notesSlides/notesSlide12.xml" Id="R0835dc943368481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c7a797367434ac8" /><Relationship Type="http://schemas.openxmlformats.org/officeDocument/2006/relationships/image" Target="/ppt/media/image12.jpeg" Id="R899dd9153bbb4ae9" /><Relationship Type="http://schemas.openxmlformats.org/officeDocument/2006/relationships/notesSlide" Target="/ppt/notesSlides/notesSlide13.xml" Id="Rd99aa0f870034dd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0fa13b4f76746de" /><Relationship Type="http://schemas.openxmlformats.org/officeDocument/2006/relationships/image" Target="/ppt/media/image13.jpeg" Id="Rf7263de55b5b4e25" /><Relationship Type="http://schemas.openxmlformats.org/officeDocument/2006/relationships/notesSlide" Target="/ppt/notesSlides/notesSlide14.xml" Id="R03b33c98231c47d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dcf5440f41d4d41" /><Relationship Type="http://schemas.openxmlformats.org/officeDocument/2006/relationships/image" Target="/ppt/media/image14.jpeg" Id="R73257d43e4bf42de" /><Relationship Type="http://schemas.openxmlformats.org/officeDocument/2006/relationships/notesSlide" Target="/ppt/notesSlides/notesSlide15.xml" Id="R86931f459d2f464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26d55458d5d4945" /><Relationship Type="http://schemas.openxmlformats.org/officeDocument/2006/relationships/image" Target="/ppt/media/image15.jpeg" Id="Re49d5bdf395744a2" /><Relationship Type="http://schemas.openxmlformats.org/officeDocument/2006/relationships/notesSlide" Target="/ppt/notesSlides/notesSlide16.xml" Id="Re88df5245592453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db747f188e74759" /><Relationship Type="http://schemas.openxmlformats.org/officeDocument/2006/relationships/image" Target="/ppt/media/image16.jpeg" Id="R5ac2dee5168e43b7" /><Relationship Type="http://schemas.openxmlformats.org/officeDocument/2006/relationships/notesSlide" Target="/ppt/notesSlides/notesSlide17.xml" Id="R8c41e1ef4eae4b8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291a3c54a6f4a4a" /><Relationship Type="http://schemas.openxmlformats.org/officeDocument/2006/relationships/image" Target="/ppt/media/image17.jpeg" Id="R451cdc1263804609" /><Relationship Type="http://schemas.openxmlformats.org/officeDocument/2006/relationships/notesSlide" Target="/ppt/notesSlides/notesSlide18.xml" Id="R327c38bbd3e04c2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29d85e7e3104390" /><Relationship Type="http://schemas.openxmlformats.org/officeDocument/2006/relationships/image" Target="/ppt/media/image18.jpeg" Id="Rb127233016574cbf" /><Relationship Type="http://schemas.openxmlformats.org/officeDocument/2006/relationships/notesSlide" Target="/ppt/notesSlides/notesSlide19.xml" Id="Red3342edd8214ac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119d60fa05245bf" /><Relationship Type="http://schemas.openxmlformats.org/officeDocument/2006/relationships/image" Target="/ppt/media/image19.jpeg" Id="R9db28850d943462a" /><Relationship Type="http://schemas.openxmlformats.org/officeDocument/2006/relationships/notesSlide" Target="/ppt/notesSlides/notesSlide20.xml" Id="Rb06755660807416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3691f13a6454f59" /><Relationship Type="http://schemas.openxmlformats.org/officeDocument/2006/relationships/image" Target="/ppt/media/image20.jpeg" Id="R2a50b0d956dd422a" /><Relationship Type="http://schemas.openxmlformats.org/officeDocument/2006/relationships/notesSlide" Target="/ppt/notesSlides/notesSlide21.xml" Id="Re73b5cc6650a4cd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a5ea76699bc452e" /><Relationship Type="http://schemas.openxmlformats.org/officeDocument/2006/relationships/image" Target="/ppt/media/image21.jpeg" Id="Ra299d60155e84210" /><Relationship Type="http://schemas.openxmlformats.org/officeDocument/2006/relationships/notesSlide" Target="/ppt/notesSlides/notesSlide22.xml" Id="R01854e79db844c0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45b281fb9404577" /><Relationship Type="http://schemas.openxmlformats.org/officeDocument/2006/relationships/image" Target="/ppt/media/image2.png" Id="R4c70a9dff86744d2" /><Relationship Type="http://schemas.openxmlformats.org/officeDocument/2006/relationships/notesSlide" Target="/ppt/notesSlides/notesSlide23.xml" Id="Ra162ff43872a4fa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f103cea9bad4961" /><Relationship Type="http://schemas.openxmlformats.org/officeDocument/2006/relationships/image" Target="/ppt/media/image3.png" Id="Rc2691a5ab1a14fc5" /><Relationship Type="http://schemas.openxmlformats.org/officeDocument/2006/relationships/notesSlide" Target="/ppt/notesSlides/notesSlide24.xml" Id="Re5f3db81805347b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b56b512524a4f18" /><Relationship Type="http://schemas.openxmlformats.org/officeDocument/2006/relationships/image" Target="/ppt/media/image22.jpeg" Id="Re06fd06354ec4b01" /><Relationship Type="http://schemas.openxmlformats.org/officeDocument/2006/relationships/notesSlide" Target="/ppt/notesSlides/notesSlide25.xml" Id="Rba3b62ac733b450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3624d36441d4a31" /><Relationship Type="http://schemas.openxmlformats.org/officeDocument/2006/relationships/image" Target="/ppt/media/image23.jpeg" Id="R859fa542a0f14924" /><Relationship Type="http://schemas.openxmlformats.org/officeDocument/2006/relationships/notesSlide" Target="/ppt/notesSlides/notesSlide26.xml" Id="R0f5eeb79f23143d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98e3382a83b402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3434526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33012deee424d0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1297764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91cc913cb43463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7734703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f7fd98110634d5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777730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a6d49d8c90947f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8539387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34085bea2de469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3657033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c810852380548f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8963469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357f19621274d9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5780261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d22b1eb200149d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9711156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2ced3d278e9458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3021249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8a115bf15ac4c8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1016956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e6785dd71d049e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5806931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99dd9153bbb4ae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5857747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7263de55b5b4e2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0378112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3257d43e4bf42d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4917627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49d5bdf395744a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5114811"/>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ac2dee5168e43b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92639251"/>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51cdc126380460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4829469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127233016574cb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758336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db28850d943462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52509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a50b0d956dd422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29428281"/>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299d60155e8421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3715039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c70a9dff86744d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7649154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2691a5ab1a14fc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30741716"/>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06fd06354ec4b0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56330828"/>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59fa542a0f1492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942392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2026-10-06T14:50:58.0730000Z</dcterms:created>
  <dcterms:modified xsi:type="dcterms:W3CDTF">2026-10-06T14:50:58.0730000Z</dcterms:modified>
</coreProperties>
</file>