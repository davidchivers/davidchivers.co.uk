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af09bbabb54dd2" /><Relationship Type="http://schemas.openxmlformats.org/officeDocument/2006/relationships/extended-properties" Target="/docProps/app.xml" Id="Rc6006bb795114d66" /><Relationship Type="http://schemas.openxmlformats.org/officeDocument/2006/relationships/officeDocument" Target="/ppt/presentation.xml" Id="R94d28e44cd5f4329" /></Relationships>
</file>

<file path=ppt/presentation.xml><?xml version="1.0" encoding="utf-8"?>
<p:presentation xmlns:p="http://schemas.openxmlformats.org/presentationml/2006/main">
  <p:sldMasterIdLst>
    <p:sldMasterId xmlns:r="http://schemas.openxmlformats.org/officeDocument/2006/relationships" id="2147483648" r:id="Rd9690fe74b764841"/>
  </p:sldMasterIdLst>
  <p:notesMasterIdLst>
    <p:notesMasterId xmlns:r="http://schemas.openxmlformats.org/officeDocument/2006/relationships" r:id="R9bc79d9e60354bf0"/>
  </p:notesMasterIdLst>
  <p:sldIdLst>
    <p:sldId xmlns:r="http://schemas.openxmlformats.org/officeDocument/2006/relationships" id="256" r:id="Rb54ae1d72b3643e6"/>
    <p:sldId xmlns:r="http://schemas.openxmlformats.org/officeDocument/2006/relationships" id="257" r:id="R0c601c12a98147c8"/>
    <p:sldId xmlns:r="http://schemas.openxmlformats.org/officeDocument/2006/relationships" id="258" r:id="Rd11f7fd3465c443e"/>
    <p:sldId xmlns:r="http://schemas.openxmlformats.org/officeDocument/2006/relationships" id="259" r:id="R6a4e44ad002f4d8c"/>
    <p:sldId xmlns:r="http://schemas.openxmlformats.org/officeDocument/2006/relationships" id="260" r:id="Rc78d647bdbad45dd"/>
    <p:sldId xmlns:r="http://schemas.openxmlformats.org/officeDocument/2006/relationships" id="261" r:id="R63ee30153ce348bd"/>
    <p:sldId xmlns:r="http://schemas.openxmlformats.org/officeDocument/2006/relationships" id="262" r:id="R3ac25aee9aa149bd"/>
    <p:sldId xmlns:r="http://schemas.openxmlformats.org/officeDocument/2006/relationships" id="263" r:id="Rc385e8137a804336"/>
    <p:sldId xmlns:r="http://schemas.openxmlformats.org/officeDocument/2006/relationships" id="264" r:id="Rccc2ebd6e6da4aa0"/>
    <p:sldId xmlns:r="http://schemas.openxmlformats.org/officeDocument/2006/relationships" id="265" r:id="R9a7fc1776d404b8f"/>
    <p:sldId xmlns:r="http://schemas.openxmlformats.org/officeDocument/2006/relationships" id="266" r:id="R547032906ccd4228"/>
    <p:sldId xmlns:r="http://schemas.openxmlformats.org/officeDocument/2006/relationships" id="267" r:id="R1154f56f805343aa"/>
    <p:sldId xmlns:r="http://schemas.openxmlformats.org/officeDocument/2006/relationships" id="268" r:id="Rff787f2a283d4ac1"/>
    <p:sldId xmlns:r="http://schemas.openxmlformats.org/officeDocument/2006/relationships" id="269" r:id="R645c6f848e24435f"/>
    <p:sldId xmlns:r="http://schemas.openxmlformats.org/officeDocument/2006/relationships" id="270" r:id="R0857d348ed6047d9"/>
    <p:sldId xmlns:r="http://schemas.openxmlformats.org/officeDocument/2006/relationships" id="271" r:id="Rd02182f822604552"/>
    <p:sldId xmlns:r="http://schemas.openxmlformats.org/officeDocument/2006/relationships" id="272" r:id="Rae713525d91e4a30"/>
    <p:sldId xmlns:r="http://schemas.openxmlformats.org/officeDocument/2006/relationships" id="273" r:id="Re6aa295cac8c4b16"/>
    <p:sldId xmlns:r="http://schemas.openxmlformats.org/officeDocument/2006/relationships" id="274" r:id="Ref1be14a6f6e47dc"/>
    <p:sldId xmlns:r="http://schemas.openxmlformats.org/officeDocument/2006/relationships" id="275" r:id="R83416acaa35b4282"/>
    <p:sldId xmlns:r="http://schemas.openxmlformats.org/officeDocument/2006/relationships" id="276" r:id="R7b2744aacaed4f4c"/>
    <p:sldId xmlns:r="http://schemas.openxmlformats.org/officeDocument/2006/relationships" id="277" r:id="R37c0e373f9ee4c0d"/>
    <p:sldId xmlns:r="http://schemas.openxmlformats.org/officeDocument/2006/relationships" id="278" r:id="R8cd0717d8d2e4053"/>
    <p:sldId xmlns:r="http://schemas.openxmlformats.org/officeDocument/2006/relationships" id="279" r:id="R32081dca19c0454e"/>
    <p:sldId xmlns:r="http://schemas.openxmlformats.org/officeDocument/2006/relationships" id="280" r:id="R02644cbb1fe6431e"/>
    <p:sldId xmlns:r="http://schemas.openxmlformats.org/officeDocument/2006/relationships" id="281" r:id="Rc76ac836efc346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ce41e4c6534538" /><Relationship Type="http://schemas.openxmlformats.org/officeDocument/2006/relationships/slideMaster" Target="/ppt/slideMasters/slideMaster1.xml" Id="Rd9690fe74b764841" /><Relationship Type="http://schemas.openxmlformats.org/officeDocument/2006/relationships/notesMaster" Target="/ppt/notesMasters/notesMaster1.xml" Id="R9bc79d9e60354bf0" /><Relationship Type="http://schemas.openxmlformats.org/officeDocument/2006/relationships/presProps" Target="/ppt/presProps.xml" Id="Rfe44998196fe4b64" /><Relationship Type="http://schemas.openxmlformats.org/officeDocument/2006/relationships/tableStyles" Target="/ppt/tableStyles.xml" Id="R1d2ea54337c240dc" /><Relationship Type="http://schemas.openxmlformats.org/officeDocument/2006/relationships/slide" Target="/ppt/slides/slide1.xml" Id="Rb54ae1d72b3643e6" /><Relationship Type="http://schemas.openxmlformats.org/officeDocument/2006/relationships/slide" Target="/ppt/slides/slide2.xml" Id="R0c601c12a98147c8" /><Relationship Type="http://schemas.openxmlformats.org/officeDocument/2006/relationships/slide" Target="/ppt/slides/slide3.xml" Id="Rd11f7fd3465c443e" /><Relationship Type="http://schemas.openxmlformats.org/officeDocument/2006/relationships/slide" Target="/ppt/slides/slide4.xml" Id="R6a4e44ad002f4d8c" /><Relationship Type="http://schemas.openxmlformats.org/officeDocument/2006/relationships/slide" Target="/ppt/slides/slide5.xml" Id="Rc78d647bdbad45dd" /><Relationship Type="http://schemas.openxmlformats.org/officeDocument/2006/relationships/slide" Target="/ppt/slides/slide6.xml" Id="R63ee30153ce348bd" /><Relationship Type="http://schemas.openxmlformats.org/officeDocument/2006/relationships/slide" Target="/ppt/slides/slide7.xml" Id="R3ac25aee9aa149bd" /><Relationship Type="http://schemas.openxmlformats.org/officeDocument/2006/relationships/slide" Target="/ppt/slides/slide8.xml" Id="Rc385e8137a804336" /><Relationship Type="http://schemas.openxmlformats.org/officeDocument/2006/relationships/slide" Target="/ppt/slides/slide9.xml" Id="Rccc2ebd6e6da4aa0" /><Relationship Type="http://schemas.openxmlformats.org/officeDocument/2006/relationships/slide" Target="/ppt/slides/slide10.xml" Id="R9a7fc1776d404b8f" /><Relationship Type="http://schemas.openxmlformats.org/officeDocument/2006/relationships/slide" Target="/ppt/slides/slide11.xml" Id="R547032906ccd4228" /><Relationship Type="http://schemas.openxmlformats.org/officeDocument/2006/relationships/slide" Target="/ppt/slides/slide12.xml" Id="R1154f56f805343aa" /><Relationship Type="http://schemas.openxmlformats.org/officeDocument/2006/relationships/slide" Target="/ppt/slides/slide13.xml" Id="Rff787f2a283d4ac1" /><Relationship Type="http://schemas.openxmlformats.org/officeDocument/2006/relationships/slide" Target="/ppt/slides/slide14.xml" Id="R645c6f848e24435f" /><Relationship Type="http://schemas.openxmlformats.org/officeDocument/2006/relationships/slide" Target="/ppt/slides/slide15.xml" Id="R0857d348ed6047d9" /><Relationship Type="http://schemas.openxmlformats.org/officeDocument/2006/relationships/slide" Target="/ppt/slides/slide16.xml" Id="Rd02182f822604552" /><Relationship Type="http://schemas.openxmlformats.org/officeDocument/2006/relationships/slide" Target="/ppt/slides/slide17.xml" Id="Rae713525d91e4a30" /><Relationship Type="http://schemas.openxmlformats.org/officeDocument/2006/relationships/slide" Target="/ppt/slides/slide18.xml" Id="Re6aa295cac8c4b16" /><Relationship Type="http://schemas.openxmlformats.org/officeDocument/2006/relationships/slide" Target="/ppt/slides/slide19.xml" Id="Ref1be14a6f6e47dc" /><Relationship Type="http://schemas.openxmlformats.org/officeDocument/2006/relationships/slide" Target="/ppt/slides/slide20.xml" Id="R83416acaa35b4282" /><Relationship Type="http://schemas.openxmlformats.org/officeDocument/2006/relationships/slide" Target="/ppt/slides/slide21.xml" Id="R7b2744aacaed4f4c" /><Relationship Type="http://schemas.openxmlformats.org/officeDocument/2006/relationships/slide" Target="/ppt/slides/slide22.xml" Id="R37c0e373f9ee4c0d" /><Relationship Type="http://schemas.openxmlformats.org/officeDocument/2006/relationships/slide" Target="/ppt/slides/slide23.xml" Id="R8cd0717d8d2e4053" /><Relationship Type="http://schemas.openxmlformats.org/officeDocument/2006/relationships/slide" Target="/ppt/slides/slide24.xml" Id="R32081dca19c0454e" /><Relationship Type="http://schemas.openxmlformats.org/officeDocument/2006/relationships/slide" Target="/ppt/slides/slide25.xml" Id="R02644cbb1fe6431e" /><Relationship Type="http://schemas.openxmlformats.org/officeDocument/2006/relationships/slide" Target="/ppt/slides/slide26.xml" Id="Rc76ac836efc346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e2eb4e734840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b013b93472d4b89" /><Relationship Type="http://schemas.openxmlformats.org/officeDocument/2006/relationships/notesMaster" Target="/ppt/notesMasters/notesMaster1.xml" Id="R9df35d07e8694a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73212e961a74c91" /><Relationship Type="http://schemas.openxmlformats.org/officeDocument/2006/relationships/notesMaster" Target="/ppt/notesMasters/notesMaster1.xml" Id="R5f67b6c1ff7142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df71b987f2c453c" /><Relationship Type="http://schemas.openxmlformats.org/officeDocument/2006/relationships/notesMaster" Target="/ppt/notesMasters/notesMaster1.xml" Id="Raf0ac9baaf89478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aad79d37df42c7" /><Relationship Type="http://schemas.openxmlformats.org/officeDocument/2006/relationships/notesMaster" Target="/ppt/notesMasters/notesMaster1.xml" Id="R319e136af8954c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0bccb5f6624eb8" /><Relationship Type="http://schemas.openxmlformats.org/officeDocument/2006/relationships/notesMaster" Target="/ppt/notesMasters/notesMaster1.xml" Id="Rbe701b5a14484f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ba52e0451f4b9f" /><Relationship Type="http://schemas.openxmlformats.org/officeDocument/2006/relationships/notesMaster" Target="/ppt/notesMasters/notesMaster1.xml" Id="R8c39bd4a913b46ec" /></Relationships>
</file>

<file path=ppt/notesSlides/_rels/notesSlide7.xml.rels>&#65279;<?xml version="1.0" encoding="utf-8"?><Relationships xmlns="http://schemas.openxmlformats.org/package/2006/relationships"><Relationship Type="http://schemas.openxmlformats.org/officeDocument/2006/relationships/slide" Target="/ppt/slides/slide7.xml" Id="R901db672972f4151" /><Relationship Type="http://schemas.openxmlformats.org/officeDocument/2006/relationships/notesMaster" Target="/ppt/notesMasters/notesMaster1.xml" Id="R84081ae2ac0049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35ed895370b4450e" /><Relationship Type="http://schemas.openxmlformats.org/officeDocument/2006/relationships/notesMaster" Target="/ppt/notesMasters/notesMaster1.xml" Id="R65832068781943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c85c508d0b24f39" /><Relationship Type="http://schemas.openxmlformats.org/officeDocument/2006/relationships/notesMaster" Target="/ppt/notesMasters/notesMaster1.xml" Id="R5f21803dc523472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b16407b67134f0c" /><Relationship Type="http://schemas.openxmlformats.org/officeDocument/2006/relationships/notesMaster" Target="/ppt/notesMasters/notesMaster1.xml" Id="Rdf299e8d0a6b47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415438f2ca545a9" /><Relationship Type="http://schemas.openxmlformats.org/officeDocument/2006/relationships/notesMaster" Target="/ppt/notesMasters/notesMaster1.xml" Id="R28cee552b95049f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c4be46e36b34693" /><Relationship Type="http://schemas.openxmlformats.org/officeDocument/2006/relationships/notesMaster" Target="/ppt/notesMasters/notesMaster1.xml" Id="R04ce3952560241d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e29533f93aa4741" /><Relationship Type="http://schemas.openxmlformats.org/officeDocument/2006/relationships/notesMaster" Target="/ppt/notesMasters/notesMaster1.xml" Id="R92282bae8c8a47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92d4d7ff5b64c62" /><Relationship Type="http://schemas.openxmlformats.org/officeDocument/2006/relationships/notesMaster" Target="/ppt/notesMasters/notesMaster1.xml" Id="R6f340161cd4d41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675dc5081c846e1" /><Relationship Type="http://schemas.openxmlformats.org/officeDocument/2006/relationships/notesMaster" Target="/ppt/notesMasters/notesMaster1.xml" Id="R7aec441703dc4d4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377aa5c338e46cc" /><Relationship Type="http://schemas.openxmlformats.org/officeDocument/2006/relationships/notesMaster" Target="/ppt/notesMasters/notesMaster1.xml" Id="Rf287e64a49954f5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002d790cdda4166" /><Relationship Type="http://schemas.openxmlformats.org/officeDocument/2006/relationships/notesMaster" Target="/ppt/notesMasters/notesMaster1.xml" Id="R8e531c66d2264a6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cf53d6ba89841ab" /><Relationship Type="http://schemas.openxmlformats.org/officeDocument/2006/relationships/notesMaster" Target="/ppt/notesMasters/notesMaster1.xml" Id="R7bbe241aed1c476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9d18e4a3d2948d2" /><Relationship Type="http://schemas.openxmlformats.org/officeDocument/2006/relationships/notesMaster" Target="/ppt/notesMasters/notesMaster1.xml" Id="R84943226acbe4ff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84673bf86754bd4" /><Relationship Type="http://schemas.openxmlformats.org/officeDocument/2006/relationships/notesMaster" Target="/ppt/notesMasters/notesMaster1.xml" Id="Rd0fc53e3176241f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ba573ffc17c41bd" /><Relationship Type="http://schemas.openxmlformats.org/officeDocument/2006/relationships/notesMaster" Target="/ppt/notesMasters/notesMaster1.xml" Id="R5774e48da76d490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aa1ebf5d4d849e4" /><Relationship Type="http://schemas.openxmlformats.org/officeDocument/2006/relationships/notesMaster" Target="/ppt/notesMasters/notesMaster1.xml" Id="R278b2b0e93794a5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95fec9d142e4782" /><Relationship Type="http://schemas.openxmlformats.org/officeDocument/2006/relationships/notesMaster" Target="/ppt/notesMasters/notesMaster1.xml" Id="R11f3fb79559549b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83916836165455d" /><Relationship Type="http://schemas.openxmlformats.org/officeDocument/2006/relationships/notesMaster" Target="/ppt/notesMasters/notesMaster1.xml" Id="R25ddea6208924b0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1358e3a6fba408e" /><Relationship Type="http://schemas.openxmlformats.org/officeDocument/2006/relationships/notesMaster" Target="/ppt/notesMasters/notesMaster1.xml" Id="R689817cd5ff9437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a9151955a22467a" /><Relationship Type="http://schemas.openxmlformats.org/officeDocument/2006/relationships/notesMaster" Target="/ppt/notesMasters/notesMaster1.xml" Id="R846c3ab8d92442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2: Customs unions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a:t>
            </a:r>
          </a:p>
          <a:p xmlns:a="http://schemas.openxmlformats.org/drawingml/2006/main">
            <a:r>
              <a:t>One of the main goals of the Treaty of Rome was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lecture, you will be able to:</a:t>
            </a:r>
          </a:p>
          <a:p xmlns:a="http://schemas.openxmlformats.org/drawingml/2006/main">
            <a:r>
              <a:t/>
            </a:r>
          </a:p>
          <a:p xmlns:a="http://schemas.openxmlformats.org/drawingml/2006/main">
            <a:r>
              <a:t>Analyse the welfare effects of joining a customs union:</a:t>
            </a:r>
          </a:p>
          <a:p xmlns:a="http://schemas.openxmlformats.org/drawingml/2006/main">
            <a:r>
              <a:t>Removal of tariff barriers and establishment of a common external tariff (1958–1968).</a:t>
            </a:r>
          </a:p>
          <a:p xmlns:a="http://schemas.openxmlformats.org/drawingml/2006/main">
            <a:r>
              <a:t>Removal of non-tariff barriers (1986–1992).</a:t>
            </a:r>
          </a:p>
          <a:p xmlns:a="http://schemas.openxmlformats.org/drawingml/2006/main">
            <a:r>
              <a:t>Understand the economic incentives to join a preferential trade agreement.</a:t>
            </a:r>
          </a:p>
          <a:p xmlns:a="http://schemas.openxmlformats.org/drawingml/2006/main">
            <a:r>
              <a:t>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a:t>
            </a:r>
          </a:p>
          <a:p xmlns:a="http://schemas.openxmlformats.org/drawingml/2006/main">
            <a:r>
              <a:t>MERCOSUR</a:t>
            </a:r>
          </a:p>
          <a:p xmlns:a="http://schemas.openxmlformats.org/drawingml/2006/main">
            <a:r>
              <a:t>CARICOM</a:t>
            </a:r>
          </a:p>
          <a:p xmlns:a="http://schemas.openxmlformats.org/drawingml/2006/main">
            <a:r>
              <a:t>CACM</a:t>
            </a:r>
          </a:p>
          <a:p xmlns:a="http://schemas.openxmlformats.org/drawingml/2006/main">
            <a:r>
              <a:t>CAN</a:t>
            </a:r>
          </a:p>
          <a:p xmlns:a="http://schemas.openxmlformats.org/drawingml/2006/main">
            <a:r>
              <a:t>CH-FL</a:t>
            </a:r>
          </a:p>
          <a:p xmlns:a="http://schemas.openxmlformats.org/drawingml/2006/main">
            <a:r>
              <a:t>EUCU</a:t>
            </a:r>
          </a:p>
          <a:p xmlns:a="http://schemas.openxmlformats.org/drawingml/2006/main">
            <a:r>
              <a:t>EACU</a:t>
            </a:r>
          </a:p>
          <a:p xmlns:a="http://schemas.openxmlformats.org/drawingml/2006/main">
            <a:r>
              <a:t>GCC</a:t>
            </a:r>
          </a:p>
          <a:p xmlns:a="http://schemas.openxmlformats.org/drawingml/2006/main">
            <a:r>
              <a:t>EAC</a:t>
            </a:r>
          </a:p>
          <a:p xmlns:a="http://schemas.openxmlformats.org/drawingml/2006/main">
            <a:r>
              <a:t>WAEMU</a:t>
            </a:r>
          </a:p>
          <a:p xmlns:a="http://schemas.openxmlformats.org/drawingml/2006/main">
            <a:r>
              <a:t>CEMAC</a:t>
            </a:r>
          </a:p>
          <a:p xmlns:a="http://schemas.openxmlformats.org/drawingml/2006/main">
            <a:r>
              <a:t>SACU</a:t>
            </a:r>
          </a:p>
          <a:p xmlns:a="http://schemas.openxmlformats.org/drawingml/2006/main">
            <a:r>
              <a:t>Explore a trade bloc</a:t>
            </a:r>
          </a:p>
          <a:p xmlns:a="http://schemas.openxmlformats.org/drawingml/2006/main">
            <a:r>
              <a:t/>
            </a:r>
          </a:p>
          <a:p xmlns:a="http://schemas.openxmlformats.org/drawingml/2006/main">
            <a:r>
              <a:t>Hover over a coloured region, or select its abbreviation below.</a:t>
            </a:r>
          </a:p>
          <a:p xmlns:a="http://schemas.openxmlformats.org/drawingml/2006/main">
            <a:r>
              <a:t/>
            </a:r>
          </a:p>
          <a:p xmlns:a="http://schemas.openxmlformats.org/drawingml/2006/main">
            <a:r>
              <a:t>A customs union removes internal tariffs and adopts a common external tariff.</a:t>
            </a:r>
          </a:p>
          <a:p xmlns:a="http://schemas.openxmlformats.org/drawingml/2006/main">
            <a:r>
              <a:t/>
            </a:r>
          </a:p>
          <a:p xmlns:a="http://schemas.openxmlformats.org/drawingml/2006/main">
            <a:r>
              <a:t>EUCU</a:t>
            </a:r>
          </a:p>
          <a:p xmlns:a="http://schemas.openxmlformats.org/drawingml/2006/main">
            <a:r>
              <a:t>EACU</a:t>
            </a:r>
          </a:p>
          <a:p xmlns:a="http://schemas.openxmlformats.org/drawingml/2006/main">
            <a:r>
              <a:t>MERCOSUR</a:t>
            </a:r>
          </a:p>
          <a:p xmlns:a="http://schemas.openxmlformats.org/drawingml/2006/main">
            <a:r>
              <a:t>CAN</a:t>
            </a:r>
          </a:p>
          <a:p xmlns:a="http://schemas.openxmlformats.org/drawingml/2006/main">
            <a:r>
              <a:t>CACM</a:t>
            </a:r>
          </a:p>
          <a:p xmlns:a="http://schemas.openxmlformats.org/drawingml/2006/main">
            <a:r>
              <a:t>CARICOM</a:t>
            </a:r>
          </a:p>
          <a:p xmlns:a="http://schemas.openxmlformats.org/drawingml/2006/main">
            <a:r>
              <a:t>WAEMU</a:t>
            </a:r>
          </a:p>
          <a:p xmlns:a="http://schemas.openxmlformats.org/drawingml/2006/main">
            <a:r>
              <a:t>CEMAC</a:t>
            </a:r>
          </a:p>
          <a:p xmlns:a="http://schemas.openxmlformats.org/drawingml/2006/main">
            <a:r>
              <a:t>EAC</a:t>
            </a:r>
          </a:p>
          <a:p xmlns:a="http://schemas.openxmlformats.org/drawingml/2006/main">
            <a:r>
              <a:t>SACU</a:t>
            </a:r>
          </a:p>
          <a:p xmlns:a="http://schemas.openxmlformats.org/drawingml/2006/main">
            <a:r>
              <a:t>GCC</a:t>
            </a:r>
          </a:p>
          <a:p xmlns:a="http://schemas.openxmlformats.org/drawingml/2006/main">
            <a:r>
              <a:t>CH-FL</a:t>
            </a:r>
          </a:p>
          <a:p xmlns:a="http://schemas.openxmlformats.org/drawingml/2006/main">
            <a:r>
              <a:t/>
            </a:r>
          </a:p>
          <a:p xmlns:a="http://schemas.openxmlformats.org/drawingml/2006/main">
            <a:r>
              <a:t>Historical illustration · membership and implementation vary. Map source (2021 revision, adapted); customs unions in practice.</a:t>
            </a:r>
          </a:p>
          <a:p xmlns:a="http://schemas.openxmlformats.org/drawingml/2006/main">
            <a:r>
              <a:t/>
            </a:r>
          </a:p>
          <a:p xmlns:a="http://schemas.openxmlformats.org/drawingml/2006/main">
            <a:r>
              <a:t>Historical world map of customs unions and trade blocs. Named controls provide descriptions in the online slide.</a:t>
            </a:r>
          </a:p>
          <a:p xmlns:a="http://schemas.openxmlformats.org/drawingml/2006/main">
            <a:r>
              <a:t/>
            </a:r>
          </a:p>
          <a:p xmlns:a="http://schemas.openxmlformats.org/drawingml/2006/main">
            <a:r>
              <a:t>https://commons.wikimedia.org/wiki/File:Customs_Unions_World.svg</a:t>
            </a:r>
          </a:p>
          <a:p xmlns:a="http://schemas.openxmlformats.org/drawingml/2006/main">
            <a:r>
              <a:t>https://www.uktpo.org/2018/03/29/what-can-the-uk-learn-from-existing-customs-unions/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Tariff removal: who benefits?</a:t>
            </a:r>
          </a:p>
          <a:p xmlns:a="http://schemas.openxmlformats.org/drawingml/2006/main">
            <a:r>
              <a:t/>
            </a:r>
          </a:p>
          <a:p xmlns:a="http://schemas.openxmlformats.org/drawingml/2006/main">
            <a:r>
              <a:t>Is the removal of tariff barriers beneficial for all countries involved?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a:t>
            </a:r>
          </a:p>
          <a:p xmlns:a="http://schemas.openxmlformats.org/drawingml/2006/main">
            <a:r>
              <a:t>Perfect competition</a:t>
            </a:r>
          </a:p>
          <a:p xmlns:a="http://schemas.openxmlformats.org/drawingml/2006/main">
            <a:r>
              <a:t>Full employment</a:t>
            </a:r>
          </a:p>
          <a:p xmlns:a="http://schemas.openxmlformats.org/drawingml/2006/main">
            <a:r>
              <a:t>No transport costs</a:t>
            </a:r>
          </a:p>
          <a:p xmlns:a="http://schemas.openxmlformats.org/drawingml/2006/main">
            <a:r>
              <a:t>Perfect factor mobility (capital and labour)</a:t>
            </a:r>
          </a:p>
          <a:p xmlns:a="http://schemas.openxmlformats.org/drawingml/2006/main">
            <a:r>
              <a:t>Firms optimise (P=MR=MC)</a:t>
            </a:r>
          </a:p>
          <a:p xmlns:a="http://schemas.openxmlformats.org/drawingml/2006/main">
            <a:r>
              <a:t>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a:t>
            </a:r>
          </a:p>
          <a:p xmlns:a="http://schemas.openxmlformats.org/drawingml/2006/main">
            <a:r>
              <a:t>A simple, symmetric framework</a:t>
            </a:r>
          </a:p>
          <a:p xmlns:a="http://schemas.openxmlformats.org/drawingml/2006/main">
            <a:r>
              <a:t>Good 1</a:t>
            </a:r>
          </a:p>
          <a:p xmlns:a="http://schemas.openxmlformats.org/drawingml/2006/main">
            <a:r>
              <a:t>Good 1</a:t>
            </a:r>
          </a:p>
          <a:p xmlns:a="http://schemas.openxmlformats.org/drawingml/2006/main">
            <a:r>
              <a:t>Good 2</a:t>
            </a:r>
          </a:p>
          <a:p xmlns:a="http://schemas.openxmlformats.org/drawingml/2006/main">
            <a:r>
              <a:t>Good 2</a:t>
            </a:r>
          </a:p>
          <a:p xmlns:a="http://schemas.openxmlformats.org/drawingml/2006/main">
            <a:r>
              <a:t>Good 3</a:t>
            </a:r>
          </a:p>
          <a:p xmlns:a="http://schemas.openxmlformats.org/drawingml/2006/main">
            <a:r>
              <a:t>Good 3</a:t>
            </a:r>
          </a:p>
          <a:p xmlns:a="http://schemas.openxmlformats.org/drawingml/2006/main">
            <a:r>
              <a:t>Home</a:t>
            </a:r>
          </a:p>
          <a:p xmlns:a="http://schemas.openxmlformats.org/drawingml/2006/main">
            <a:r>
              <a:t>Partner</a:t>
            </a:r>
          </a:p>
          <a:p xmlns:a="http://schemas.openxmlformats.org/drawingml/2006/main">
            <a:r>
              <a:t>RoW</a:t>
            </a:r>
          </a:p>
          <a:p xmlns:a="http://schemas.openxmlformats.org/drawingml/2006/main">
            <a:r>
              <a:t/>
            </a:r>
          </a:p>
          <a:p xmlns:a="http://schemas.openxmlformats.org/drawingml/2006/main">
            <a:r>
              <a:t>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a:t>
            </a:r>
          </a:p>
          <a:p xmlns:a="http://schemas.openxmlformats.org/drawingml/2006/main">
            <a:r>
              <a:t/>
            </a:r>
          </a:p>
          <a:p xmlns:a="http://schemas.openxmlformats.org/drawingml/2006/main">
            <a:r>
              <a:t>Below Home’s autarky price, imports equal domestic demand minus domestic supply: </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
            </a:r>
          </a:p>
          <a:p xmlns:a="http://schemas.openxmlformats.org/drawingml/2006/main">
            <a:r>
              <a:t>The highlighted quantity intervals are equal: imports are the gap between demand and supply.</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a:t>
            </a:r>
          </a:p>
          <a:p xmlns:a="http://schemas.openxmlformats.org/drawingml/2006/main">
            <a:r>
              <a:t/>
            </a:r>
          </a:p>
          <a:p xmlns:a="http://schemas.openxmlformats.org/drawingml/2006/main">
            <a:r>
              <a:t>Above Partner’s autarky price, exports equal domestic supply minus domestic demand: </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
            </a:r>
          </a:p>
          <a:p xmlns:a="http://schemas.openxmlformats.org/drawingml/2006/main">
            <a:r>
              <a:t>The highlighted quantity intervals are equal: exports are the gap between supply and demand.</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a:t>
            </a:r>
          </a:p>
          <a:p xmlns:a="http://schemas.openxmlformats.org/drawingml/2006/main">
            <a:r>
              <a:t/>
            </a:r>
          </a:p>
          <a:p xmlns:a="http://schemas.openxmlformats.org/drawingml/2006/main">
            <a:r>
              <a:t>Home’s import supply is the horizontal sum of both export supply curves: </a:t>
            </a:r>
          </a:p>
          <a:p xmlns:a="http://schemas.openxmlformats.org/drawingml/2006/main">
            <a:r>
              <a:t>𝑀</a:t>
            </a:r>
          </a:p>
          <a:p xmlns:a="http://schemas.openxmlformats.org/drawingml/2006/main">
            <a:r>
              <a:t>𝑆</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
            </a:r>
          </a:p>
          <a:p xmlns:a="http://schemas.openxmlformats.org/drawingml/2006/main">
            <a:r>
              <a:t>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a:t>
            </a:r>
          </a:p>
          <a:p xmlns:a="http://schemas.openxmlformats.org/drawingml/2006/main">
            <a:r>
              <a:t/>
            </a:r>
          </a:p>
          <a:p xmlns:a="http://schemas.openxmlformats.org/drawingml/2006/main">
            <a:r>
              <a:t>At the free-trade equilibrium price </a:t>
            </a:r>
          </a:p>
          <a:p xmlns:a="http://schemas.openxmlformats.org/drawingml/2006/main">
            <a:r>
              <a:t>𝑃</a:t>
            </a:r>
          </a:p>
          <a:p xmlns:a="http://schemas.openxmlformats.org/drawingml/2006/main">
            <a:r>
              <a:t>𝐹</a:t>
            </a:r>
          </a:p>
          <a:p xmlns:a="http://schemas.openxmlformats.org/drawingml/2006/main">
            <a:r>
              <a:t>𝑇</a:t>
            </a:r>
          </a:p>
          <a:p xmlns:a="http://schemas.openxmlformats.org/drawingml/2006/main">
            <a:r>
              <a:t>, world demand equals world supply.</a:t>
            </a:r>
          </a:p>
          <a:p xmlns:a="http://schemas.openxmlformats.org/drawingml/2006/main">
            <a:r>
              <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𝑅</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a:t>
            </a:r>
          </a:p>
          <a:p xmlns:a="http://schemas.openxmlformats.org/drawingml/2006/main">
            <a:r>
              <a:t>Assume that Home, Partner and RoW were all applying the ‘Most Favoured Nation’ principle (GATT/WTO), according to which trade barriers should not be discriminatory.</a:t>
            </a:r>
          </a:p>
          <a:p xmlns:a="http://schemas.openxmlformats.org/drawingml/2006/main">
            <a:r>
              <a:t>Home imposes the same tariff on Partner and RoW.</a:t>
            </a:r>
          </a:p>
          <a:p xmlns:a="http://schemas.openxmlformats.org/drawingml/2006/main">
            <a:r>
              <a:t>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a:t>
            </a:r>
          </a:p>
          <a:p xmlns:a="http://schemas.openxmlformats.org/drawingml/2006/main">
            <a:r>
              <a:t/>
            </a:r>
          </a:p>
          <a:p xmlns:a="http://schemas.openxmlformats.org/drawingml/2006/main">
            <a:r>
              <a:t>Home applies the same tariff </a:t>
            </a:r>
          </a:p>
          <a:p xmlns:a="http://schemas.openxmlformats.org/drawingml/2006/main">
            <a:r>
              <a:t>𝑇</a:t>
            </a:r>
          </a:p>
          <a:p xmlns:a="http://schemas.openxmlformats.org/drawingml/2006/main">
            <a:r>
              <a:t> to Partner and the rest of the world.</a:t>
            </a:r>
          </a:p>
          <a:p xmlns:a="http://schemas.openxmlformats.org/drawingml/2006/main">
            <a:r>
              <a:t/>
            </a:r>
          </a:p>
          <a:p xmlns:a="http://schemas.openxmlformats.org/drawingml/2006/main">
            <a:r>
              <a:t>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a:t>
            </a:r>
          </a:p>
          <a:p xmlns:a="http://schemas.openxmlformats.org/drawingml/2006/main">
            <a:r>
              <a:t/>
            </a:r>
          </a:p>
          <a:p xmlns:a="http://schemas.openxmlformats.org/drawingml/2006/main">
            <a:r>
              <a:t>Home removes the tariff on Partner. The tariff on RoW remains </a:t>
            </a:r>
          </a:p>
          <a:p xmlns:a="http://schemas.openxmlformats.org/drawingml/2006/main">
            <a:r>
              <a:t>𝑇</a:t>
            </a:r>
          </a:p>
          <a:p xmlns:a="http://schemas.openxmlformats.org/drawingml/2006/main">
            <a:r>
              <a:t>.</a:t>
            </a:r>
          </a:p>
          <a:p xmlns:a="http://schemas.openxmlformats.org/drawingml/2006/main">
            <a:r>
              <a:t/>
            </a:r>
          </a:p>
          <a:p xmlns:a="http://schemas.openxmlformats.org/drawingml/2006/main">
            <a:r>
              <a:t>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a:t>
            </a:r>
          </a:p>
          <a:p xmlns:a="http://schemas.openxmlformats.org/drawingml/2006/main">
            <a:r>
              <a:t/>
            </a:r>
          </a:p>
          <a:p xmlns:a="http://schemas.openxmlformats.org/drawingml/2006/main">
            <a:r>
              <a:t>The shaded areas measure each exporter’s net welfare change for this good.</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
            </a:r>
          </a:p>
          <a:p xmlns:a="http://schemas.openxmlformats.org/drawingml/2006/main">
            <a:r>
              <a:t>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Home’s welfare needs a separate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a:t>
            </a:r>
          </a:p>
          <a:p xmlns:a="http://schemas.openxmlformats.org/drawingml/2006/main">
            <a:r>
              <a:t/>
            </a:r>
          </a:p>
          <a:p xmlns:a="http://schemas.openxmlformats.org/drawingml/2006/main">
            <a:r>
              <a:t>Home’s price falls from </a:t>
            </a:r>
          </a:p>
          <a:p xmlns:a="http://schemas.openxmlformats.org/drawingml/2006/main">
            <a:r>
              <a:t>𝑃</a:t>
            </a:r>
          </a:p>
          <a:p xmlns:a="http://schemas.openxmlformats.org/drawingml/2006/main">
            <a:r>
              <a:t>′</a:t>
            </a:r>
          </a:p>
          <a:p xmlns:a="http://schemas.openxmlformats.org/drawingml/2006/main">
            <a:r>
              <a:t> to </a:t>
            </a:r>
          </a:p>
          <a:p xmlns:a="http://schemas.openxmlformats.org/drawingml/2006/main">
            <a:r>
              <a:t>𝑃</a:t>
            </a:r>
          </a:p>
          <a:p xmlns:a="http://schemas.openxmlformats.org/drawingml/2006/main">
            <a:r>
              <a:t>″</a:t>
            </a:r>
          </a:p>
          <a:p xmlns:a="http://schemas.openxmlformats.org/drawingml/2006/main">
            <a:r>
              <a:t>: consumers gain and producers lose.</a:t>
            </a:r>
          </a:p>
          <a:p xmlns:a="http://schemas.openxmlformats.org/drawingml/2006/main">
            <a:r>
              <a:t/>
            </a:r>
          </a:p>
          <a:p xmlns:a="http://schemas.openxmlformats.org/drawingml/2006/main">
            <a:r>
              <a:t>Price</a:t>
            </a:r>
          </a:p>
          <a:p xmlns:a="http://schemas.openxmlformats.org/drawingml/2006/main">
            <a:r>
              <a:t>Quantity</a:t>
            </a:r>
          </a:p>
          <a:p xmlns:a="http://schemas.openxmlformats.org/drawingml/2006/main">
            <a:r>
              <a:t>S</a:t>
            </a:r>
          </a:p>
          <a:p xmlns:a="http://schemas.openxmlformats.org/drawingml/2006/main">
            <a:r>
              <a:t>D</a:t>
            </a:r>
          </a:p>
          <a:p xmlns:a="http://schemas.openxmlformats.org/drawingml/2006/main">
            <a:r>
              <a:t>P′</a:t>
            </a:r>
          </a:p>
          <a:p xmlns:a="http://schemas.openxmlformats.org/drawingml/2006/main">
            <a:r>
              <a:t>P″</a:t>
            </a:r>
          </a:p>
          <a:p xmlns:a="http://schemas.openxmlformats.org/drawingml/2006/main">
            <a:r>
              <a:t>D</a:t>
            </a:r>
          </a:p>
          <a:p xmlns:a="http://schemas.openxmlformats.org/drawingml/2006/main">
            <a:r>
              <a:t>A1</a:t>
            </a:r>
          </a:p>
          <a:p xmlns:a="http://schemas.openxmlformats.org/drawingml/2006/main">
            <a:r>
              <a:t>A2</a:t>
            </a:r>
          </a:p>
          <a:p xmlns:a="http://schemas.openxmlformats.org/drawingml/2006/main">
            <a:r>
              <a:t>A3</a:t>
            </a:r>
          </a:p>
          <a:p xmlns:a="http://schemas.openxmlformats.org/drawingml/2006/main">
            <a:r>
              <a:t>S″</a:t>
            </a:r>
          </a:p>
          <a:p xmlns:a="http://schemas.openxmlformats.org/drawingml/2006/main">
            <a:r>
              <a:t>S′</a:t>
            </a:r>
          </a:p>
          <a:p xmlns:a="http://schemas.openxmlformats.org/drawingml/2006/main">
            <a:r>
              <a:t>D′</a:t>
            </a:r>
          </a:p>
          <a:p xmlns:a="http://schemas.openxmlformats.org/drawingml/2006/main">
            <a:r>
              <a:t>D″</a:t>
            </a:r>
          </a:p>
          <a:p xmlns:a="http://schemas.openxmlformats.org/drawingml/2006/main">
            <a:r>
              <a:t>D is a transfer from producers to consumers.</a:t>
            </a:r>
          </a:p>
          <a:p xmlns:a="http://schemas.openxmlformats.org/drawingml/2006/main">
            <a:r>
              <a:t>Consumer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Producer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
            </a:r>
          </a:p>
          <a:p xmlns:a="http://schemas.openxmlformats.org/drawingml/2006/main">
            <a:r>
              <a:t>Net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The transfer </a:t>
            </a:r>
          </a:p>
          <a:p xmlns:a="http://schemas.openxmlformats.org/drawingml/2006/main">
            <a:r>
              <a:t>𝐷</a:t>
            </a:r>
          </a:p>
          <a:p xmlns:a="http://schemas.openxmlformats.org/drawingml/2006/main">
            <a:r>
              <a:t> cancels. We still need the change in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a:t>
            </a:r>
          </a:p>
          <a:p xmlns:a="http://schemas.openxmlformats.org/drawingml/2006/main">
            <a:r>
              <a:t/>
            </a:r>
          </a:p>
          <a:p xmlns:a="http://schemas.openxmlformats.org/drawingml/2006/main">
            <a:r>
              <a:t>After the customs union, only imports from RoW generate tariff revenue.</a:t>
            </a:r>
          </a:p>
          <a:p xmlns:a="http://schemas.openxmlformats.org/drawingml/2006/main">
            <a:r>
              <a:t/>
            </a:r>
          </a:p>
          <a:p xmlns:a="http://schemas.openxmlformats.org/drawingml/2006/main">
            <a:r>
              <a:t>Price</a:t>
            </a:r>
          </a:p>
          <a:p xmlns:a="http://schemas.openxmlformats.org/drawingml/2006/main">
            <a:r>
              <a:t>Home imports</a:t>
            </a:r>
          </a:p>
          <a:p xmlns:a="http://schemas.openxmlformats.org/drawingml/2006/main">
            <a:r>
              <a:t>MD</a:t>
            </a:r>
          </a:p>
          <a:p xmlns:a="http://schemas.openxmlformats.org/drawingml/2006/main">
            <a:r>
              <a:t>P′</a:t>
            </a:r>
          </a:p>
          <a:p xmlns:a="http://schemas.openxmlformats.org/drawingml/2006/main">
            <a:r>
              <a:t>P″</a:t>
            </a:r>
          </a:p>
          <a:p xmlns:a="http://schemas.openxmlformats.org/drawingml/2006/main">
            <a:r>
              <a:t>P′ − T</a:t>
            </a:r>
          </a:p>
          <a:p xmlns:a="http://schemas.openxmlformats.org/drawingml/2006/main">
            <a:r>
              <a:t>P″ − T</a:t>
            </a:r>
          </a:p>
          <a:p xmlns:a="http://schemas.openxmlformats.org/drawingml/2006/main">
            <a:r>
              <a:t>XR″</a:t>
            </a:r>
          </a:p>
          <a:p xmlns:a="http://schemas.openxmlformats.org/drawingml/2006/main">
            <a:r>
              <a:t>M′</a:t>
            </a:r>
          </a:p>
          <a:p xmlns:a="http://schemas.openxmlformats.org/drawingml/2006/main">
            <a:r>
              <a:t>M″</a:t>
            </a:r>
          </a:p>
          <a:p xmlns:a="http://schemas.openxmlformats.org/drawingml/2006/main">
            <a:r>
              <a:t>A1</a:t>
            </a:r>
          </a:p>
          <a:p xmlns:a="http://schemas.openxmlformats.org/drawingml/2006/main">
            <a:r>
              <a:t>B1</a:t>
            </a:r>
          </a:p>
          <a:p xmlns:a="http://schemas.openxmlformats.org/drawingml/2006/main">
            <a:r>
              <a:t>C</a:t>
            </a:r>
          </a:p>
          <a:p xmlns:a="http://schemas.openxmlformats.org/drawingml/2006/main">
            <a:r>
              <a:t>B</a:t>
            </a:r>
          </a:p>
          <a:p xmlns:a="http://schemas.openxmlformats.org/drawingml/2006/main">
            <a:r>
              <a:t>A</a:t>
            </a:r>
          </a:p>
          <a:p xmlns:a="http://schemas.openxmlformats.org/drawingml/2006/main">
            <a:r>
              <a:t>T</a:t>
            </a:r>
          </a:p>
          <a:p xmlns:a="http://schemas.openxmlformats.org/drawingml/2006/main">
            <a:r>
              <a:t>T</a:t>
            </a:r>
          </a:p>
          <a:p xmlns:a="http://schemas.openxmlformats.org/drawingml/2006/main">
            <a:r>
              <a:t>A = A₂ + A₃; the net welfare effect is A + B − C.</a:t>
            </a:r>
          </a:p>
          <a:p xmlns:a="http://schemas.openxmlformats.org/drawingml/2006/main">
            <a:r>
              <a:t>Tariff revenue</a:t>
            </a:r>
          </a:p>
          <a:p xmlns:a="http://schemas.openxmlformats.org/drawingml/2006/main">
            <a:r>
              <a:t/>
            </a:r>
          </a:p>
          <a:p xmlns:a="http://schemas.openxmlformats.org/drawingml/2006/main">
            <a:r>
              <a:t>Before: </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𝑇</a:t>
            </a:r>
          </a:p>
          <a:p xmlns:a="http://schemas.openxmlformats.org/drawingml/2006/main">
            <a:r>
              <a:t>𝑀</a:t>
            </a:r>
          </a:p>
          <a:p xmlns:a="http://schemas.openxmlformats.org/drawingml/2006/main">
            <a:r>
              <a:t>′</a:t>
            </a:r>
          </a:p>
          <a:p xmlns:a="http://schemas.openxmlformats.org/drawingml/2006/main">
            <a:r>
              <a:t>.</a:t>
            </a:r>
          </a:p>
          <a:p xmlns:a="http://schemas.openxmlformats.org/drawingml/2006/main">
            <a:r>
              <a:t/>
            </a:r>
          </a:p>
          <a:p xmlns:a="http://schemas.openxmlformats.org/drawingml/2006/main">
            <a:r>
              <a:t>After: </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𝑇</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a:t>
            </a:r>
          </a:p>
          <a:p xmlns:a="http://schemas.openxmlformats.org/drawingml/2006/main">
            <a:r>
              <a:t>.</a:t>
            </a:r>
          </a:p>
          <a:p xmlns:a="http://schemas.openxmlformats.org/drawingml/2006/main">
            <a:r>
              <a:t/>
            </a:r>
          </a:p>
          <a:p xmlns:a="http://schemas.openxmlformats.org/drawingml/2006/main">
            <a:r>
              <a:t>Change: </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Add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The sign is ambiguous. Here, </a:t>
            </a:r>
          </a:p>
          <a:p xmlns:a="http://schemas.openxmlformats.org/drawingml/2006/main">
            <a:r>
              <a:t>𝐴</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a:t>
            </a:r>
          </a:p>
          <a:p xmlns:a="http://schemas.openxmlformats.org/drawingml/2006/main">
            <a:r>
              <a:t>Home</a:t>
            </a:r>
          </a:p>
          <a:p xmlns:a="http://schemas.openxmlformats.org/drawingml/2006/main">
            <a:r>
              <a:t>Good 1 (imported):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Good 2 (exported to Partner):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Good 3 (exported to RoW): no change.</a:t>
            </a:r>
          </a:p>
          <a:p xmlns:a="http://schemas.openxmlformats.org/drawingml/2006/main">
            <a:r>
              <a:t>Partner</a:t>
            </a:r>
          </a:p>
          <a:p xmlns:a="http://schemas.openxmlformats.org/drawingml/2006/main">
            <a:r>
              <a:t/>
            </a:r>
          </a:p>
          <a:p xmlns:a="http://schemas.openxmlformats.org/drawingml/2006/main">
            <a:r>
              <a:t>Identical to Home.</a:t>
            </a:r>
          </a:p>
          <a:p xmlns:a="http://schemas.openxmlformats.org/drawingml/2006/main">
            <a:r>
              <a:t/>
            </a:r>
          </a:p>
          <a:p xmlns:a="http://schemas.openxmlformats.org/drawingml/2006/main">
            <a:r>
              <a:t>Rest of the world</a:t>
            </a:r>
          </a:p>
          <a:p xmlns:a="http://schemas.openxmlformats.org/drawingml/2006/main">
            <a:r>
              <a:t>Goods 1 and 2 (exported to customs union members): </a:t>
            </a:r>
          </a:p>
          <a:p xmlns:a="http://schemas.openxmlformats.org/drawingml/2006/main">
            <a:r>
              <a:t>−</a:t>
            </a:r>
          </a:p>
          <a:p xmlns:a="http://schemas.openxmlformats.org/drawingml/2006/main">
            <a:r>
              <a:t>2</a:t>
            </a:r>
          </a:p>
          <a:p xmlns:a="http://schemas.openxmlformats.org/drawingml/2006/main">
            <a:r>
              <a:t>𝐸</a:t>
            </a:r>
          </a:p>
          <a:p xmlns:a="http://schemas.openxmlformats.org/drawingml/2006/main">
            <a:r>
              <a:t>.</a:t>
            </a:r>
          </a:p>
          <a:p xmlns:a="http://schemas.openxmlformats.org/drawingml/2006/main">
            <a:r>
              <a:t>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a:t>
            </a:r>
          </a:p>
          <a:p xmlns:a="http://schemas.openxmlformats.org/drawingml/2006/main">
            <a:r>
              <a:t>Three elements</a:t>
            </a:r>
          </a:p>
          <a:p xmlns:a="http://schemas.openxmlformats.org/drawingml/2006/main">
            <a:r>
              <a:t>Adam Smith’s certitude: foreign firms gain when tariffs against them are eliminated (increase in the price of the exported good);</a:t>
            </a:r>
          </a:p>
          <a:p xmlns:a="http://schemas.openxmlformats.org/drawingml/2006/main">
            <a:r>
              <a:t>Haberler’s spillover: third nations – those excluded from the tariff reductions – lose (fall in the price of the exported good);</a:t>
            </a:r>
          </a:p>
          <a:p xmlns:a="http://schemas.openxmlformats.org/drawingml/2006/main">
            <a:r>
              <a:t>Viner’s ambiguity: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a:t>
            </a:r>
          </a:p>
          <a:p xmlns:a="http://schemas.openxmlformats.org/drawingml/2006/main">
            <a:r>
              <a:t>Protection by country</a:t>
            </a:r>
          </a:p>
          <a:p xmlns:a="http://schemas.openxmlformats.org/drawingml/2006/main">
            <a:r>
              <a:t>Country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Belgium	7.0	7.6	19.6	28.2</a:t>
            </a:r>
          </a:p>
          <a:p xmlns:a="http://schemas.openxmlformats.org/drawingml/2006/main">
            <a:r>
              <a:t>Denmark	7.1	4.1	18.2	27.0</a:t>
            </a:r>
          </a:p>
          <a:p xmlns:a="http://schemas.openxmlformats.org/drawingml/2006/main">
            <a:r>
              <a:t>Germany, West	7.4	6.0	22.3	27.4</a:t>
            </a:r>
          </a:p>
          <a:p xmlns:a="http://schemas.openxmlformats.org/drawingml/2006/main">
            <a:r>
              <a:t>Greece	7.0	8.6	25.5	25.8</a:t>
            </a:r>
          </a:p>
          <a:p xmlns:a="http://schemas.openxmlformats.org/drawingml/2006/main">
            <a:r>
              <a:t>Spain	6.8	4.8	13.9	22.1</a:t>
            </a:r>
          </a:p>
          <a:p xmlns:a="http://schemas.openxmlformats.org/drawingml/2006/main">
            <a:r>
              <a:t>France	7.4	14.3	18.4	26.1</a:t>
            </a:r>
          </a:p>
          <a:p xmlns:a="http://schemas.openxmlformats.org/drawingml/2006/main">
            <a:r>
              <a:t>Ireland	7.5	7.5	20.8	27.0</a:t>
            </a:r>
          </a:p>
          <a:p xmlns:a="http://schemas.openxmlformats.org/drawingml/2006/main">
            <a:r>
              <a:t>Italy	7.6	14.4	20.9	27.1</a:t>
            </a:r>
          </a:p>
          <a:p xmlns:a="http://schemas.openxmlformats.org/drawingml/2006/main">
            <a:r>
              <a:t>Netherlands	7.1	7.6	20.6	28.1</a:t>
            </a:r>
          </a:p>
          <a:p xmlns:a="http://schemas.openxmlformats.org/drawingml/2006/main">
            <a:r>
              <a:t>Portugal	7.1	3.4	19.1	20.2</a:t>
            </a:r>
          </a:p>
          <a:p xmlns:a="http://schemas.openxmlformats.org/drawingml/2006/main">
            <a:r>
              <a:t>Protection by industry</a:t>
            </a:r>
          </a:p>
          <a:p xmlns:a="http://schemas.openxmlformats.org/drawingml/2006/main">
            <a:r>
              <a:t>Industry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Food products	9.8	33.6	45.9	30.0</a:t>
            </a:r>
          </a:p>
          <a:p xmlns:a="http://schemas.openxmlformats.org/drawingml/2006/main">
            <a:r>
              <a:t>Textiles	11.7	24.5	69.8	38.2</a:t>
            </a:r>
          </a:p>
          <a:p xmlns:a="http://schemas.openxmlformats.org/drawingml/2006/main">
            <a:r>
              <a:t>Apparel	12.3	30.4	71.7	35.7</a:t>
            </a:r>
          </a:p>
          <a:p xmlns:a="http://schemas.openxmlformats.org/drawingml/2006/main">
            <a:r>
              <a:t>Footwear	13.3	44.5	33.8	41.9</a:t>
            </a:r>
          </a:p>
          <a:p xmlns:a="http://schemas.openxmlformats.org/drawingml/2006/main">
            <a:r>
              <a:t>Furniture	6.4	46.2	0.9	46.5</a:t>
            </a:r>
          </a:p>
          <a:p xmlns:a="http://schemas.openxmlformats.org/drawingml/2006/main">
            <a:r>
              <a:t>Industrial chemicals	10.2	23.5	9.1	30.1</a:t>
            </a:r>
          </a:p>
          <a:p xmlns:a="http://schemas.openxmlformats.org/drawingml/2006/main">
            <a:r>
              <a:t>Iron &amp; steel	9.8	38.0	47.7	34.6</a:t>
            </a:r>
          </a:p>
          <a:p xmlns:a="http://schemas.openxmlformats.org/drawingml/2006/main">
            <a:r>
              <a:t>Machinery, electric	8.6	28.3	14.3	33.3</a:t>
            </a:r>
          </a:p>
          <a:p xmlns:a="http://schemas.openxmlformats.org/drawingml/2006/main">
            <a:r>
              <a:t>Transport equipment	7.9	30.7	25.5	38.8</a:t>
            </a:r>
          </a:p>
          <a:p xmlns:a="http://schemas.openxmlformats.org/drawingml/2006/main">
            <a:r>
              <a:t>Professional &amp; scientific equipment	6.5	23.6	2.7	30.3</a:t>
            </a:r>
          </a:p>
          <a:p xmlns:a="http://schemas.openxmlformats.org/drawingml/2006/main">
            <a:r>
              <a:t/>
            </a:r>
          </a:p>
          <a:p xmlns:a="http://schemas.openxmlformats.org/drawingml/2006/main">
            <a:r>
              <a:t>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a:t>
            </a:r>
          </a:p>
          <a:p xmlns:a="http://schemas.openxmlformats.org/drawingml/2006/main">
            <a:r>
              <a:t/>
            </a:r>
          </a:p>
          <a:p xmlns:a="http://schemas.openxmlformats.org/drawingml/2006/main">
            <a:r>
              <a:t>Here </a:t>
            </a:r>
          </a:p>
          <a:p xmlns:a="http://schemas.openxmlformats.org/drawingml/2006/main">
            <a:r>
              <a:t>𝑇</a:t>
            </a:r>
          </a:p>
          <a:p xmlns:a="http://schemas.openxmlformats.org/drawingml/2006/main">
            <a:r>
              <a:t> is a real per-unit trade cost. Home removes it on Partner’s goods; it remains on RoW goods.</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F</a:t>
            </a:r>
          </a:p>
          <a:p xmlns:a="http://schemas.openxmlformats.org/drawingml/2006/main">
            <a:r>
              <a:t>A</a:t>
            </a:r>
          </a:p>
          <a:p xmlns:a="http://schemas.openxmlformats.org/drawingml/2006/main">
            <a:r>
              <a:t/>
            </a:r>
          </a:p>
          <a:p xmlns:a="http://schemas.openxmlformats.org/drawingml/2006/main">
            <a:r>
              <a:t>Home gains </a:t>
            </a:r>
          </a:p>
          <a:p xmlns:a="http://schemas.openxmlformats.org/drawingml/2006/main">
            <a:r>
              <a:t>𝐴</a:t>
            </a:r>
          </a:p>
          <a:p xmlns:a="http://schemas.openxmlformats.org/drawingml/2006/main">
            <a:r>
              <a:t>+</a:t>
            </a:r>
          </a:p>
          <a:p xmlns:a="http://schemas.openxmlformats.org/drawingml/2006/main">
            <a:r>
              <a:t>𝐹</a:t>
            </a:r>
          </a:p>
          <a:p xmlns:a="http://schemas.openxmlformats.org/drawingml/2006/main">
            <a:r>
              <a:t>; 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A real trade cost generates no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a:t>
            </a:r>
          </a:p>
          <a:p xmlns:a="http://schemas.openxmlformats.org/drawingml/2006/main">
            <a:r>
              <a:t/>
            </a:r>
          </a:p>
          <a:p xmlns:a="http://schemas.openxmlformats.org/drawingml/2006/main">
            <a:r>
              <a:t>We have seen that removing non-tariff barriers produces unambiguously positive welfare effects in this framework. This is not the case for tariff barriers.</a:t>
            </a:r>
          </a:p>
          <a:p xmlns:a="http://schemas.openxmlformats.org/drawingml/2006/main">
            <a:r>
              <a:t/>
            </a:r>
          </a:p>
          <a:p xmlns:a="http://schemas.openxmlformats.org/drawingml/2006/main">
            <a:r>
              <a:t>Question</a:t>
            </a:r>
          </a:p>
          <a:p xmlns:a="http://schemas.openxmlformats.org/drawingml/2006/main">
            <a:r>
              <a:t/>
            </a:r>
          </a:p>
          <a:p xmlns:a="http://schemas.openxmlformats.org/drawingml/2006/main">
            <a:r>
              <a:t>Why join a customs union? Would unilateral liberalisation towards the potential Partner be better?</a:t>
            </a:r>
          </a:p>
          <a:p xmlns:a="http://schemas.openxmlformats.org/drawingml/2006/main">
            <a:r>
              <a:t/>
            </a:r>
          </a:p>
          <a:p xmlns:a="http://schemas.openxmlformats.org/drawingml/2006/main">
            <a:r>
              <a:t>Answer</a:t>
            </a:r>
          </a:p>
          <a:p xmlns:a="http://schemas.openxmlformats.org/drawingml/2006/main">
            <a:r>
              <a:t/>
            </a:r>
          </a:p>
          <a:p xmlns:a="http://schemas.openxmlformats.org/drawingml/2006/main">
            <a:r>
              <a:t>Not necessarily: a country would not benefit from Partner’s tariff reduction within the customs union (area 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Empirical evidence</a:t>
            </a:r>
          </a:p>
          <a:p xmlns:a="http://schemas.openxmlformats.org/drawingml/2006/main">
            <a:r>
              <a:t>Findings</a:t>
            </a:r>
          </a:p>
          <a:p xmlns:a="http://schemas.openxmlformats.org/drawingml/2006/main">
            <a:r>
              <a:t/>
            </a:r>
          </a:p>
          <a:p xmlns:a="http://schemas.openxmlformats.org/drawingml/2006/main">
            <a:r>
              <a:t>Trade creation exceeded trade diversion in Europe, but the gains were small (Baldwin and Venables, 1995).</a:t>
            </a:r>
          </a:p>
          <a:p xmlns:a="http://schemas.openxmlformats.org/drawingml/2006/main">
            <a:r>
              <a:t/>
            </a:r>
          </a:p>
          <a:p xmlns:a="http://schemas.openxmlformats.org/drawingml/2006/main">
            <a:r>
              <a:t>Little diversion: much of Europe’s trade was already intra-European.</a:t>
            </a:r>
          </a:p>
          <a:p xmlns:a="http://schemas.openxmlformats.org/drawingml/2006/main">
            <a:r>
              <a:t>Limited creation: initial trade barriers were low.</a:t>
            </a:r>
          </a:p>
          <a:p xmlns:a="http://schemas.openxmlformats.org/drawingml/2006/main">
            <a:r>
              <a:t>The perfect-competition framework has limitations.</a:t>
            </a:r>
          </a:p>
          <a:p xmlns:a="http://schemas.openxmlformats.org/drawingml/2006/main">
            <a:r>
              <a:t>Empirical challenges</a:t>
            </a:r>
          </a:p>
          <a:p xmlns:a="http://schemas.openxmlformats.org/drawingml/2006/main">
            <a:r>
              <a:t>Ex ante: quantifying effects in a theoretical framework is complicated (e.g. Miller et al., 1977).</a:t>
            </a:r>
          </a:p>
          <a:p xmlns:a="http://schemas.openxmlformats.org/drawingml/2006/main">
            <a:r>
              <a:t>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a:t>
            </a:r>
          </a:p>
          <a:p xmlns:a="http://schemas.openxmlformats.org/drawingml/2006/main">
            <a:r>
              <a:t>We will talk about the competition effects of the Single Market Act.</a:t>
            </a:r>
          </a:p>
          <a:p xmlns:a="http://schemas.openxmlformats.org/drawingml/2006/main">
            <a:r>
              <a:t>Tip: revise the theory of the firm under monopoly and oligopoly (Cournot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R., Wyplosz C. (2022), The Economics of European Integration, Chapters 4 and 5</a:t>
            </a:r>
          </a:p>
          <a:p xmlns:a="http://schemas.openxmlformats.org/drawingml/2006/main">
            <a:r>
              <a:t>Further reading</a:t>
            </a:r>
          </a:p>
          <a:p xmlns:a="http://schemas.openxmlformats.org/drawingml/2006/main">
            <a:r>
              <a:t>Baldwin R., Venables A. (1995), Regional Economic Integration, Handbook of International Economics, Chapter 31.</a:t>
            </a:r>
          </a:p>
          <a:p xmlns:a="http://schemas.openxmlformats.org/drawingml/2006/main">
            <a:r>
              <a:t>Lee J.-W., Swagel P. (1997), Trade Barriers and Trade Flows Across Countries and Industries, Review of Economics and Statistics, 79 (3), pp. 372-382.</a:t>
            </a:r>
          </a:p>
          <a:p xmlns:a="http://schemas.openxmlformats.org/drawingml/2006/main">
            <a:r>
              <a:t>Miller M., Spencer J.E. (1977), The Static Economic Effects of the UK Joining the EEC: A General Equilibrium Approach, Review of Economic Studies, 44 (1), 71-93.</a:t>
            </a:r>
          </a:p>
          <a:p xmlns:a="http://schemas.openxmlformats.org/drawingml/2006/main">
            <a:r>
              <a:t>Winters L.A. (1987), Britain in Europe: a Survey of Quantitative Trade Studies, Journal of Common Market Studies, XXV (4), 315-335.</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eb2026561d41a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e3156724f241e7" /><Relationship Type="http://schemas.openxmlformats.org/officeDocument/2006/relationships/slideLayout" Target="/ppt/slideLayouts/slideLayout1.xml" Id="R1c768df96d9a40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768df96d9a40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ec4f408cb154b6e" /><Relationship Type="http://schemas.openxmlformats.org/officeDocument/2006/relationships/image" Target="/ppt/media/image.jpeg" Id="Rbeb1ac85b9054fbc" /><Relationship Type="http://schemas.openxmlformats.org/officeDocument/2006/relationships/notesSlide" Target="/ppt/notesSlides/notesSlide1.xml" Id="Rc20e7d40ffc04c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a4a3eac1cbe4725" /><Relationship Type="http://schemas.openxmlformats.org/officeDocument/2006/relationships/image" Target="/ppt/media/image2.jpeg" Id="Re8e87db94439408c" /><Relationship Type="http://schemas.openxmlformats.org/officeDocument/2006/relationships/notesSlide" Target="/ppt/notesSlides/notesSlide2.xml" Id="R195557701132476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f5a8a256fc743ba" /><Relationship Type="http://schemas.openxmlformats.org/officeDocument/2006/relationships/image" Target="/ppt/media/image3.jpeg" Id="R65370a4457294209" /><Relationship Type="http://schemas.openxmlformats.org/officeDocument/2006/relationships/notesSlide" Target="/ppt/notesSlides/notesSlide3.xml" Id="R03b6c51206a34e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9f933745d954bc6" /><Relationship Type="http://schemas.openxmlformats.org/officeDocument/2006/relationships/image" Target="/ppt/media/image.png" Id="R3c918a188e364ca6" /><Relationship Type="http://schemas.openxmlformats.org/officeDocument/2006/relationships/notesSlide" Target="/ppt/notesSlides/notesSlide4.xml" Id="R115ab4a2743349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322ac2ffedb4ffc" /><Relationship Type="http://schemas.openxmlformats.org/officeDocument/2006/relationships/image" Target="/ppt/media/image4.jpeg" Id="Rdd229a337298422b" /><Relationship Type="http://schemas.openxmlformats.org/officeDocument/2006/relationships/notesSlide" Target="/ppt/notesSlides/notesSlide5.xml" Id="R95dba1707fd240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e3d4b45dfd04a4f" /><Relationship Type="http://schemas.openxmlformats.org/officeDocument/2006/relationships/image" Target="/ppt/media/image5.jpeg" Id="Ra8f116b3889048d6" /><Relationship Type="http://schemas.openxmlformats.org/officeDocument/2006/relationships/notesSlide" Target="/ppt/notesSlides/notesSlide6.xml" Id="Ra5c68cc1c71246a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870c35fb2fa4d0e" /><Relationship Type="http://schemas.openxmlformats.org/officeDocument/2006/relationships/image" Target="/ppt/media/image6.jpeg" Id="R94359ad751974771" /><Relationship Type="http://schemas.openxmlformats.org/officeDocument/2006/relationships/notesSlide" Target="/ppt/notesSlides/notesSlide7.xml" Id="R16f70c41bd134f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a38d4419c0441af" /><Relationship Type="http://schemas.openxmlformats.org/officeDocument/2006/relationships/image" Target="/ppt/media/image7.jpeg" Id="R2181468915fa47c0" /><Relationship Type="http://schemas.openxmlformats.org/officeDocument/2006/relationships/notesSlide" Target="/ppt/notesSlides/notesSlide8.xml" Id="R9aea4fb345064c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ace48d888b14b78" /><Relationship Type="http://schemas.openxmlformats.org/officeDocument/2006/relationships/image" Target="/ppt/media/image8.jpeg" Id="R19aebbaf4d914af6" /><Relationship Type="http://schemas.openxmlformats.org/officeDocument/2006/relationships/notesSlide" Target="/ppt/notesSlides/notesSlide9.xml" Id="Rc6b339503c8e45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28b575aa1c54e7b" /><Relationship Type="http://schemas.openxmlformats.org/officeDocument/2006/relationships/image" Target="/ppt/media/image9.jpeg" Id="R6bc6a9558eaf4edb" /><Relationship Type="http://schemas.openxmlformats.org/officeDocument/2006/relationships/notesSlide" Target="/ppt/notesSlides/notesSlide10.xml" Id="Rfc7ba4f293f6427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2b05a3dcb4844b3" /><Relationship Type="http://schemas.openxmlformats.org/officeDocument/2006/relationships/image" Target="/ppt/media/image10.jpeg" Id="Ra1b60da98a2240f2" /><Relationship Type="http://schemas.openxmlformats.org/officeDocument/2006/relationships/notesSlide" Target="/ppt/notesSlides/notesSlide11.xml" Id="Rc833f2a255da4f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d924c5b71704619" /><Relationship Type="http://schemas.openxmlformats.org/officeDocument/2006/relationships/image" Target="/ppt/media/image11.jpeg" Id="Rc512a8a420234aa3" /><Relationship Type="http://schemas.openxmlformats.org/officeDocument/2006/relationships/notesSlide" Target="/ppt/notesSlides/notesSlide12.xml" Id="R5093d48e412747e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125cf7abdcf4274" /><Relationship Type="http://schemas.openxmlformats.org/officeDocument/2006/relationships/image" Target="/ppt/media/image12.jpeg" Id="Ra50f1a16803c409a" /><Relationship Type="http://schemas.openxmlformats.org/officeDocument/2006/relationships/notesSlide" Target="/ppt/notesSlides/notesSlide13.xml" Id="R9483ae3029c644d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5434723943a45aa" /><Relationship Type="http://schemas.openxmlformats.org/officeDocument/2006/relationships/image" Target="/ppt/media/image13.jpeg" Id="R83035f887c604508" /><Relationship Type="http://schemas.openxmlformats.org/officeDocument/2006/relationships/notesSlide" Target="/ppt/notesSlides/notesSlide14.xml" Id="Rbb1a8a87532447f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52e7473aad84cc9" /><Relationship Type="http://schemas.openxmlformats.org/officeDocument/2006/relationships/image" Target="/ppt/media/image14.jpeg" Id="R20a6425c194f4549" /><Relationship Type="http://schemas.openxmlformats.org/officeDocument/2006/relationships/notesSlide" Target="/ppt/notesSlides/notesSlide15.xml" Id="Rf2129e4d539d4d4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6530b047a124ce5" /><Relationship Type="http://schemas.openxmlformats.org/officeDocument/2006/relationships/image" Target="/ppt/media/image15.jpeg" Id="R147778397e974468" /><Relationship Type="http://schemas.openxmlformats.org/officeDocument/2006/relationships/notesSlide" Target="/ppt/notesSlides/notesSlide16.xml" Id="R37f14738f8c5411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7741a75df954ff5" /><Relationship Type="http://schemas.openxmlformats.org/officeDocument/2006/relationships/image" Target="/ppt/media/image16.jpeg" Id="Ra139193843d645c4" /><Relationship Type="http://schemas.openxmlformats.org/officeDocument/2006/relationships/notesSlide" Target="/ppt/notesSlides/notesSlide17.xml" Id="R344a4a57aff14e6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cfe3829366f4ee0" /><Relationship Type="http://schemas.openxmlformats.org/officeDocument/2006/relationships/image" Target="/ppt/media/image17.jpeg" Id="R023024f4173148b7" /><Relationship Type="http://schemas.openxmlformats.org/officeDocument/2006/relationships/notesSlide" Target="/ppt/notesSlides/notesSlide18.xml" Id="Rd7ef754995e84e7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e84d543318143ce" /><Relationship Type="http://schemas.openxmlformats.org/officeDocument/2006/relationships/image" Target="/ppt/media/image18.jpeg" Id="R1f8e943f2d7e47ef" /><Relationship Type="http://schemas.openxmlformats.org/officeDocument/2006/relationships/notesSlide" Target="/ppt/notesSlides/notesSlide19.xml" Id="Rec03e2a1467d4e3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140f963252446c9" /><Relationship Type="http://schemas.openxmlformats.org/officeDocument/2006/relationships/image" Target="/ppt/media/image19.jpeg" Id="R6ff66f04cdfa41a9" /><Relationship Type="http://schemas.openxmlformats.org/officeDocument/2006/relationships/notesSlide" Target="/ppt/notesSlides/notesSlide20.xml" Id="R76cd263e9ffe4b4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9511df6db7e471a" /><Relationship Type="http://schemas.openxmlformats.org/officeDocument/2006/relationships/image" Target="/ppt/media/image20.jpeg" Id="R7b379c17d8364d6a" /><Relationship Type="http://schemas.openxmlformats.org/officeDocument/2006/relationships/notesSlide" Target="/ppt/notesSlides/notesSlide21.xml" Id="Rbc4facb83da14e6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39c909cdc664ad6" /><Relationship Type="http://schemas.openxmlformats.org/officeDocument/2006/relationships/image" Target="/ppt/media/image21.jpeg" Id="Recb6344e4adc4b58" /><Relationship Type="http://schemas.openxmlformats.org/officeDocument/2006/relationships/notesSlide" Target="/ppt/notesSlides/notesSlide22.xml" Id="R9d5f12c3e9ad43c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ccf0e9e899b4043" /><Relationship Type="http://schemas.openxmlformats.org/officeDocument/2006/relationships/image" Target="/ppt/media/image22.jpeg" Id="R6e7ebb5ecec84462" /><Relationship Type="http://schemas.openxmlformats.org/officeDocument/2006/relationships/notesSlide" Target="/ppt/notesSlides/notesSlide23.xml" Id="Rcbcfa9a4e9db482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945d1bf5cd749a5" /><Relationship Type="http://schemas.openxmlformats.org/officeDocument/2006/relationships/image" Target="/ppt/media/image23.jpeg" Id="R678847ec28624464" /><Relationship Type="http://schemas.openxmlformats.org/officeDocument/2006/relationships/notesSlide" Target="/ppt/notesSlides/notesSlide24.xml" Id="Rdf99f09a344d471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6b438d18c024ca7" /><Relationship Type="http://schemas.openxmlformats.org/officeDocument/2006/relationships/image" Target="/ppt/media/image24.jpeg" Id="R653773e800764e23" /><Relationship Type="http://schemas.openxmlformats.org/officeDocument/2006/relationships/notesSlide" Target="/ppt/notesSlides/notesSlide25.xml" Id="R6eb4653d8639423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657b9c8a4dd4de3" /><Relationship Type="http://schemas.openxmlformats.org/officeDocument/2006/relationships/image" Target="/ppt/media/image25.jpeg" Id="R998dfca568734ce7" /><Relationship Type="http://schemas.openxmlformats.org/officeDocument/2006/relationships/notesSlide" Target="/ppt/notesSlides/notesSlide26.xml" Id="Re7acff56505b4bc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eb1ac85b9054fb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016871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8e87db9443940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8277528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5370a445729420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0998208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c918a188e364ca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9332492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d229a337298422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2692023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8f116b3889048d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3253629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4359ad75197477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1161643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181468915fa47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6860260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aebbaf4d914af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9437687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bc6a9558eaf4ed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1928680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1b60da98a2240f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0204441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512a8a420234aa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4771213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50f1a16803c409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7468158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3035f887c60450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6716354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0a6425c194f45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27289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47778397e97446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6993353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139193843d645c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6583201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23024f4173148b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7057575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f8e943f2d7e47e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142333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ff66f04cdfa41a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0216718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b379c17d8364d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7872768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cb6344e4adc4b5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48519043"/>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e7ebb5ecec8446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8028618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78847ec2862446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3944190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53773e800764e2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3328642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98dfca568734ce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91474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2026-10-06T10:57:25.4930000Z</dcterms:created>
  <dcterms:modified xsi:type="dcterms:W3CDTF">2026-10-06T10:57:25.4930000Z</dcterms:modified>
</coreProperties>
</file>