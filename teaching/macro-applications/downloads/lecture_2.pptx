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0e95d54a324107" /><Relationship Type="http://schemas.openxmlformats.org/officeDocument/2006/relationships/extended-properties" Target="/docProps/app.xml" Id="R0d80d96745d440c0" /><Relationship Type="http://schemas.openxmlformats.org/officeDocument/2006/relationships/officeDocument" Target="/ppt/presentation.xml" Id="Rfb0dcc249f3b4da2" /></Relationships>
</file>

<file path=ppt/presentation.xml><?xml version="1.0" encoding="utf-8"?>
<p:presentation xmlns:p="http://schemas.openxmlformats.org/presentationml/2006/main">
  <p:sldMasterIdLst>
    <p:sldMasterId xmlns:r="http://schemas.openxmlformats.org/officeDocument/2006/relationships" id="2147483648" r:id="R0c91fc066e934e63"/>
  </p:sldMasterIdLst>
  <p:notesMasterIdLst>
    <p:notesMasterId xmlns:r="http://schemas.openxmlformats.org/officeDocument/2006/relationships" r:id="R28b3303559274e0a"/>
  </p:notesMasterIdLst>
  <p:sldIdLst>
    <p:sldId xmlns:r="http://schemas.openxmlformats.org/officeDocument/2006/relationships" id="256" r:id="Ra097c7dc863b4890"/>
    <p:sldId xmlns:r="http://schemas.openxmlformats.org/officeDocument/2006/relationships" id="257" r:id="R0fc6849f23de4cb2"/>
    <p:sldId xmlns:r="http://schemas.openxmlformats.org/officeDocument/2006/relationships" id="258" r:id="Rd918a629d3684b46"/>
    <p:sldId xmlns:r="http://schemas.openxmlformats.org/officeDocument/2006/relationships" id="259" r:id="R873a2f2f32f34fa6"/>
    <p:sldId xmlns:r="http://schemas.openxmlformats.org/officeDocument/2006/relationships" id="260" r:id="R427fa4df19c44ea6"/>
    <p:sldId xmlns:r="http://schemas.openxmlformats.org/officeDocument/2006/relationships" id="261" r:id="Rcce5ff6eda984dd7"/>
    <p:sldId xmlns:r="http://schemas.openxmlformats.org/officeDocument/2006/relationships" id="262" r:id="Rce0321eaf6924b17"/>
    <p:sldId xmlns:r="http://schemas.openxmlformats.org/officeDocument/2006/relationships" id="263" r:id="Rd288be402bd447c7"/>
    <p:sldId xmlns:r="http://schemas.openxmlformats.org/officeDocument/2006/relationships" id="264" r:id="R227789cbe52443bc"/>
    <p:sldId xmlns:r="http://schemas.openxmlformats.org/officeDocument/2006/relationships" id="265" r:id="Rf674bad8cb2a4f64"/>
    <p:sldId xmlns:r="http://schemas.openxmlformats.org/officeDocument/2006/relationships" id="266" r:id="Rf4ca357bc97d45dc"/>
    <p:sldId xmlns:r="http://schemas.openxmlformats.org/officeDocument/2006/relationships" id="267" r:id="R3b02038fdd1b459c"/>
    <p:sldId xmlns:r="http://schemas.openxmlformats.org/officeDocument/2006/relationships" id="268" r:id="R9ea556f551d64f42"/>
    <p:sldId xmlns:r="http://schemas.openxmlformats.org/officeDocument/2006/relationships" id="269" r:id="Ra4c415a7d0984229"/>
    <p:sldId xmlns:r="http://schemas.openxmlformats.org/officeDocument/2006/relationships" id="270" r:id="R4018076285354e1c"/>
    <p:sldId xmlns:r="http://schemas.openxmlformats.org/officeDocument/2006/relationships" id="271" r:id="Rf014b352fe2346c9"/>
    <p:sldId xmlns:r="http://schemas.openxmlformats.org/officeDocument/2006/relationships" id="272" r:id="Ra85213239a96467b"/>
    <p:sldId xmlns:r="http://schemas.openxmlformats.org/officeDocument/2006/relationships" id="273" r:id="R5aca6b0d066f4779"/>
    <p:sldId xmlns:r="http://schemas.openxmlformats.org/officeDocument/2006/relationships" id="274" r:id="Ra17973bc242c4ebf"/>
    <p:sldId xmlns:r="http://schemas.openxmlformats.org/officeDocument/2006/relationships" id="275" r:id="Ra596e09fa0ec47f3"/>
    <p:sldId xmlns:r="http://schemas.openxmlformats.org/officeDocument/2006/relationships" id="276" r:id="R1afe9fda46af4650"/>
    <p:sldId xmlns:r="http://schemas.openxmlformats.org/officeDocument/2006/relationships" id="277" r:id="R1704d5815fb94e54"/>
    <p:sldId xmlns:r="http://schemas.openxmlformats.org/officeDocument/2006/relationships" id="278" r:id="Rab2541c7086249fd"/>
    <p:sldId xmlns:r="http://schemas.openxmlformats.org/officeDocument/2006/relationships" id="279" r:id="Rdb44327b48e64bfe"/>
    <p:sldId xmlns:r="http://schemas.openxmlformats.org/officeDocument/2006/relationships" id="280" r:id="Rcdf80ffd808b4d2e"/>
    <p:sldId xmlns:r="http://schemas.openxmlformats.org/officeDocument/2006/relationships" id="281" r:id="R777d67073efb44d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0dd544f43524a97" /><Relationship Type="http://schemas.openxmlformats.org/officeDocument/2006/relationships/slideMaster" Target="/ppt/slideMasters/slideMaster1.xml" Id="R0c91fc066e934e63" /><Relationship Type="http://schemas.openxmlformats.org/officeDocument/2006/relationships/notesMaster" Target="/ppt/notesMasters/notesMaster1.xml" Id="R28b3303559274e0a" /><Relationship Type="http://schemas.openxmlformats.org/officeDocument/2006/relationships/presProps" Target="/ppt/presProps.xml" Id="R6d28c121949044a1" /><Relationship Type="http://schemas.openxmlformats.org/officeDocument/2006/relationships/tableStyles" Target="/ppt/tableStyles.xml" Id="Rf2e3feca7a5b4815" /><Relationship Type="http://schemas.openxmlformats.org/officeDocument/2006/relationships/slide" Target="/ppt/slides/slide1.xml" Id="Ra097c7dc863b4890" /><Relationship Type="http://schemas.openxmlformats.org/officeDocument/2006/relationships/slide" Target="/ppt/slides/slide2.xml" Id="R0fc6849f23de4cb2" /><Relationship Type="http://schemas.openxmlformats.org/officeDocument/2006/relationships/slide" Target="/ppt/slides/slide3.xml" Id="Rd918a629d3684b46" /><Relationship Type="http://schemas.openxmlformats.org/officeDocument/2006/relationships/slide" Target="/ppt/slides/slide4.xml" Id="R873a2f2f32f34fa6" /><Relationship Type="http://schemas.openxmlformats.org/officeDocument/2006/relationships/slide" Target="/ppt/slides/slide5.xml" Id="R427fa4df19c44ea6" /><Relationship Type="http://schemas.openxmlformats.org/officeDocument/2006/relationships/slide" Target="/ppt/slides/slide6.xml" Id="Rcce5ff6eda984dd7" /><Relationship Type="http://schemas.openxmlformats.org/officeDocument/2006/relationships/slide" Target="/ppt/slides/slide7.xml" Id="Rce0321eaf6924b17" /><Relationship Type="http://schemas.openxmlformats.org/officeDocument/2006/relationships/slide" Target="/ppt/slides/slide8.xml" Id="Rd288be402bd447c7" /><Relationship Type="http://schemas.openxmlformats.org/officeDocument/2006/relationships/slide" Target="/ppt/slides/slide9.xml" Id="R227789cbe52443bc" /><Relationship Type="http://schemas.openxmlformats.org/officeDocument/2006/relationships/slide" Target="/ppt/slides/slide10.xml" Id="Rf674bad8cb2a4f64" /><Relationship Type="http://schemas.openxmlformats.org/officeDocument/2006/relationships/slide" Target="/ppt/slides/slide11.xml" Id="Rf4ca357bc97d45dc" /><Relationship Type="http://schemas.openxmlformats.org/officeDocument/2006/relationships/slide" Target="/ppt/slides/slide12.xml" Id="R3b02038fdd1b459c" /><Relationship Type="http://schemas.openxmlformats.org/officeDocument/2006/relationships/slide" Target="/ppt/slides/slide13.xml" Id="R9ea556f551d64f42" /><Relationship Type="http://schemas.openxmlformats.org/officeDocument/2006/relationships/slide" Target="/ppt/slides/slide14.xml" Id="Ra4c415a7d0984229" /><Relationship Type="http://schemas.openxmlformats.org/officeDocument/2006/relationships/slide" Target="/ppt/slides/slide15.xml" Id="R4018076285354e1c" /><Relationship Type="http://schemas.openxmlformats.org/officeDocument/2006/relationships/slide" Target="/ppt/slides/slide16.xml" Id="Rf014b352fe2346c9" /><Relationship Type="http://schemas.openxmlformats.org/officeDocument/2006/relationships/slide" Target="/ppt/slides/slide17.xml" Id="Ra85213239a96467b" /><Relationship Type="http://schemas.openxmlformats.org/officeDocument/2006/relationships/slide" Target="/ppt/slides/slide18.xml" Id="R5aca6b0d066f4779" /><Relationship Type="http://schemas.openxmlformats.org/officeDocument/2006/relationships/slide" Target="/ppt/slides/slide19.xml" Id="Ra17973bc242c4ebf" /><Relationship Type="http://schemas.openxmlformats.org/officeDocument/2006/relationships/slide" Target="/ppt/slides/slide20.xml" Id="Ra596e09fa0ec47f3" /><Relationship Type="http://schemas.openxmlformats.org/officeDocument/2006/relationships/slide" Target="/ppt/slides/slide21.xml" Id="R1afe9fda46af4650" /><Relationship Type="http://schemas.openxmlformats.org/officeDocument/2006/relationships/slide" Target="/ppt/slides/slide22.xml" Id="R1704d5815fb94e54" /><Relationship Type="http://schemas.openxmlformats.org/officeDocument/2006/relationships/slide" Target="/ppt/slides/slide23.xml" Id="Rab2541c7086249fd" /><Relationship Type="http://schemas.openxmlformats.org/officeDocument/2006/relationships/slide" Target="/ppt/slides/slide24.xml" Id="Rdb44327b48e64bfe" /><Relationship Type="http://schemas.openxmlformats.org/officeDocument/2006/relationships/slide" Target="/ppt/slides/slide25.xml" Id="Rcdf80ffd808b4d2e" /><Relationship Type="http://schemas.openxmlformats.org/officeDocument/2006/relationships/slide" Target="/ppt/slides/slide26.xml" Id="R777d67073efb44d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774003087b43d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3762d7c1cb4bd0" /><Relationship Type="http://schemas.openxmlformats.org/officeDocument/2006/relationships/notesMaster" Target="/ppt/notesMasters/notesMaster1.xml" Id="R869c7545756445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ceade9d7a3476b" /><Relationship Type="http://schemas.openxmlformats.org/officeDocument/2006/relationships/notesMaster" Target="/ppt/notesMasters/notesMaster1.xml" Id="R94c56b569be6499f" /></Relationships>
</file>

<file path=ppt/notesSlides/_rels/notesSlide3.xml.rels>&#65279;<?xml version="1.0" encoding="utf-8"?><Relationships xmlns="http://schemas.openxmlformats.org/package/2006/relationships"><Relationship Type="http://schemas.openxmlformats.org/officeDocument/2006/relationships/slide" Target="/ppt/slides/slide3.xml" Id="R14753d6744514791" /><Relationship Type="http://schemas.openxmlformats.org/officeDocument/2006/relationships/notesMaster" Target="/ppt/notesMasters/notesMaster1.xml" Id="Radc85cb5cfd649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97424198d94bcf" /><Relationship Type="http://schemas.openxmlformats.org/officeDocument/2006/relationships/notesMaster" Target="/ppt/notesMasters/notesMaster1.xml" Id="Refbf615ca8654403"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191dcf7e5b40be" /><Relationship Type="http://schemas.openxmlformats.org/officeDocument/2006/relationships/notesMaster" Target="/ppt/notesMasters/notesMaster1.xml" Id="Rc31ed56ae6d346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99484e18a14dd2" /><Relationship Type="http://schemas.openxmlformats.org/officeDocument/2006/relationships/notesMaster" Target="/ppt/notesMasters/notesMaster1.xml" Id="R4328de90e10d48a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5bccd41ccfb421e" /><Relationship Type="http://schemas.openxmlformats.org/officeDocument/2006/relationships/notesMaster" Target="/ppt/notesMasters/notesMaster1.xml" Id="R98476e3921a6402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279544a4f19498e" /><Relationship Type="http://schemas.openxmlformats.org/officeDocument/2006/relationships/notesMaster" Target="/ppt/notesMasters/notesMaster1.xml" Id="Rcab3014bb85f45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5f6ffbaec5fa4a25" /><Relationship Type="http://schemas.openxmlformats.org/officeDocument/2006/relationships/notesMaster" Target="/ppt/notesMasters/notesMaster1.xml" Id="R28850b2e33ae4e2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80bc620f84448b" /><Relationship Type="http://schemas.openxmlformats.org/officeDocument/2006/relationships/notesMaster" Target="/ppt/notesMasters/notesMaster1.xml" Id="Rd8f75a99ae4641f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e5fdf3eb9974ec3" /><Relationship Type="http://schemas.openxmlformats.org/officeDocument/2006/relationships/notesMaster" Target="/ppt/notesMasters/notesMaster1.xml" Id="R11261dcdb617493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74afd281cc4b56" /><Relationship Type="http://schemas.openxmlformats.org/officeDocument/2006/relationships/notesMaster" Target="/ppt/notesMasters/notesMaster1.xml" Id="Ra6e79b38cf7640e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a9b8bd3a05c43d7" /><Relationship Type="http://schemas.openxmlformats.org/officeDocument/2006/relationships/notesMaster" Target="/ppt/notesMasters/notesMaster1.xml" Id="R9934d7c6befe455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2f1319a35c64622" /><Relationship Type="http://schemas.openxmlformats.org/officeDocument/2006/relationships/notesMaster" Target="/ppt/notesMasters/notesMaster1.xml" Id="R316eea462c56497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91e96928886470f" /><Relationship Type="http://schemas.openxmlformats.org/officeDocument/2006/relationships/notesMaster" Target="/ppt/notesMasters/notesMaster1.xml" Id="R5fd57dd248c04a9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4eb4d91c47d45d0" /><Relationship Type="http://schemas.openxmlformats.org/officeDocument/2006/relationships/notesMaster" Target="/ppt/notesMasters/notesMaster1.xml" Id="Ra58f6c9651354f7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9382494590847b4" /><Relationship Type="http://schemas.openxmlformats.org/officeDocument/2006/relationships/notesMaster" Target="/ppt/notesMasters/notesMaster1.xml" Id="Rd069f32e5b0c438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09e33864756478d" /><Relationship Type="http://schemas.openxmlformats.org/officeDocument/2006/relationships/notesMaster" Target="/ppt/notesMasters/notesMaster1.xml" Id="R5e5b5ec6dd4c4e3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62da2ed31bf4859" /><Relationship Type="http://schemas.openxmlformats.org/officeDocument/2006/relationships/notesMaster" Target="/ppt/notesMasters/notesMaster1.xml" Id="Rfff670778d55470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8b3d3f6de564958" /><Relationship Type="http://schemas.openxmlformats.org/officeDocument/2006/relationships/notesMaster" Target="/ppt/notesMasters/notesMaster1.xml" Id="R77cce79f959b4f3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185289284524008" /><Relationship Type="http://schemas.openxmlformats.org/officeDocument/2006/relationships/notesMaster" Target="/ppt/notesMasters/notesMaster1.xml" Id="Rcd176fc50a2d477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d46036b869a47d0" /><Relationship Type="http://schemas.openxmlformats.org/officeDocument/2006/relationships/notesMaster" Target="/ppt/notesMasters/notesMaster1.xml" Id="Rd9242bb83f0e419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89ebd739a4143b8" /><Relationship Type="http://schemas.openxmlformats.org/officeDocument/2006/relationships/notesMaster" Target="/ppt/notesMasters/notesMaster1.xml" Id="R2ccfffa49c174c5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5e0f57695374a3e" /><Relationship Type="http://schemas.openxmlformats.org/officeDocument/2006/relationships/notesMaster" Target="/ppt/notesMasters/notesMaster1.xml" Id="R3a60c251deb542c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fbd3ee1a67f4b74" /><Relationship Type="http://schemas.openxmlformats.org/officeDocument/2006/relationships/notesMaster" Target="/ppt/notesMasters/notesMaster1.xml" Id="R119460f54ea6402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c06b22d720f4f23" /><Relationship Type="http://schemas.openxmlformats.org/officeDocument/2006/relationships/notesMaster" Target="/ppt/notesMasters/notesMaster1.xml" Id="Rbb0c90f91ecf46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https://davidchivers.co.uk/teaching/macro-applications/lecture_2.html#/title-slide</a:t>
            </a:r>
          </a:p>
          <a:p xmlns:a="http://schemas.openxmlformats.org/drawingml/2006/main">
            <a:r>
              <a:t/>
            </a:r>
          </a:p>
          <a:p xmlns:a="http://schemas.openxmlformats.org/drawingml/2006/main">
            <a:r>
              <a:t>The Economics of Brexit</a:t>
            </a:r>
          </a:p>
          <a:p xmlns:a="http://schemas.openxmlformats.org/drawingml/2006/main">
            <a:r>
              <a:t/>
            </a:r>
          </a:p>
          <a:p xmlns:a="http://schemas.openxmlformats.org/drawingml/2006/main">
            <a:r>
              <a:t>Lecture 2: Customs unions</a:t>
            </a:r>
          </a:p>
          <a:p xmlns:a="http://schemas.openxmlformats.org/drawingml/2006/main">
            <a:r>
              <a:t/>
            </a:r>
          </a:p>
          <a:p xmlns:a="http://schemas.openxmlformats.org/drawingml/2006/main">
            <a:r>
              <a:t>Dr David Chivers</a:t>
            </a:r>
          </a:p>
          <a:p xmlns:a="http://schemas.openxmlformats.org/drawingml/2006/main">
            <a:r>
              <a:t/>
            </a:r>
          </a:p>
          <a:p xmlns:a="http://schemas.openxmlformats.org/drawingml/2006/main">
            <a:r>
              <a:t>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https://davidchivers.co.uk/teaching/macro-applications/lecture_2.html#/l2-s02</a:t>
            </a:r>
          </a:p>
          <a:p xmlns:a="http://schemas.openxmlformats.org/drawingml/2006/main">
            <a:r>
              <a:t/>
            </a:r>
          </a:p>
          <a:p xmlns:a="http://schemas.openxmlformats.org/drawingml/2006/main">
            <a:r>
              <a:t>Context</a:t>
            </a:r>
          </a:p>
          <a:p xmlns:a="http://schemas.openxmlformats.org/drawingml/2006/main">
            <a:r>
              <a:t>One of the main goals of the Treaty of Rome was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https://davidchivers.co.uk/teaching/macro-applications/lecture_2.html#/l2-s03</a:t>
            </a:r>
          </a:p>
          <a:p xmlns:a="http://schemas.openxmlformats.org/drawingml/2006/main">
            <a:r>
              <a:t/>
            </a:r>
          </a:p>
          <a:p xmlns:a="http://schemas.openxmlformats.org/drawingml/2006/main">
            <a:r>
              <a:t>Learning objectives</a:t>
            </a:r>
          </a:p>
          <a:p xmlns:a="http://schemas.openxmlformats.org/drawingml/2006/main">
            <a:r>
              <a:t/>
            </a:r>
          </a:p>
          <a:p xmlns:a="http://schemas.openxmlformats.org/drawingml/2006/main">
            <a:r>
              <a:t>After this lecture, you will be able to:</a:t>
            </a:r>
          </a:p>
          <a:p xmlns:a="http://schemas.openxmlformats.org/drawingml/2006/main">
            <a:r>
              <a:t/>
            </a:r>
          </a:p>
          <a:p xmlns:a="http://schemas.openxmlformats.org/drawingml/2006/main">
            <a:r>
              <a:t>Analyse the welfare effects of joining a customs union:</a:t>
            </a:r>
          </a:p>
          <a:p xmlns:a="http://schemas.openxmlformats.org/drawingml/2006/main">
            <a:r>
              <a:t>Removal of tariff barriers and establishment of a common external tariff (1958–1968).</a:t>
            </a:r>
          </a:p>
          <a:p xmlns:a="http://schemas.openxmlformats.org/drawingml/2006/main">
            <a:r>
              <a:t>Removal of non-tariff barriers (1986–1992).</a:t>
            </a:r>
          </a:p>
          <a:p xmlns:a="http://schemas.openxmlformats.org/drawingml/2006/main">
            <a:r>
              <a:t>Understand the economic incentives to join a preferential trade agreement.</a:t>
            </a:r>
          </a:p>
          <a:p xmlns:a="http://schemas.openxmlformats.org/drawingml/2006/main">
            <a:r>
              <a:t>Discuss evidence on the welfare impact of customs unions.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https://davidchivers.co.uk/teaching/macro-applications/lecture_2.html#/l2-s04</a:t>
            </a:r>
          </a:p>
          <a:p xmlns:a="http://schemas.openxmlformats.org/drawingml/2006/main">
            <a:r>
              <a:t/>
            </a:r>
          </a:p>
          <a:p xmlns:a="http://schemas.openxmlformats.org/drawingml/2006/main">
            <a:r>
              <a:t>Customs unions</a:t>
            </a:r>
          </a:p>
          <a:p xmlns:a="http://schemas.openxmlformats.org/drawingml/2006/main">
            <a:r>
              <a:t/>
            </a:r>
          </a:p>
          <a:p xmlns:a="http://schemas.openxmlformats.org/drawingml/2006/main">
            <a:r>
              <a:t>World map of customs unions in the original lecture, including the EU, EAEU, MERCOSUR and regional African and Central American groupings. This is a historical map, not a current membership list.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https://davidchivers.co.uk/teaching/macro-applications/lecture_2.html#/l2-s05</a:t>
            </a:r>
          </a:p>
          <a:p xmlns:a="http://schemas.openxmlformats.org/drawingml/2006/main">
            <a:r>
              <a:t/>
            </a:r>
          </a:p>
          <a:p xmlns:a="http://schemas.openxmlformats.org/drawingml/2006/main">
            <a:r>
              <a:t>Tariff removal: who benefits?</a:t>
            </a:r>
          </a:p>
          <a:p xmlns:a="http://schemas.openxmlformats.org/drawingml/2006/main">
            <a:r>
              <a:t/>
            </a:r>
          </a:p>
          <a:p xmlns:a="http://schemas.openxmlformats.org/drawingml/2006/main">
            <a:r>
              <a:t>Is the removal of tariff barriers beneficial for all countries involved?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https://davidchivers.co.uk/teaching/macro-applications/lecture_2.html#/l2-s06</a:t>
            </a:r>
          </a:p>
          <a:p xmlns:a="http://schemas.openxmlformats.org/drawingml/2006/main">
            <a:r>
              <a:t/>
            </a:r>
          </a:p>
          <a:p xmlns:a="http://schemas.openxmlformats.org/drawingml/2006/main">
            <a:r>
              <a:t>Framework</a:t>
            </a:r>
          </a:p>
          <a:p xmlns:a="http://schemas.openxmlformats.org/drawingml/2006/main">
            <a:r>
              <a:t>Perfect competition</a:t>
            </a:r>
          </a:p>
          <a:p xmlns:a="http://schemas.openxmlformats.org/drawingml/2006/main">
            <a:r>
              <a:t>Full employment</a:t>
            </a:r>
          </a:p>
          <a:p xmlns:a="http://schemas.openxmlformats.org/drawingml/2006/main">
            <a:r>
              <a:t>No transport costs</a:t>
            </a:r>
          </a:p>
          <a:p xmlns:a="http://schemas.openxmlformats.org/drawingml/2006/main">
            <a:r>
              <a:t>Perfect factor mobility (capital and labour)</a:t>
            </a:r>
          </a:p>
          <a:p xmlns:a="http://schemas.openxmlformats.org/drawingml/2006/main">
            <a:r>
              <a:t>Firms optimise (P=MR=MC)</a:t>
            </a:r>
          </a:p>
          <a:p xmlns:a="http://schemas.openxmlformats.org/drawingml/2006/main">
            <a:r>
              <a:t>Consumers optimise (P=MU)</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https://davidchivers.co.uk/teaching/macro-applications/lecture_2.html#/l2-s07</a:t>
            </a:r>
          </a:p>
          <a:p xmlns:a="http://schemas.openxmlformats.org/drawingml/2006/main">
            <a:r>
              <a:t/>
            </a:r>
          </a:p>
          <a:p xmlns:a="http://schemas.openxmlformats.org/drawingml/2006/main">
            <a:r>
              <a:t>Customs union</a:t>
            </a:r>
          </a:p>
          <a:p xmlns:a="http://schemas.openxmlformats.org/drawingml/2006/main">
            <a:r>
              <a:t>A simple, symmetric framework</a:t>
            </a:r>
          </a:p>
          <a:p xmlns:a="http://schemas.openxmlformats.org/drawingml/2006/main">
            <a:r>
              <a:t>Good 1</a:t>
            </a:r>
          </a:p>
          <a:p xmlns:a="http://schemas.openxmlformats.org/drawingml/2006/main">
            <a:r>
              <a:t>Good 1</a:t>
            </a:r>
          </a:p>
          <a:p xmlns:a="http://schemas.openxmlformats.org/drawingml/2006/main">
            <a:r>
              <a:t>Good 2</a:t>
            </a:r>
          </a:p>
          <a:p xmlns:a="http://schemas.openxmlformats.org/drawingml/2006/main">
            <a:r>
              <a:t>Good 2</a:t>
            </a:r>
          </a:p>
          <a:p xmlns:a="http://schemas.openxmlformats.org/drawingml/2006/main">
            <a:r>
              <a:t>Good 3</a:t>
            </a:r>
          </a:p>
          <a:p xmlns:a="http://schemas.openxmlformats.org/drawingml/2006/main">
            <a:r>
              <a:t>Good 3</a:t>
            </a:r>
          </a:p>
          <a:p xmlns:a="http://schemas.openxmlformats.org/drawingml/2006/main">
            <a:r>
              <a:t>Home</a:t>
            </a:r>
          </a:p>
          <a:p xmlns:a="http://schemas.openxmlformats.org/drawingml/2006/main">
            <a:r>
              <a:t>Partner</a:t>
            </a:r>
          </a:p>
          <a:p xmlns:a="http://schemas.openxmlformats.org/drawingml/2006/main">
            <a:r>
              <a:t>RoW</a:t>
            </a:r>
          </a:p>
          <a:p xmlns:a="http://schemas.openxmlformats.org/drawingml/2006/main">
            <a:r>
              <a:t/>
            </a:r>
          </a:p>
          <a:p xmlns:a="http://schemas.openxmlformats.org/drawingml/2006/main">
            <a:r>
              <a:t>Home imports good 1; Partner imports good 2; RoW imports good 3.</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https://davidchivers.co.uk/teaching/macro-applications/lecture_2.html#/l2-s08</a:t>
            </a:r>
          </a:p>
          <a:p xmlns:a="http://schemas.openxmlformats.org/drawingml/2006/main">
            <a:r>
              <a:t/>
            </a:r>
          </a:p>
          <a:p xmlns:a="http://schemas.openxmlformats.org/drawingml/2006/main">
            <a:r>
              <a:t>The import demand curve</a:t>
            </a:r>
          </a:p>
          <a:p xmlns:a="http://schemas.openxmlformats.org/drawingml/2006/main">
            <a:r>
              <a:t/>
            </a:r>
          </a:p>
          <a:p xmlns:a="http://schemas.openxmlformats.org/drawingml/2006/main">
            <a:r>
              <a:t>Below Home’s autarky price, imports equal domestic demand minus domestic supply: </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
            </a:r>
          </a:p>
          <a:p xmlns:a="http://schemas.openxmlformats.org/drawingml/2006/main">
            <a:r>
              <a:t>The highlighted quantity intervals are equal: imports are the gap between demand and supply.</a:t>
            </a:r>
          </a:p>
          <a:p xmlns:a="http://schemas.openxmlformats.org/drawingml/2006/main">
            <a:r>
              <a:t/>
            </a:r>
          </a:p>
          <a:p xmlns:a="http://schemas.openxmlformats.org/drawingml/2006/main">
            <a:r>
              <a:t>Deriving Home import demand from domestic supply and demand. Continuous horizontal guides align Home's autarky and free-trade prices across both panels. At the autarky price, domestic supply equals demand and imports are zero. At the free-trade price, the highlighted gap between domestic supply and demand has exactly the same width as Home imports in the right panel. Import demand slopes downwards.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https://davidchivers.co.uk/teaching/macro-applications/lecture_2.html#/l2-s09</a:t>
            </a:r>
          </a:p>
          <a:p xmlns:a="http://schemas.openxmlformats.org/drawingml/2006/main">
            <a:r>
              <a:t/>
            </a:r>
          </a:p>
          <a:p xmlns:a="http://schemas.openxmlformats.org/drawingml/2006/main">
            <a:r>
              <a:t>Partner’s export supply curve</a:t>
            </a:r>
          </a:p>
          <a:p xmlns:a="http://schemas.openxmlformats.org/drawingml/2006/main">
            <a:r>
              <a:t/>
            </a:r>
          </a:p>
          <a:p xmlns:a="http://schemas.openxmlformats.org/drawingml/2006/main">
            <a:r>
              <a:t>Above Partner’s autarky price, exports equal domestic supply minus domestic demand: </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
            </a:r>
          </a:p>
          <a:p xmlns:a="http://schemas.openxmlformats.org/drawingml/2006/main">
            <a:r>
              <a:t>The highlighted quantity intervals are equal: exports are the gap between supply and demand.</a:t>
            </a:r>
          </a:p>
          <a:p xmlns:a="http://schemas.openxmlformats.org/drawingml/2006/main">
            <a:r>
              <a:t/>
            </a:r>
          </a:p>
          <a:p xmlns:a="http://schemas.openxmlformats.org/drawingml/2006/main">
            <a:r>
              <a:t>Deriving Partner export supply from domestic supply and demand. Continuous horizontal guides align the autarky and free-trade prices across both panels. At the autarky price, exports are zero. At the free-trade price, the highlighted gap between supply and demand is exactly as wide as exports in the right panel. Export supply slopes upwards.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https://davidchivers.co.uk/teaching/macro-applications/lecture_2.html#/l2-s10</a:t>
            </a:r>
          </a:p>
          <a:p xmlns:a="http://schemas.openxmlformats.org/drawingml/2006/main">
            <a:r>
              <a:t/>
            </a:r>
          </a:p>
          <a:p xmlns:a="http://schemas.openxmlformats.org/drawingml/2006/main">
            <a:r>
              <a:t>The aggregate export supply curve</a:t>
            </a:r>
          </a:p>
          <a:p xmlns:a="http://schemas.openxmlformats.org/drawingml/2006/main">
            <a:r>
              <a:t/>
            </a:r>
          </a:p>
          <a:p xmlns:a="http://schemas.openxmlformats.org/drawingml/2006/main">
            <a:r>
              <a:t>Home’s import supply is the horizontal sum of both export supply curves: </a:t>
            </a:r>
          </a:p>
          <a:p xmlns:a="http://schemas.openxmlformats.org/drawingml/2006/main">
            <a:r>
              <a:t>𝑀</a:t>
            </a:r>
          </a:p>
          <a:p xmlns:a="http://schemas.openxmlformats.org/drawingml/2006/main">
            <a:r>
              <a:t>𝑆</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𝑋</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
            </a:r>
          </a:p>
          <a:p xmlns:a="http://schemas.openxmlformats.org/drawingml/2006/main">
            <a:r>
              <a:t>At each common price, add quantities horizontally to obtain aggregate supply.</a:t>
            </a:r>
          </a:p>
          <a:p xmlns:a="http://schemas.openxmlformats.org/drawingml/2006/main">
            <a:r>
              <a:t/>
            </a:r>
          </a:p>
          <a:p xmlns:a="http://schemas.openxmlformats.org/drawingml/2006/main">
            <a:r>
              <a:t>Three panels on common price and quantity scales. A continuous free-trade-price guide crosses both export supply panels and Home's import supply panel. The horizontal distance for aggregate supply equals the sum of the two exporter distances at that price.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https://davidchivers.co.uk/teaching/macro-applications/lecture_2.html#/l2-s11</a:t>
            </a:r>
          </a:p>
          <a:p xmlns:a="http://schemas.openxmlformats.org/drawingml/2006/main">
            <a:r>
              <a:t/>
            </a:r>
          </a:p>
          <a:p xmlns:a="http://schemas.openxmlformats.org/drawingml/2006/main">
            <a:r>
              <a:t>World equilibrium (free trade)</a:t>
            </a:r>
          </a:p>
          <a:p xmlns:a="http://schemas.openxmlformats.org/drawingml/2006/main">
            <a:r>
              <a:t/>
            </a:r>
          </a:p>
          <a:p xmlns:a="http://schemas.openxmlformats.org/drawingml/2006/main">
            <a:r>
              <a:t>At the free-trade equilibrium price </a:t>
            </a:r>
          </a:p>
          <a:p xmlns:a="http://schemas.openxmlformats.org/drawingml/2006/main">
            <a:r>
              <a:t>𝑃</a:t>
            </a:r>
          </a:p>
          <a:p xmlns:a="http://schemas.openxmlformats.org/drawingml/2006/main">
            <a:r>
              <a:t>𝐹</a:t>
            </a:r>
          </a:p>
          <a:p xmlns:a="http://schemas.openxmlformats.org/drawingml/2006/main">
            <a:r>
              <a:t>𝑇</a:t>
            </a:r>
          </a:p>
          <a:p xmlns:a="http://schemas.openxmlformats.org/drawingml/2006/main">
            <a:r>
              <a:t>, world demand equals world supply.</a:t>
            </a:r>
          </a:p>
          <a:p xmlns:a="http://schemas.openxmlformats.org/drawingml/2006/main">
            <a:r>
              <a:t/>
            </a:r>
          </a:p>
          <a:p xmlns:a="http://schemas.openxmlformats.org/drawingml/2006/main">
            <a:r>
              <a:t>𝐷</a:t>
            </a:r>
          </a:p>
          <a:p xmlns:a="http://schemas.openxmlformats.org/drawingml/2006/main">
            <a:r>
              <a:t>𝐻</a:t>
            </a:r>
          </a:p>
          <a:p xmlns:a="http://schemas.openxmlformats.org/drawingml/2006/main">
            <a:r>
              <a:t>+</a:t>
            </a:r>
          </a:p>
          <a:p xmlns:a="http://schemas.openxmlformats.org/drawingml/2006/main">
            <a:r>
              <a:t>𝐷</a:t>
            </a:r>
          </a:p>
          <a:p xmlns:a="http://schemas.openxmlformats.org/drawingml/2006/main">
            <a:r>
              <a:t>𝑃</a:t>
            </a:r>
          </a:p>
          <a:p xmlns:a="http://schemas.openxmlformats.org/drawingml/2006/main">
            <a:r>
              <a:t>+</a:t>
            </a:r>
          </a:p>
          <a:p xmlns:a="http://schemas.openxmlformats.org/drawingml/2006/main">
            <a:r>
              <a:t>𝐷</a:t>
            </a:r>
          </a:p>
          <a:p xmlns:a="http://schemas.openxmlformats.org/drawingml/2006/main">
            <a:r>
              <a:t>𝑅</a:t>
            </a:r>
          </a:p>
          <a:p xmlns:a="http://schemas.openxmlformats.org/drawingml/2006/main">
            <a:r>
              <a:t>=</a:t>
            </a:r>
          </a:p>
          <a:p xmlns:a="http://schemas.openxmlformats.org/drawingml/2006/main">
            <a:r>
              <a:t>𝑆</a:t>
            </a:r>
          </a:p>
          <a:p xmlns:a="http://schemas.openxmlformats.org/drawingml/2006/main">
            <a:r>
              <a:t>𝐻</a:t>
            </a:r>
          </a:p>
          <a:p xmlns:a="http://schemas.openxmlformats.org/drawingml/2006/main">
            <a:r>
              <a:t>+</a:t>
            </a:r>
          </a:p>
          <a:p xmlns:a="http://schemas.openxmlformats.org/drawingml/2006/main">
            <a:r>
              <a:t>𝑆</a:t>
            </a:r>
          </a:p>
          <a:p xmlns:a="http://schemas.openxmlformats.org/drawingml/2006/main">
            <a:r>
              <a:t>𝑃</a:t>
            </a:r>
          </a:p>
          <a:p xmlns:a="http://schemas.openxmlformats.org/drawingml/2006/main">
            <a:r>
              <a:t>+</a:t>
            </a:r>
          </a:p>
          <a:p xmlns:a="http://schemas.openxmlformats.org/drawingml/2006/main">
            <a:r>
              <a:t>𝑆</a:t>
            </a:r>
          </a:p>
          <a:p xmlns:a="http://schemas.openxmlformats.org/drawingml/2006/main">
            <a:r>
              <a:t>𝑅</a:t>
            </a:r>
          </a:p>
          <a:p xmlns:a="http://schemas.openxmlformats.org/drawingml/2006/main">
            <a:r>
              <a:t>⇔</a:t>
            </a:r>
          </a:p>
          <a:p xmlns:a="http://schemas.openxmlformats.org/drawingml/2006/main">
            <a:r>
              <a:t>𝑀</a:t>
            </a:r>
          </a:p>
          <a:p xmlns:a="http://schemas.openxmlformats.org/drawingml/2006/main">
            <a:r>
              <a:t>𝐻</a:t>
            </a:r>
          </a:p>
          <a:p xmlns:a="http://schemas.openxmlformats.org/drawingml/2006/main">
            <a:r>
              <a:t>=</a:t>
            </a:r>
          </a:p>
          <a:p xmlns:a="http://schemas.openxmlformats.org/drawingml/2006/main">
            <a:r>
              <a:t>𝑋</a:t>
            </a:r>
          </a:p>
          <a:p xmlns:a="http://schemas.openxmlformats.org/drawingml/2006/main">
            <a:r>
              <a:t>𝑃</a:t>
            </a:r>
          </a:p>
          <a:p xmlns:a="http://schemas.openxmlformats.org/drawingml/2006/main">
            <a:r>
              <a:t>+</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
            </a:r>
          </a:p>
          <a:p xmlns:a="http://schemas.openxmlformats.org/drawingml/2006/main">
            <a:r>
              <a:t>The same three panels and scales as aggregate supply. Home import demand intersects aggregate import supply at the free-trade price. The continuous horizontal price guide links that intersection to both exporters. Home's import quantity equals the sum of Partner and rest-of-world exports.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https://davidchivers.co.uk/teaching/macro-applications/lecture_2.html#/l2-s12</a:t>
            </a:r>
          </a:p>
          <a:p xmlns:a="http://schemas.openxmlformats.org/drawingml/2006/main">
            <a:r>
              <a:t/>
            </a:r>
          </a:p>
          <a:p xmlns:a="http://schemas.openxmlformats.org/drawingml/2006/main">
            <a:r>
              <a:t>Before the formation of the CU</a:t>
            </a:r>
          </a:p>
          <a:p xmlns:a="http://schemas.openxmlformats.org/drawingml/2006/main">
            <a:r>
              <a:t>Assume that Home, Partner and RoW were all applying the ‘Most Favoured Nation’ principle (GATT/WTO), according to which trade barriers should not be discriminatory.</a:t>
            </a:r>
          </a:p>
          <a:p xmlns:a="http://schemas.openxmlformats.org/drawingml/2006/main">
            <a:r>
              <a:t>Home imposes the same tariff on Partner and RoW.</a:t>
            </a:r>
          </a:p>
          <a:p xmlns:a="http://schemas.openxmlformats.org/drawingml/2006/main">
            <a:r>
              <a:t>The “welfare” impact of the imposition of a MFN tariff is negative from a global point of view: the imposing country might gain, but the affected country always loses (see Baldwin and Wyplosz).</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https://davidchivers.co.uk/teaching/macro-applications/lecture_2.html#/l2-s13</a:t>
            </a:r>
          </a:p>
          <a:p xmlns:a="http://schemas.openxmlformats.org/drawingml/2006/main">
            <a:r>
              <a:t/>
            </a:r>
          </a:p>
          <a:p xmlns:a="http://schemas.openxmlformats.org/drawingml/2006/main">
            <a:r>
              <a:t>Three-country analysis (MFN)</a:t>
            </a:r>
          </a:p>
          <a:p xmlns:a="http://schemas.openxmlformats.org/drawingml/2006/main">
            <a:r>
              <a:t/>
            </a:r>
          </a:p>
          <a:p xmlns:a="http://schemas.openxmlformats.org/drawingml/2006/main">
            <a:r>
              <a:t>Home applies the same tariff </a:t>
            </a:r>
          </a:p>
          <a:p xmlns:a="http://schemas.openxmlformats.org/drawingml/2006/main">
            <a:r>
              <a:t>𝑇</a:t>
            </a:r>
          </a:p>
          <a:p xmlns:a="http://schemas.openxmlformats.org/drawingml/2006/main">
            <a:r>
              <a:t> to Partner and the rest of the world.</a:t>
            </a:r>
          </a:p>
          <a:p xmlns:a="http://schemas.openxmlformats.org/drawingml/2006/main">
            <a:r>
              <a:t/>
            </a:r>
          </a:p>
          <a:p xmlns:a="http://schemas.openxmlformats.org/drawingml/2006/main">
            <a:r>
              <a:t>Predict: what changes when Home removes the tariff on Partner?</a:t>
            </a:r>
          </a:p>
          <a:p xmlns:a="http://schemas.openxmlformats.org/drawingml/2006/main">
            <a:r>
              <a:t/>
            </a:r>
          </a:p>
          <a:p xmlns:a="http://schemas.openxmlformats.org/drawingml/2006/main">
            <a:r>
              <a:t>Three fixed panels: rest-of-world exports, Partner exports and Home imports. Blue dashed lines mark the initial MFN equilibrium. Home pays P prime; both exporters receive P prime minus T. Grey MS is aggregate supply under free trade.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https://davidchivers.co.uk/teaching/macro-applications/lecture_2.html#/l2-s14</a:t>
            </a:r>
          </a:p>
          <a:p xmlns:a="http://schemas.openxmlformats.org/drawingml/2006/main">
            <a:r>
              <a:t/>
            </a:r>
          </a:p>
          <a:p xmlns:a="http://schemas.openxmlformats.org/drawingml/2006/main">
            <a:r>
              <a:t>The formation of the CU</a:t>
            </a:r>
          </a:p>
          <a:p xmlns:a="http://schemas.openxmlformats.org/drawingml/2006/main">
            <a:r>
              <a:t/>
            </a:r>
          </a:p>
          <a:p xmlns:a="http://schemas.openxmlformats.org/drawingml/2006/main">
            <a:r>
              <a:t>Home removes the tariff on Partner. The tariff on RoW remains </a:t>
            </a:r>
          </a:p>
          <a:p xmlns:a="http://schemas.openxmlformats.org/drawingml/2006/main">
            <a:r>
              <a:t>𝑇</a:t>
            </a:r>
          </a:p>
          <a:p xmlns:a="http://schemas.openxmlformats.org/drawingml/2006/main">
            <a:r>
              <a:t>.</a:t>
            </a:r>
          </a:p>
          <a:p xmlns:a="http://schemas.openxmlformats.org/drawingml/2006/main">
            <a:r>
              <a:t/>
            </a:r>
          </a:p>
          <a:p xmlns:a="http://schemas.openxmlformats.org/drawingml/2006/main">
            <a:r>
              <a:t>Home’s price falls; Partner exports more; RoW exports less. Dashed blue: before. Solid orange: after.</a:t>
            </a:r>
          </a:p>
          <a:p xmlns:a="http://schemas.openxmlformats.org/drawingml/2006/main">
            <a:r>
              <a:t/>
            </a:r>
          </a:p>
          <a:p xmlns:a="http://schemas.openxmlformats.org/drawingml/2006/main">
            <a:r>
              <a:t>The same three panels, with axes and curves fixed. Blue dashed lines retain the MFN equilibrium; orange solid lines mark the customs-union equilibrium. Home's price falls to P double prime. Partner receives that price and exports more. RoW receives P double prime minus T and exports less. Home imports increase.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https://davidchivers.co.uk/teaching/macro-applications/lecture_2.html#/l2-s15</a:t>
            </a:r>
          </a:p>
          <a:p xmlns:a="http://schemas.openxmlformats.org/drawingml/2006/main">
            <a:r>
              <a:t/>
            </a:r>
          </a:p>
          <a:p xmlns:a="http://schemas.openxmlformats.org/drawingml/2006/main">
            <a:r>
              <a:t>“Welfare” effects</a:t>
            </a:r>
          </a:p>
          <a:p xmlns:a="http://schemas.openxmlformats.org/drawingml/2006/main">
            <a:r>
              <a:t/>
            </a:r>
          </a:p>
          <a:p xmlns:a="http://schemas.openxmlformats.org/drawingml/2006/main">
            <a:r>
              <a:t>The shaded areas measure each exporter’s net welfare change for this good.</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
            </a:r>
          </a:p>
          <a:p xmlns:a="http://schemas.openxmlformats.org/drawingml/2006/main">
            <a:r>
              <a:t>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Home’s welfare needs a separate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https://davidchivers.co.uk/teaching/macro-applications/lecture_2.html#/l2-s16</a:t>
            </a:r>
          </a:p>
          <a:p xmlns:a="http://schemas.openxmlformats.org/drawingml/2006/main">
            <a:r>
              <a:t/>
            </a:r>
          </a:p>
          <a:p xmlns:a="http://schemas.openxmlformats.org/drawingml/2006/main">
            <a:r>
              <a:t>Home welfare: consumers and producers</a:t>
            </a:r>
          </a:p>
          <a:p xmlns:a="http://schemas.openxmlformats.org/drawingml/2006/main">
            <a:r>
              <a:t/>
            </a:r>
          </a:p>
          <a:p xmlns:a="http://schemas.openxmlformats.org/drawingml/2006/main">
            <a:r>
              <a:t>Home’s price falls from </a:t>
            </a:r>
          </a:p>
          <a:p xmlns:a="http://schemas.openxmlformats.org/drawingml/2006/main">
            <a:r>
              <a:t>𝑃</a:t>
            </a:r>
          </a:p>
          <a:p xmlns:a="http://schemas.openxmlformats.org/drawingml/2006/main">
            <a:r>
              <a:t>′</a:t>
            </a:r>
          </a:p>
          <a:p xmlns:a="http://schemas.openxmlformats.org/drawingml/2006/main">
            <a:r>
              <a:t> to </a:t>
            </a:r>
          </a:p>
          <a:p xmlns:a="http://schemas.openxmlformats.org/drawingml/2006/main">
            <a:r>
              <a:t>𝑃</a:t>
            </a:r>
          </a:p>
          <a:p xmlns:a="http://schemas.openxmlformats.org/drawingml/2006/main">
            <a:r>
              <a:t>″</a:t>
            </a:r>
          </a:p>
          <a:p xmlns:a="http://schemas.openxmlformats.org/drawingml/2006/main">
            <a:r>
              <a:t>: consumers gain and producers lose.</a:t>
            </a:r>
          </a:p>
          <a:p xmlns:a="http://schemas.openxmlformats.org/drawingml/2006/main">
            <a:r>
              <a:t/>
            </a:r>
          </a:p>
          <a:p xmlns:a="http://schemas.openxmlformats.org/drawingml/2006/main">
            <a:r>
              <a:t>Price</a:t>
            </a:r>
          </a:p>
          <a:p xmlns:a="http://schemas.openxmlformats.org/drawingml/2006/main">
            <a:r>
              <a:t>Quantity</a:t>
            </a:r>
          </a:p>
          <a:p xmlns:a="http://schemas.openxmlformats.org/drawingml/2006/main">
            <a:r>
              <a:t>S</a:t>
            </a:r>
          </a:p>
          <a:p xmlns:a="http://schemas.openxmlformats.org/drawingml/2006/main">
            <a:r>
              <a:t>D</a:t>
            </a:r>
          </a:p>
          <a:p xmlns:a="http://schemas.openxmlformats.org/drawingml/2006/main">
            <a:r>
              <a:t>P′</a:t>
            </a:r>
          </a:p>
          <a:p xmlns:a="http://schemas.openxmlformats.org/drawingml/2006/main">
            <a:r>
              <a:t>P″</a:t>
            </a:r>
          </a:p>
          <a:p xmlns:a="http://schemas.openxmlformats.org/drawingml/2006/main">
            <a:r>
              <a:t>D</a:t>
            </a:r>
          </a:p>
          <a:p xmlns:a="http://schemas.openxmlformats.org/drawingml/2006/main">
            <a:r>
              <a:t>A1</a:t>
            </a:r>
          </a:p>
          <a:p xmlns:a="http://schemas.openxmlformats.org/drawingml/2006/main">
            <a:r>
              <a:t>A2</a:t>
            </a:r>
          </a:p>
          <a:p xmlns:a="http://schemas.openxmlformats.org/drawingml/2006/main">
            <a:r>
              <a:t>A3</a:t>
            </a:r>
          </a:p>
          <a:p xmlns:a="http://schemas.openxmlformats.org/drawingml/2006/main">
            <a:r>
              <a:t>S″</a:t>
            </a:r>
          </a:p>
          <a:p xmlns:a="http://schemas.openxmlformats.org/drawingml/2006/main">
            <a:r>
              <a:t>S′</a:t>
            </a:r>
          </a:p>
          <a:p xmlns:a="http://schemas.openxmlformats.org/drawingml/2006/main">
            <a:r>
              <a:t>D′</a:t>
            </a:r>
          </a:p>
          <a:p xmlns:a="http://schemas.openxmlformats.org/drawingml/2006/main">
            <a:r>
              <a:t>D″</a:t>
            </a:r>
          </a:p>
          <a:p xmlns:a="http://schemas.openxmlformats.org/drawingml/2006/main">
            <a:r>
              <a:t>D is a transfer from producers to consumers.</a:t>
            </a:r>
          </a:p>
          <a:p xmlns:a="http://schemas.openxmlformats.org/drawingml/2006/main">
            <a:r>
              <a:t>Consumer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Producer surplus</a:t>
            </a:r>
          </a:p>
          <a:p xmlns:a="http://schemas.openxmlformats.org/drawingml/2006/main">
            <a:r>
              <a:t/>
            </a:r>
          </a:p>
          <a:p xmlns:a="http://schemas.openxmlformats.org/drawingml/2006/main">
            <a:r>
              <a:t>−</a:t>
            </a:r>
          </a:p>
          <a:p xmlns:a="http://schemas.openxmlformats.org/drawingml/2006/main">
            <a:r>
              <a:t>𝐷</a:t>
            </a:r>
          </a:p>
          <a:p xmlns:a="http://schemas.openxmlformats.org/drawingml/2006/main">
            <a:r>
              <a:t/>
            </a:r>
          </a:p>
          <a:p xmlns:a="http://schemas.openxmlformats.org/drawingml/2006/main">
            <a:r>
              <a:t>Net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
            </a:r>
          </a:p>
          <a:p xmlns:a="http://schemas.openxmlformats.org/drawingml/2006/main">
            <a:r>
              <a:t>The transfer </a:t>
            </a:r>
          </a:p>
          <a:p xmlns:a="http://schemas.openxmlformats.org/drawingml/2006/main">
            <a:r>
              <a:t>𝐷</a:t>
            </a:r>
          </a:p>
          <a:p xmlns:a="http://schemas.openxmlformats.org/drawingml/2006/main">
            <a:r>
              <a:t> cancels. We still need the change in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https://davidchivers.co.uk/teaching/macro-applications/lecture_2.html#/l2-s17</a:t>
            </a:r>
          </a:p>
          <a:p xmlns:a="http://schemas.openxmlformats.org/drawingml/2006/main">
            <a:r>
              <a:t/>
            </a:r>
          </a:p>
          <a:p xmlns:a="http://schemas.openxmlformats.org/drawingml/2006/main">
            <a:r>
              <a:t>Home welfare: tariff revenue and total</a:t>
            </a:r>
          </a:p>
          <a:p xmlns:a="http://schemas.openxmlformats.org/drawingml/2006/main">
            <a:r>
              <a:t/>
            </a:r>
          </a:p>
          <a:p xmlns:a="http://schemas.openxmlformats.org/drawingml/2006/main">
            <a:r>
              <a:t>After the customs union, only imports from RoW generate tariff revenue.</a:t>
            </a:r>
          </a:p>
          <a:p xmlns:a="http://schemas.openxmlformats.org/drawingml/2006/main">
            <a:r>
              <a:t/>
            </a:r>
          </a:p>
          <a:p xmlns:a="http://schemas.openxmlformats.org/drawingml/2006/main">
            <a:r>
              <a:t>Price</a:t>
            </a:r>
          </a:p>
          <a:p xmlns:a="http://schemas.openxmlformats.org/drawingml/2006/main">
            <a:r>
              <a:t>Home imports</a:t>
            </a:r>
          </a:p>
          <a:p xmlns:a="http://schemas.openxmlformats.org/drawingml/2006/main">
            <a:r>
              <a:t>MD</a:t>
            </a:r>
          </a:p>
          <a:p xmlns:a="http://schemas.openxmlformats.org/drawingml/2006/main">
            <a:r>
              <a:t>P′</a:t>
            </a:r>
          </a:p>
          <a:p xmlns:a="http://schemas.openxmlformats.org/drawingml/2006/main">
            <a:r>
              <a:t>P″</a:t>
            </a:r>
          </a:p>
          <a:p xmlns:a="http://schemas.openxmlformats.org/drawingml/2006/main">
            <a:r>
              <a:t>P′ − T</a:t>
            </a:r>
          </a:p>
          <a:p xmlns:a="http://schemas.openxmlformats.org/drawingml/2006/main">
            <a:r>
              <a:t>P″ − T</a:t>
            </a:r>
          </a:p>
          <a:p xmlns:a="http://schemas.openxmlformats.org/drawingml/2006/main">
            <a:r>
              <a:t>XR″</a:t>
            </a:r>
          </a:p>
          <a:p xmlns:a="http://schemas.openxmlformats.org/drawingml/2006/main">
            <a:r>
              <a:t>M′</a:t>
            </a:r>
          </a:p>
          <a:p xmlns:a="http://schemas.openxmlformats.org/drawingml/2006/main">
            <a:r>
              <a:t>M″</a:t>
            </a:r>
          </a:p>
          <a:p xmlns:a="http://schemas.openxmlformats.org/drawingml/2006/main">
            <a:r>
              <a:t>A1</a:t>
            </a:r>
          </a:p>
          <a:p xmlns:a="http://schemas.openxmlformats.org/drawingml/2006/main">
            <a:r>
              <a:t>B1</a:t>
            </a:r>
          </a:p>
          <a:p xmlns:a="http://schemas.openxmlformats.org/drawingml/2006/main">
            <a:r>
              <a:t>C</a:t>
            </a:r>
          </a:p>
          <a:p xmlns:a="http://schemas.openxmlformats.org/drawingml/2006/main">
            <a:r>
              <a:t>B</a:t>
            </a:r>
          </a:p>
          <a:p xmlns:a="http://schemas.openxmlformats.org/drawingml/2006/main">
            <a:r>
              <a:t>A</a:t>
            </a:r>
          </a:p>
          <a:p xmlns:a="http://schemas.openxmlformats.org/drawingml/2006/main">
            <a:r>
              <a:t>T</a:t>
            </a:r>
          </a:p>
          <a:p xmlns:a="http://schemas.openxmlformats.org/drawingml/2006/main">
            <a:r>
              <a:t>T</a:t>
            </a:r>
          </a:p>
          <a:p xmlns:a="http://schemas.openxmlformats.org/drawingml/2006/main">
            <a:r>
              <a:t>A = A₂ + A₃; the net welfare effect is A + B − C.</a:t>
            </a:r>
          </a:p>
          <a:p xmlns:a="http://schemas.openxmlformats.org/drawingml/2006/main">
            <a:r>
              <a:t>Tariff revenue</a:t>
            </a:r>
          </a:p>
          <a:p xmlns:a="http://schemas.openxmlformats.org/drawingml/2006/main">
            <a:r>
              <a:t/>
            </a:r>
          </a:p>
          <a:p xmlns:a="http://schemas.openxmlformats.org/drawingml/2006/main">
            <a:r>
              <a:t>Before: </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𝑇</a:t>
            </a:r>
          </a:p>
          <a:p xmlns:a="http://schemas.openxmlformats.org/drawingml/2006/main">
            <a:r>
              <a:t>𝑀</a:t>
            </a:r>
          </a:p>
          <a:p xmlns:a="http://schemas.openxmlformats.org/drawingml/2006/main">
            <a:r>
              <a:t>′</a:t>
            </a:r>
          </a:p>
          <a:p xmlns:a="http://schemas.openxmlformats.org/drawingml/2006/main">
            <a:r>
              <a:t>.</a:t>
            </a:r>
          </a:p>
          <a:p xmlns:a="http://schemas.openxmlformats.org/drawingml/2006/main">
            <a:r>
              <a:t/>
            </a:r>
          </a:p>
          <a:p xmlns:a="http://schemas.openxmlformats.org/drawingml/2006/main">
            <a:r>
              <a:t>After: </a:t>
            </a:r>
          </a:p>
          <a:p xmlns:a="http://schemas.openxmlformats.org/drawingml/2006/main">
            <a:r>
              <a:t>𝐵</a:t>
            </a:r>
          </a:p>
          <a:p xmlns:a="http://schemas.openxmlformats.org/drawingml/2006/main">
            <a:r>
              <a:t>1</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𝑇</a:t>
            </a:r>
          </a:p>
          <a:p xmlns:a="http://schemas.openxmlformats.org/drawingml/2006/main">
            <a:r>
              <a:t>𝑋</a:t>
            </a:r>
          </a:p>
          <a:p xmlns:a="http://schemas.openxmlformats.org/drawingml/2006/main">
            <a:r>
              <a:t>𝑅</a:t>
            </a:r>
          </a:p>
          <a:p xmlns:a="http://schemas.openxmlformats.org/drawingml/2006/main">
            <a:r>
              <a:t>′</a:t>
            </a:r>
          </a:p>
          <a:p xmlns:a="http://schemas.openxmlformats.org/drawingml/2006/main">
            <a:r>
              <a:t>′</a:t>
            </a:r>
          </a:p>
          <a:p xmlns:a="http://schemas.openxmlformats.org/drawingml/2006/main">
            <a:r>
              <a:t>.</a:t>
            </a:r>
          </a:p>
          <a:p xmlns:a="http://schemas.openxmlformats.org/drawingml/2006/main">
            <a:r>
              <a:t/>
            </a:r>
          </a:p>
          <a:p xmlns:a="http://schemas.openxmlformats.org/drawingml/2006/main">
            <a:r>
              <a:t>Change: </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Add private surplus</a:t>
            </a:r>
          </a:p>
          <a:p xmlns:a="http://schemas.openxmlformats.org/drawingml/2006/main">
            <a:r>
              <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𝐴</a:t>
            </a:r>
          </a:p>
          <a:p xmlns:a="http://schemas.openxmlformats.org/drawingml/2006/main">
            <a:r>
              <a:t>1</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
            </a:r>
          </a:p>
          <a:p xmlns:a="http://schemas.openxmlformats.org/drawingml/2006/main">
            <a:r>
              <a:t>=</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
            </a:r>
          </a:p>
          <a:p xmlns:a="http://schemas.openxmlformats.org/drawingml/2006/main">
            <a:r>
              <a:t>The sign is ambiguous. Here, </a:t>
            </a:r>
          </a:p>
          <a:p xmlns:a="http://schemas.openxmlformats.org/drawingml/2006/main">
            <a:r>
              <a:t>𝐴</a:t>
            </a:r>
          </a:p>
          <a:p xmlns:a="http://schemas.openxmlformats.org/drawingml/2006/main">
            <a:r>
              <a:t>=</a:t>
            </a:r>
          </a:p>
          <a:p xmlns:a="http://schemas.openxmlformats.org/drawingml/2006/main">
            <a:r>
              <a:t>𝐴</a:t>
            </a:r>
          </a:p>
          <a:p xmlns:a="http://schemas.openxmlformats.org/drawingml/2006/main">
            <a:r>
              <a:t>2</a:t>
            </a:r>
          </a:p>
          <a:p xmlns:a="http://schemas.openxmlformats.org/drawingml/2006/main">
            <a:r>
              <a:t>+</a:t>
            </a:r>
          </a:p>
          <a:p xmlns:a="http://schemas.openxmlformats.org/drawingml/2006/main">
            <a:r>
              <a:t>𝐴</a:t>
            </a:r>
          </a:p>
          <a:p xmlns:a="http://schemas.openxmlformats.org/drawingml/2006/main">
            <a:r>
              <a:t>3</a:t>
            </a:r>
          </a:p>
          <a:p xmlns:a="http://schemas.openxmlformats.org/drawingml/2006/main">
            <a:r>
              <a: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https://davidchivers.co.uk/teaching/macro-applications/lecture_2.html#/l2-s18</a:t>
            </a:r>
          </a:p>
          <a:p xmlns:a="http://schemas.openxmlformats.org/drawingml/2006/main">
            <a:r>
              <a:t/>
            </a:r>
          </a:p>
          <a:p xmlns:a="http://schemas.openxmlformats.org/drawingml/2006/main">
            <a:r>
              <a:t>Summing up the welfare effects</a:t>
            </a:r>
          </a:p>
          <a:p xmlns:a="http://schemas.openxmlformats.org/drawingml/2006/main">
            <a:r>
              <a:t>Home</a:t>
            </a:r>
          </a:p>
          <a:p xmlns:a="http://schemas.openxmlformats.org/drawingml/2006/main">
            <a:r>
              <a:t>Good 1 (imported): </a:t>
            </a:r>
          </a:p>
          <a:p xmlns:a="http://schemas.openxmlformats.org/drawingml/2006/main">
            <a:r>
              <a:t>𝐴</a:t>
            </a:r>
          </a:p>
          <a:p xmlns:a="http://schemas.openxmlformats.org/drawingml/2006/main">
            <a:r>
              <a:t>+</a:t>
            </a:r>
          </a:p>
          <a:p xmlns:a="http://schemas.openxmlformats.org/drawingml/2006/main">
            <a:r>
              <a:t>𝐵</a:t>
            </a:r>
          </a:p>
          <a:p xmlns:a="http://schemas.openxmlformats.org/drawingml/2006/main">
            <a:r>
              <a:t>−</a:t>
            </a:r>
          </a:p>
          <a:p xmlns:a="http://schemas.openxmlformats.org/drawingml/2006/main">
            <a:r>
              <a:t>𝐶</a:t>
            </a:r>
          </a:p>
          <a:p xmlns:a="http://schemas.openxmlformats.org/drawingml/2006/main">
            <a:r>
              <a:t>.</a:t>
            </a:r>
          </a:p>
          <a:p xmlns:a="http://schemas.openxmlformats.org/drawingml/2006/main">
            <a:r>
              <a:t>Good 2 (exported to Partner): </a:t>
            </a:r>
          </a:p>
          <a:p xmlns:a="http://schemas.openxmlformats.org/drawingml/2006/main">
            <a:r>
              <a:t>+</a:t>
            </a:r>
          </a:p>
          <a:p xmlns:a="http://schemas.openxmlformats.org/drawingml/2006/main">
            <a:r>
              <a:t>𝐷</a:t>
            </a:r>
          </a:p>
          <a:p xmlns:a="http://schemas.openxmlformats.org/drawingml/2006/main">
            <a:r>
              <a:t>.</a:t>
            </a:r>
          </a:p>
          <a:p xmlns:a="http://schemas.openxmlformats.org/drawingml/2006/main">
            <a:r>
              <a:t>Good 3 (exported to RoW): no change.</a:t>
            </a:r>
          </a:p>
          <a:p xmlns:a="http://schemas.openxmlformats.org/drawingml/2006/main">
            <a:r>
              <a:t>Partner</a:t>
            </a:r>
          </a:p>
          <a:p xmlns:a="http://schemas.openxmlformats.org/drawingml/2006/main">
            <a:r>
              <a:t/>
            </a:r>
          </a:p>
          <a:p xmlns:a="http://schemas.openxmlformats.org/drawingml/2006/main">
            <a:r>
              <a:t>Identical to Home.</a:t>
            </a:r>
          </a:p>
          <a:p xmlns:a="http://schemas.openxmlformats.org/drawingml/2006/main">
            <a:r>
              <a:t/>
            </a:r>
          </a:p>
          <a:p xmlns:a="http://schemas.openxmlformats.org/drawingml/2006/main">
            <a:r>
              <a:t>Rest of the world</a:t>
            </a:r>
          </a:p>
          <a:p xmlns:a="http://schemas.openxmlformats.org/drawingml/2006/main">
            <a:r>
              <a:t>Goods 1 and 2 (exported to customs union members): </a:t>
            </a:r>
          </a:p>
          <a:p xmlns:a="http://schemas.openxmlformats.org/drawingml/2006/main">
            <a:r>
              <a:t>−</a:t>
            </a:r>
          </a:p>
          <a:p xmlns:a="http://schemas.openxmlformats.org/drawingml/2006/main">
            <a:r>
              <a:t>2</a:t>
            </a:r>
          </a:p>
          <a:p xmlns:a="http://schemas.openxmlformats.org/drawingml/2006/main">
            <a:r>
              <a:t>𝐸</a:t>
            </a:r>
          </a:p>
          <a:p xmlns:a="http://schemas.openxmlformats.org/drawingml/2006/main">
            <a:r>
              <a:t>.</a:t>
            </a:r>
          </a:p>
          <a:p xmlns:a="http://schemas.openxmlformats.org/drawingml/2006/main">
            <a:r>
              <a:t>Good 3 (imported from customs union members): no change.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https://davidchivers.co.uk/teaching/macro-applications/lecture_2.html#/l2-s19</a:t>
            </a:r>
          </a:p>
          <a:p xmlns:a="http://schemas.openxmlformats.org/drawingml/2006/main">
            <a:r>
              <a:t/>
            </a:r>
          </a:p>
          <a:p xmlns:a="http://schemas.openxmlformats.org/drawingml/2006/main">
            <a:r>
              <a:t>Summing up the welfare effects: in words</a:t>
            </a:r>
          </a:p>
          <a:p xmlns:a="http://schemas.openxmlformats.org/drawingml/2006/main">
            <a:r>
              <a:t>Three elements</a:t>
            </a:r>
          </a:p>
          <a:p xmlns:a="http://schemas.openxmlformats.org/drawingml/2006/main">
            <a:r>
              <a:t>Adam Smith’s certitude: foreign firms gain when tariffs against them are eliminated (increase in the price of the exported good);</a:t>
            </a:r>
          </a:p>
          <a:p xmlns:a="http://schemas.openxmlformats.org/drawingml/2006/main">
            <a:r>
              <a:t>Haberler’s spillover: third nations – those excluded from the tariff reductions – lose (fall in the price of the exported good);</a:t>
            </a:r>
          </a:p>
          <a:p xmlns:a="http://schemas.openxmlformats.org/drawingml/2006/main">
            <a:r>
              <a:t>Viner’s ambiguity: “trade creation” effect with Partner has to be weighed against “supply switching” or “trade diversion”.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https://davidchivers.co.uk/teaching/macro-applications/lecture_2.html#/l2-s20</a:t>
            </a:r>
          </a:p>
          <a:p xmlns:a="http://schemas.openxmlformats.org/drawingml/2006/main">
            <a:r>
              <a:t/>
            </a:r>
          </a:p>
          <a:p xmlns:a="http://schemas.openxmlformats.org/drawingml/2006/main">
            <a:r>
              <a:t>What do we mean by welfare?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https://davidchivers.co.uk/teaching/macro-applications/lecture_2.html#/l2-s21</a:t>
            </a:r>
          </a:p>
          <a:p xmlns:a="http://schemas.openxmlformats.org/drawingml/2006/main">
            <a:r>
              <a:t/>
            </a:r>
          </a:p>
          <a:p xmlns:a="http://schemas.openxmlformats.org/drawingml/2006/main">
            <a:r>
              <a:t>Non-tariff barriers</a:t>
            </a:r>
          </a:p>
          <a:p xmlns:a="http://schemas.openxmlformats.org/drawingml/2006/main">
            <a:r>
              <a:t>Protection by country</a:t>
            </a:r>
          </a:p>
          <a:p xmlns:a="http://schemas.openxmlformats.org/drawingml/2006/main">
            <a:r>
              <a:t>Country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Belgium	7.0	7.6	19.6	28.2</a:t>
            </a:r>
          </a:p>
          <a:p xmlns:a="http://schemas.openxmlformats.org/drawingml/2006/main">
            <a:r>
              <a:t>Denmark	7.1	4.1	18.2	27.0</a:t>
            </a:r>
          </a:p>
          <a:p xmlns:a="http://schemas.openxmlformats.org/drawingml/2006/main">
            <a:r>
              <a:t>Germany, West	7.4	6.0	22.3	27.4</a:t>
            </a:r>
          </a:p>
          <a:p xmlns:a="http://schemas.openxmlformats.org/drawingml/2006/main">
            <a:r>
              <a:t>Greece	7.0	8.6	25.5	25.8</a:t>
            </a:r>
          </a:p>
          <a:p xmlns:a="http://schemas.openxmlformats.org/drawingml/2006/main">
            <a:r>
              <a:t>Spain	6.8	4.8	13.9	22.1</a:t>
            </a:r>
          </a:p>
          <a:p xmlns:a="http://schemas.openxmlformats.org/drawingml/2006/main">
            <a:r>
              <a:t>France	7.4	14.3	18.4	26.1</a:t>
            </a:r>
          </a:p>
          <a:p xmlns:a="http://schemas.openxmlformats.org/drawingml/2006/main">
            <a:r>
              <a:t>Ireland	7.5	7.5	20.8	27.0</a:t>
            </a:r>
          </a:p>
          <a:p xmlns:a="http://schemas.openxmlformats.org/drawingml/2006/main">
            <a:r>
              <a:t>Italy	7.6	14.4	20.9	27.1</a:t>
            </a:r>
          </a:p>
          <a:p xmlns:a="http://schemas.openxmlformats.org/drawingml/2006/main">
            <a:r>
              <a:t>Netherlands	7.1	7.6	20.6	28.1</a:t>
            </a:r>
          </a:p>
          <a:p xmlns:a="http://schemas.openxmlformats.org/drawingml/2006/main">
            <a:r>
              <a:t>Portugal	7.1	3.4	19.1	20.2</a:t>
            </a:r>
          </a:p>
          <a:p xmlns:a="http://schemas.openxmlformats.org/drawingml/2006/main">
            <a:r>
              <a:t>Protection by industry</a:t>
            </a:r>
          </a:p>
          <a:p xmlns:a="http://schemas.openxmlformats.org/drawingml/2006/main">
            <a:r>
              <a:t>Industry	Tariff rate	Non-tariff barrier rate</a:t>
            </a:r>
          </a:p>
          <a:p xmlns:a="http://schemas.openxmlformats.org/drawingml/2006/main">
            <a:r>
              <a:t>Rate¹	Standard</a:t>
            </a:r>
          </a:p>
          <a:p xmlns:a="http://schemas.openxmlformats.org/drawingml/2006/main">
            <a:r>
              <a:t>deviation	Rate¹	Standard</a:t>
            </a:r>
          </a:p>
          <a:p xmlns:a="http://schemas.openxmlformats.org/drawingml/2006/main">
            <a:r>
              <a:t>deviation</a:t>
            </a:r>
          </a:p>
          <a:p xmlns:a="http://schemas.openxmlformats.org/drawingml/2006/main">
            <a:r>
              <a:t>Food products	9.8	33.6	45.9	30.0</a:t>
            </a:r>
          </a:p>
          <a:p xmlns:a="http://schemas.openxmlformats.org/drawingml/2006/main">
            <a:r>
              <a:t>Textiles	11.7	24.5	69.8	38.2</a:t>
            </a:r>
          </a:p>
          <a:p xmlns:a="http://schemas.openxmlformats.org/drawingml/2006/main">
            <a:r>
              <a:t>Apparel	12.3	30.4	71.7	35.7</a:t>
            </a:r>
          </a:p>
          <a:p xmlns:a="http://schemas.openxmlformats.org/drawingml/2006/main">
            <a:r>
              <a:t>Footwear	13.3	44.5	33.8	41.9</a:t>
            </a:r>
          </a:p>
          <a:p xmlns:a="http://schemas.openxmlformats.org/drawingml/2006/main">
            <a:r>
              <a:t>Furniture	6.4	46.2	0.9	46.5</a:t>
            </a:r>
          </a:p>
          <a:p xmlns:a="http://schemas.openxmlformats.org/drawingml/2006/main">
            <a:r>
              <a:t>Industrial chemicals	10.2	23.5	9.1	30.1</a:t>
            </a:r>
          </a:p>
          <a:p xmlns:a="http://schemas.openxmlformats.org/drawingml/2006/main">
            <a:r>
              <a:t>Iron &amp; steel	9.8	38.0	47.7	34.6</a:t>
            </a:r>
          </a:p>
          <a:p xmlns:a="http://schemas.openxmlformats.org/drawingml/2006/main">
            <a:r>
              <a:t>Machinery, electric	8.6	28.3	14.3	33.3</a:t>
            </a:r>
          </a:p>
          <a:p xmlns:a="http://schemas.openxmlformats.org/drawingml/2006/main">
            <a:r>
              <a:t>Transport equipment	7.9	30.7	25.5	38.8</a:t>
            </a:r>
          </a:p>
          <a:p xmlns:a="http://schemas.openxmlformats.org/drawingml/2006/main">
            <a:r>
              <a:t>Professional &amp; scientific equipment	6.5	23.6	2.7	30.3</a:t>
            </a:r>
          </a:p>
          <a:p xmlns:a="http://schemas.openxmlformats.org/drawingml/2006/main">
            <a:r>
              <a:t/>
            </a:r>
          </a:p>
          <a:p xmlns:a="http://schemas.openxmlformats.org/drawingml/2006/main">
            <a:r>
              <a:t>¹ Import-weighted measure. Source: Lee and Swagel (1997), as reproduced in the original lecture. Historical figures.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https://davidchivers.co.uk/teaching/macro-applications/lecture_2.html#/l2-s22</a:t>
            </a:r>
          </a:p>
          <a:p xmlns:a="http://schemas.openxmlformats.org/drawingml/2006/main">
            <a:r>
              <a:t/>
            </a:r>
          </a:p>
          <a:p xmlns:a="http://schemas.openxmlformats.org/drawingml/2006/main">
            <a:r>
              <a:t>Non-tariff barriers: welfare effects</a:t>
            </a:r>
          </a:p>
          <a:p xmlns:a="http://schemas.openxmlformats.org/drawingml/2006/main">
            <a:r>
              <a:t/>
            </a:r>
          </a:p>
          <a:p xmlns:a="http://schemas.openxmlformats.org/drawingml/2006/main">
            <a:r>
              <a:t>Here </a:t>
            </a:r>
          </a:p>
          <a:p xmlns:a="http://schemas.openxmlformats.org/drawingml/2006/main">
            <a:r>
              <a:t>𝑇</a:t>
            </a:r>
          </a:p>
          <a:p xmlns:a="http://schemas.openxmlformats.org/drawingml/2006/main">
            <a:r>
              <a:t> is a real per-unit trade cost. Home removes it on Partner’s goods; it remains on RoW goods.</a:t>
            </a:r>
          </a:p>
          <a:p xmlns:a="http://schemas.openxmlformats.org/drawingml/2006/main">
            <a:r>
              <a:t/>
            </a:r>
          </a:p>
          <a:p xmlns:a="http://schemas.openxmlformats.org/drawingml/2006/main">
            <a:r>
              <a:t>Rest of the world</a:t>
            </a:r>
          </a:p>
          <a:p xmlns:a="http://schemas.openxmlformats.org/drawingml/2006/main">
            <a:r>
              <a:t>RoW exports</a:t>
            </a:r>
          </a:p>
          <a:p xmlns:a="http://schemas.openxmlformats.org/drawingml/2006/main">
            <a:r>
              <a:t>Partner</a:t>
            </a:r>
          </a:p>
          <a:p xmlns:a="http://schemas.openxmlformats.org/drawingml/2006/main">
            <a:r>
              <a:t>Partner exports</a:t>
            </a:r>
          </a:p>
          <a:p xmlns:a="http://schemas.openxmlformats.org/drawingml/2006/main">
            <a:r>
              <a:t>Home</a:t>
            </a:r>
          </a:p>
          <a:p xmlns:a="http://schemas.openxmlformats.org/drawingml/2006/main">
            <a:r>
              <a:t>Home imports</a:t>
            </a:r>
          </a:p>
          <a:p xmlns:a="http://schemas.openxmlformats.org/drawingml/2006/main">
            <a:r>
              <a:t>Price</a:t>
            </a:r>
          </a:p>
          <a:p xmlns:a="http://schemas.openxmlformats.org/drawingml/2006/main">
            <a:r>
              <a:t>P′</a:t>
            </a:r>
          </a:p>
          <a:p xmlns:a="http://schemas.openxmlformats.org/drawingml/2006/main">
            <a:r>
              <a:t>P′ − T</a:t>
            </a:r>
          </a:p>
          <a:p xmlns:a="http://schemas.openxmlformats.org/drawingml/2006/main">
            <a:r>
              <a:t>P″</a:t>
            </a:r>
          </a:p>
          <a:p xmlns:a="http://schemas.openxmlformats.org/drawingml/2006/main">
            <a:r>
              <a:t>P″ − T</a:t>
            </a:r>
          </a:p>
          <a:p xmlns:a="http://schemas.openxmlformats.org/drawingml/2006/main">
            <a:r>
              <a:t>XSR</a:t>
            </a:r>
          </a:p>
          <a:p xmlns:a="http://schemas.openxmlformats.org/drawingml/2006/main">
            <a:r>
              <a:t>XR′</a:t>
            </a:r>
          </a:p>
          <a:p xmlns:a="http://schemas.openxmlformats.org/drawingml/2006/main">
            <a:r>
              <a:t>XSP</a:t>
            </a:r>
          </a:p>
          <a:p xmlns:a="http://schemas.openxmlformats.org/drawingml/2006/main">
            <a:r>
              <a:t>XP′</a:t>
            </a:r>
          </a:p>
          <a:p xmlns:a="http://schemas.openxmlformats.org/drawingml/2006/main">
            <a:r>
              <a:t>MS</a:t>
            </a:r>
          </a:p>
          <a:p xmlns:a="http://schemas.openxmlformats.org/drawingml/2006/main">
            <a:r>
              <a:t>MD</a:t>
            </a:r>
          </a:p>
          <a:p xmlns:a="http://schemas.openxmlformats.org/drawingml/2006/main">
            <a:r>
              <a:t>MSMFN</a:t>
            </a:r>
          </a:p>
          <a:p xmlns:a="http://schemas.openxmlformats.org/drawingml/2006/main">
            <a:r>
              <a:t>M′</a:t>
            </a:r>
          </a:p>
          <a:p xmlns:a="http://schemas.openxmlformats.org/drawingml/2006/main">
            <a:r>
              <a:t>T</a:t>
            </a:r>
          </a:p>
          <a:p xmlns:a="http://schemas.openxmlformats.org/drawingml/2006/main">
            <a:r>
              <a:t>XR″</a:t>
            </a:r>
          </a:p>
          <a:p xmlns:a="http://schemas.openxmlformats.org/drawingml/2006/main">
            <a:r>
              <a:t>XP″</a:t>
            </a:r>
          </a:p>
          <a:p xmlns:a="http://schemas.openxmlformats.org/drawingml/2006/main">
            <a:r>
              <a:t>MSCU</a:t>
            </a:r>
          </a:p>
          <a:p xmlns:a="http://schemas.openxmlformats.org/drawingml/2006/main">
            <a:r>
              <a:t>M″</a:t>
            </a:r>
          </a:p>
          <a:p xmlns:a="http://schemas.openxmlformats.org/drawingml/2006/main">
            <a:r>
              <a:t>T</a:t>
            </a:r>
          </a:p>
          <a:p xmlns:a="http://schemas.openxmlformats.org/drawingml/2006/main">
            <a:r>
              <a:t>E</a:t>
            </a:r>
          </a:p>
          <a:p xmlns:a="http://schemas.openxmlformats.org/drawingml/2006/main">
            <a:r>
              <a:t>D</a:t>
            </a:r>
          </a:p>
          <a:p xmlns:a="http://schemas.openxmlformats.org/drawingml/2006/main">
            <a:r>
              <a:t>F</a:t>
            </a:r>
          </a:p>
          <a:p xmlns:a="http://schemas.openxmlformats.org/drawingml/2006/main">
            <a:r>
              <a:t>A</a:t>
            </a:r>
          </a:p>
          <a:p xmlns:a="http://schemas.openxmlformats.org/drawingml/2006/main">
            <a:r>
              <a:t/>
            </a:r>
          </a:p>
          <a:p xmlns:a="http://schemas.openxmlformats.org/drawingml/2006/main">
            <a:r>
              <a:t>Home gains </a:t>
            </a:r>
          </a:p>
          <a:p xmlns:a="http://schemas.openxmlformats.org/drawingml/2006/main">
            <a:r>
              <a:t>𝐴</a:t>
            </a:r>
          </a:p>
          <a:p xmlns:a="http://schemas.openxmlformats.org/drawingml/2006/main">
            <a:r>
              <a:t>+</a:t>
            </a:r>
          </a:p>
          <a:p xmlns:a="http://schemas.openxmlformats.org/drawingml/2006/main">
            <a:r>
              <a:t>𝐹</a:t>
            </a:r>
          </a:p>
          <a:p xmlns:a="http://schemas.openxmlformats.org/drawingml/2006/main">
            <a:r>
              <a:t>; Partner gains </a:t>
            </a:r>
          </a:p>
          <a:p xmlns:a="http://schemas.openxmlformats.org/drawingml/2006/main">
            <a:r>
              <a:t>𝐷</a:t>
            </a:r>
          </a:p>
          <a:p xmlns:a="http://schemas.openxmlformats.org/drawingml/2006/main">
            <a:r>
              <a:t>; RoW loses </a:t>
            </a:r>
          </a:p>
          <a:p xmlns:a="http://schemas.openxmlformats.org/drawingml/2006/main">
            <a:r>
              <a:t>𝐸</a:t>
            </a:r>
          </a:p>
          <a:p xmlns:a="http://schemas.openxmlformats.org/drawingml/2006/main">
            <a:r>
              <a:t>. A real trade cost generates no tariff revenue.</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https://davidchivers.co.uk/teaching/macro-applications/lecture_2.html#/l2-s23</a:t>
            </a:r>
          </a:p>
          <a:p xmlns:a="http://schemas.openxmlformats.org/drawingml/2006/main">
            <a:r>
              <a:t/>
            </a:r>
          </a:p>
          <a:p xmlns:a="http://schemas.openxmlformats.org/drawingml/2006/main">
            <a:r>
              <a:t>The incentives to join a CU</a:t>
            </a:r>
          </a:p>
          <a:p xmlns:a="http://schemas.openxmlformats.org/drawingml/2006/main">
            <a:r>
              <a:t/>
            </a:r>
          </a:p>
          <a:p xmlns:a="http://schemas.openxmlformats.org/drawingml/2006/main">
            <a:r>
              <a:t>We have seen that removing non-tariff barriers produces unambiguously positive welfare effects in this framework. This is not the case for tariff barriers.</a:t>
            </a:r>
          </a:p>
          <a:p xmlns:a="http://schemas.openxmlformats.org/drawingml/2006/main">
            <a:r>
              <a:t/>
            </a:r>
          </a:p>
          <a:p xmlns:a="http://schemas.openxmlformats.org/drawingml/2006/main">
            <a:r>
              <a:t>Question</a:t>
            </a:r>
          </a:p>
          <a:p xmlns:a="http://schemas.openxmlformats.org/drawingml/2006/main">
            <a:r>
              <a:t/>
            </a:r>
          </a:p>
          <a:p xmlns:a="http://schemas.openxmlformats.org/drawingml/2006/main">
            <a:r>
              <a:t>Why join a customs union? Would unilateral liberalisation towards the potential Partner be better?</a:t>
            </a:r>
          </a:p>
          <a:p xmlns:a="http://schemas.openxmlformats.org/drawingml/2006/main">
            <a:r>
              <a:t/>
            </a:r>
          </a:p>
          <a:p xmlns:a="http://schemas.openxmlformats.org/drawingml/2006/main">
            <a:r>
              <a:t>Answer</a:t>
            </a:r>
          </a:p>
          <a:p xmlns:a="http://schemas.openxmlformats.org/drawingml/2006/main">
            <a:r>
              <a:t/>
            </a:r>
          </a:p>
          <a:p xmlns:a="http://schemas.openxmlformats.org/drawingml/2006/main">
            <a:r>
              <a:t>Not necessarily: a country would not benefit from Partner’s tariff reduction within the customs union (area 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https://davidchivers.co.uk/teaching/macro-applications/lecture_2.html#/l2-s24</a:t>
            </a:r>
          </a:p>
          <a:p xmlns:a="http://schemas.openxmlformats.org/drawingml/2006/main">
            <a:r>
              <a:t/>
            </a:r>
          </a:p>
          <a:p xmlns:a="http://schemas.openxmlformats.org/drawingml/2006/main">
            <a:r>
              <a:t>Empirical evidence</a:t>
            </a:r>
          </a:p>
          <a:p xmlns:a="http://schemas.openxmlformats.org/drawingml/2006/main">
            <a:r>
              <a:t>Findings</a:t>
            </a:r>
          </a:p>
          <a:p xmlns:a="http://schemas.openxmlformats.org/drawingml/2006/main">
            <a:r>
              <a:t/>
            </a:r>
          </a:p>
          <a:p xmlns:a="http://schemas.openxmlformats.org/drawingml/2006/main">
            <a:r>
              <a:t>Trade creation exceeded trade diversion in Europe, but the gains were small (Baldwin and Venables, 1995).</a:t>
            </a:r>
          </a:p>
          <a:p xmlns:a="http://schemas.openxmlformats.org/drawingml/2006/main">
            <a:r>
              <a:t/>
            </a:r>
          </a:p>
          <a:p xmlns:a="http://schemas.openxmlformats.org/drawingml/2006/main">
            <a:r>
              <a:t>Little diversion: much of Europe’s trade was already intra-European.</a:t>
            </a:r>
          </a:p>
          <a:p xmlns:a="http://schemas.openxmlformats.org/drawingml/2006/main">
            <a:r>
              <a:t>Limited creation: initial trade barriers were low.</a:t>
            </a:r>
          </a:p>
          <a:p xmlns:a="http://schemas.openxmlformats.org/drawingml/2006/main">
            <a:r>
              <a:t>The perfect-competition framework has limitations.</a:t>
            </a:r>
          </a:p>
          <a:p xmlns:a="http://schemas.openxmlformats.org/drawingml/2006/main">
            <a:r>
              <a:t>Empirical challenges</a:t>
            </a:r>
          </a:p>
          <a:p xmlns:a="http://schemas.openxmlformats.org/drawingml/2006/main">
            <a:r>
              <a:t>Ex ante: quantifying effects in a theoretical framework is complicated (e.g. Miller et al., 1977).</a:t>
            </a:r>
          </a:p>
          <a:p xmlns:a="http://schemas.openxmlformats.org/drawingml/2006/main">
            <a:r>
              <a:t>Ex post: attributing increased intra-European trade, or reduced RoW trade, to customs-union membership is difficult (e.g. Winters, 1987).</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https://davidchivers.co.uk/teaching/macro-applications/lecture_2.html#/l2-s25</a:t>
            </a:r>
          </a:p>
          <a:p xmlns:a="http://schemas.openxmlformats.org/drawingml/2006/main">
            <a:r>
              <a:t/>
            </a:r>
          </a:p>
          <a:p xmlns:a="http://schemas.openxmlformats.org/drawingml/2006/main">
            <a:r>
              <a:t>Next lecture</a:t>
            </a:r>
          </a:p>
          <a:p xmlns:a="http://schemas.openxmlformats.org/drawingml/2006/main">
            <a:r>
              <a:t>We will talk about the competition effects of the Single Market Act.</a:t>
            </a:r>
          </a:p>
          <a:p xmlns:a="http://schemas.openxmlformats.org/drawingml/2006/main">
            <a:r>
              <a:t>Tip: revise the theory of the firm under monopoly and oligopoly (Cournot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https://davidchivers.co.uk/teaching/macro-applications/lecture_2.html#/l2-s26</a:t>
            </a:r>
          </a:p>
          <a:p xmlns:a="http://schemas.openxmlformats.org/drawingml/2006/main">
            <a:r>
              <a:t/>
            </a:r>
          </a:p>
          <a:p xmlns:a="http://schemas.openxmlformats.org/drawingml/2006/main">
            <a:r>
              <a:t>References</a:t>
            </a:r>
          </a:p>
          <a:p xmlns:a="http://schemas.openxmlformats.org/drawingml/2006/main">
            <a:r>
              <a:t>Essential reading</a:t>
            </a:r>
          </a:p>
          <a:p xmlns:a="http://schemas.openxmlformats.org/drawingml/2006/main">
            <a:r>
              <a:t>Baldwin R., Wyplosz C. (2022), The Economics of European Integration, Chapters 4 and 5</a:t>
            </a:r>
          </a:p>
          <a:p xmlns:a="http://schemas.openxmlformats.org/drawingml/2006/main">
            <a:r>
              <a:t>Further reading</a:t>
            </a:r>
          </a:p>
          <a:p xmlns:a="http://schemas.openxmlformats.org/drawingml/2006/main">
            <a:r>
              <a:t>Baldwin R., Venables A. (1995), Regional Economic Integration, Handbook of International Economics, Chapter 31.</a:t>
            </a:r>
          </a:p>
          <a:p xmlns:a="http://schemas.openxmlformats.org/drawingml/2006/main">
            <a:r>
              <a:t>Lee J.-W., Swagel P. (1997), Trade Barriers and Trade Flows Across Countries and Industries, Review of Economics and Statistics, 79 (3), pp. 372-382.</a:t>
            </a:r>
          </a:p>
          <a:p xmlns:a="http://schemas.openxmlformats.org/drawingml/2006/main">
            <a:r>
              <a:t>Miller M., Spencer J.E. (1977), The Static Economic Effects of the UK Joining the EEC: A General Equilibrium Approach, Review of Economic Studies, 44 (1), 71-93.</a:t>
            </a:r>
          </a:p>
          <a:p xmlns:a="http://schemas.openxmlformats.org/drawingml/2006/main">
            <a:r>
              <a:t>Winters L.A. (1987), Britain in Europe: a Survey of Quantitative Trade Studies, Journal of Common Market Studies, XXV (4), 315-335.</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ffeabb312654bc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821fcac4035418d" /><Relationship Type="http://schemas.openxmlformats.org/officeDocument/2006/relationships/slideLayout" Target="/ppt/slideLayouts/slideLayout1.xml" Id="Rd8e316bf6a79467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8e316bf6a79467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93ee8218e5a47e1" /><Relationship Type="http://schemas.openxmlformats.org/officeDocument/2006/relationships/image" Target="/ppt/media/image.jpeg" Id="R3b566e2c0b054249" /><Relationship Type="http://schemas.openxmlformats.org/officeDocument/2006/relationships/notesSlide" Target="/ppt/notesSlides/notesSlide1.xml" Id="Rcf61095d2f2b4f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573fc267de64491" /><Relationship Type="http://schemas.openxmlformats.org/officeDocument/2006/relationships/image" Target="/ppt/media/image2.jpeg" Id="R83c936006e9840d1" /><Relationship Type="http://schemas.openxmlformats.org/officeDocument/2006/relationships/notesSlide" Target="/ppt/notesSlides/notesSlide2.xml" Id="R76e7c52ee9bc471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495bc3a4ac74cc4" /><Relationship Type="http://schemas.openxmlformats.org/officeDocument/2006/relationships/image" Target="/ppt/media/image3.jpeg" Id="Rfa7448cc640c459a" /><Relationship Type="http://schemas.openxmlformats.org/officeDocument/2006/relationships/notesSlide" Target="/ppt/notesSlides/notesSlide3.xml" Id="Re22d4df7270443c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4f4864d2c474f6b" /><Relationship Type="http://schemas.openxmlformats.org/officeDocument/2006/relationships/image" Target="/ppt/media/image4.jpeg" Id="R563dc13b80624623" /><Relationship Type="http://schemas.openxmlformats.org/officeDocument/2006/relationships/notesSlide" Target="/ppt/notesSlides/notesSlide4.xml" Id="Rc8e5e081119e42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da6eccdc58142a5" /><Relationship Type="http://schemas.openxmlformats.org/officeDocument/2006/relationships/image" Target="/ppt/media/image5.jpeg" Id="R19271fc3292d40bc" /><Relationship Type="http://schemas.openxmlformats.org/officeDocument/2006/relationships/notesSlide" Target="/ppt/notesSlides/notesSlide5.xml" Id="Ra65a601f548b43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6d25d5683814fb2" /><Relationship Type="http://schemas.openxmlformats.org/officeDocument/2006/relationships/image" Target="/ppt/media/image6.jpeg" Id="R03c8f04748da40e8" /><Relationship Type="http://schemas.openxmlformats.org/officeDocument/2006/relationships/notesSlide" Target="/ppt/notesSlides/notesSlide6.xml" Id="R756c1d5e9bea48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2b2a7e9adb94a14" /><Relationship Type="http://schemas.openxmlformats.org/officeDocument/2006/relationships/image" Target="/ppt/media/image7.jpeg" Id="Rf06984bcbbd8471b" /><Relationship Type="http://schemas.openxmlformats.org/officeDocument/2006/relationships/notesSlide" Target="/ppt/notesSlides/notesSlide7.xml" Id="Rc4c66f52643341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23cb05845144b9a" /><Relationship Type="http://schemas.openxmlformats.org/officeDocument/2006/relationships/image" Target="/ppt/media/image8.jpeg" Id="R36a5e7cdbfb44695" /><Relationship Type="http://schemas.openxmlformats.org/officeDocument/2006/relationships/notesSlide" Target="/ppt/notesSlides/notesSlide8.xml" Id="R3e644cb800054f8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8fcfa3e62f64206" /><Relationship Type="http://schemas.openxmlformats.org/officeDocument/2006/relationships/image" Target="/ppt/media/image9.jpeg" Id="R525b3321a065455c" /><Relationship Type="http://schemas.openxmlformats.org/officeDocument/2006/relationships/notesSlide" Target="/ppt/notesSlides/notesSlide9.xml" Id="Ra5002d79b84640a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3037d3bb09f4a1e" /><Relationship Type="http://schemas.openxmlformats.org/officeDocument/2006/relationships/image" Target="/ppt/media/image10.jpeg" Id="Re5efd19b37c64750" /><Relationship Type="http://schemas.openxmlformats.org/officeDocument/2006/relationships/notesSlide" Target="/ppt/notesSlides/notesSlide10.xml" Id="Rabbd1e15524f477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dd9ec4de95b486e" /><Relationship Type="http://schemas.openxmlformats.org/officeDocument/2006/relationships/image" Target="/ppt/media/image11.jpeg" Id="Recb21e5203b640ea" /><Relationship Type="http://schemas.openxmlformats.org/officeDocument/2006/relationships/notesSlide" Target="/ppt/notesSlides/notesSlide11.xml" Id="Rf3117b56b8194b1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345e114a45e42f5" /><Relationship Type="http://schemas.openxmlformats.org/officeDocument/2006/relationships/image" Target="/ppt/media/image12.jpeg" Id="R0a5e47096fcb4fb9" /><Relationship Type="http://schemas.openxmlformats.org/officeDocument/2006/relationships/notesSlide" Target="/ppt/notesSlides/notesSlide12.xml" Id="R2e039c0b2e3f492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25435f3568a47ac" /><Relationship Type="http://schemas.openxmlformats.org/officeDocument/2006/relationships/image" Target="/ppt/media/image13.jpeg" Id="R577f064412c14825" /><Relationship Type="http://schemas.openxmlformats.org/officeDocument/2006/relationships/notesSlide" Target="/ppt/notesSlides/notesSlide13.xml" Id="R520e3d9314e842c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453a870883b43d2" /><Relationship Type="http://schemas.openxmlformats.org/officeDocument/2006/relationships/image" Target="/ppt/media/image14.jpeg" Id="Rded40a3d634b4354" /><Relationship Type="http://schemas.openxmlformats.org/officeDocument/2006/relationships/notesSlide" Target="/ppt/notesSlides/notesSlide14.xml" Id="Rcb3c2af66c00454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8cc249e71824f24" /><Relationship Type="http://schemas.openxmlformats.org/officeDocument/2006/relationships/image" Target="/ppt/media/image15.jpeg" Id="Rc0c8e46e7f86413f" /><Relationship Type="http://schemas.openxmlformats.org/officeDocument/2006/relationships/notesSlide" Target="/ppt/notesSlides/notesSlide15.xml" Id="Re359c4c4716e405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eb1996c13844330" /><Relationship Type="http://schemas.openxmlformats.org/officeDocument/2006/relationships/image" Target="/ppt/media/image16.jpeg" Id="R02d690b6e02f442d" /><Relationship Type="http://schemas.openxmlformats.org/officeDocument/2006/relationships/notesSlide" Target="/ppt/notesSlides/notesSlide16.xml" Id="R75277b60463b424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83e61a75dad443d" /><Relationship Type="http://schemas.openxmlformats.org/officeDocument/2006/relationships/image" Target="/ppt/media/image17.jpeg" Id="Ra4d70e0a65664a6a" /><Relationship Type="http://schemas.openxmlformats.org/officeDocument/2006/relationships/notesSlide" Target="/ppt/notesSlides/notesSlide17.xml" Id="Rbd18d5f745a24b2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a4b7d1a6ed94902" /><Relationship Type="http://schemas.openxmlformats.org/officeDocument/2006/relationships/image" Target="/ppt/media/image18.jpeg" Id="R4a926716a4224aa2" /><Relationship Type="http://schemas.openxmlformats.org/officeDocument/2006/relationships/notesSlide" Target="/ppt/notesSlides/notesSlide18.xml" Id="Rbfdccad8288d4d4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73bcad07ee643c0" /><Relationship Type="http://schemas.openxmlformats.org/officeDocument/2006/relationships/image" Target="/ppt/media/image19.jpeg" Id="R453c7898c4a6427d" /><Relationship Type="http://schemas.openxmlformats.org/officeDocument/2006/relationships/notesSlide" Target="/ppt/notesSlides/notesSlide19.xml" Id="R23afd4974b28443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e2cdfdf2c5d450c" /><Relationship Type="http://schemas.openxmlformats.org/officeDocument/2006/relationships/image" Target="/ppt/media/image20.jpeg" Id="R89de918d810f4ed9" /><Relationship Type="http://schemas.openxmlformats.org/officeDocument/2006/relationships/notesSlide" Target="/ppt/notesSlides/notesSlide20.xml" Id="R17cde2897881442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3ff145f88ec492f" /><Relationship Type="http://schemas.openxmlformats.org/officeDocument/2006/relationships/image" Target="/ppt/media/image21.jpeg" Id="R1cad486408764385" /><Relationship Type="http://schemas.openxmlformats.org/officeDocument/2006/relationships/notesSlide" Target="/ppt/notesSlides/notesSlide21.xml" Id="Rbceaf20a281b410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9bc3df367924b57" /><Relationship Type="http://schemas.openxmlformats.org/officeDocument/2006/relationships/image" Target="/ppt/media/image22.jpeg" Id="R848466d4817f4bdc" /><Relationship Type="http://schemas.openxmlformats.org/officeDocument/2006/relationships/notesSlide" Target="/ppt/notesSlides/notesSlide22.xml" Id="R53fb855b17da44b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e38bb9fe0d449a9" /><Relationship Type="http://schemas.openxmlformats.org/officeDocument/2006/relationships/image" Target="/ppt/media/image23.jpeg" Id="Rf5fb51020194451a" /><Relationship Type="http://schemas.openxmlformats.org/officeDocument/2006/relationships/notesSlide" Target="/ppt/notesSlides/notesSlide23.xml" Id="R3f6c6c238f5d4f1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257def086694052" /><Relationship Type="http://schemas.openxmlformats.org/officeDocument/2006/relationships/image" Target="/ppt/media/image24.jpeg" Id="Re4586138c78c4cbd" /><Relationship Type="http://schemas.openxmlformats.org/officeDocument/2006/relationships/notesSlide" Target="/ppt/notesSlides/notesSlide24.xml" Id="R5355bfc14b8e46a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116ffc4bbbc4785" /><Relationship Type="http://schemas.openxmlformats.org/officeDocument/2006/relationships/image" Target="/ppt/media/image25.jpeg" Id="R5f450a2cc7ec495c" /><Relationship Type="http://schemas.openxmlformats.org/officeDocument/2006/relationships/notesSlide" Target="/ppt/notesSlides/notesSlide25.xml" Id="R9ad79249ead84bb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337ffa4725a45e1" /><Relationship Type="http://schemas.openxmlformats.org/officeDocument/2006/relationships/image" Target="/ppt/media/image26.jpeg" Id="R9c0672355c3442c1" /><Relationship Type="http://schemas.openxmlformats.org/officeDocument/2006/relationships/notesSlide" Target="/ppt/notesSlides/notesSlide26.xml" Id="R0e8e81b360224e6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b566e2c0b05424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641502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3c936006e9840d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442454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a7448cc640c459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6978895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63dc13b8062462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5446289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9271fc3292d40b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5720116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3c8f04748da40e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9880948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06984bcbbd8471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6378146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6a5e7cdbfb4469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2810973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25b3321a065455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1604768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5efd19b37c6475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6874636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cb21e5203b640e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7335173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a5e47096fcb4fb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5236253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77f064412c1482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4821097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ed40a3d634b435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333579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0c8e46e7f86413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3162115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2d690b6e02f442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981294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4d70e0a65664a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3100224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a926716a4224aa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58695123"/>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53c7898c4a6427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3726580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9de918d810f4ed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9576226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cad48640876438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630180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48466d4817f4bd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0556918"/>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5fb51020194451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5723533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4586138c78c4cb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93319508"/>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f450a2cc7ec495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084800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c0672355c3442c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639619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2026-10-05T09:23:02.1350000Z</dcterms:created>
  <dcterms:modified xsi:type="dcterms:W3CDTF">2026-10-05T09:23:02.1350000Z</dcterms:modified>
</coreProperties>
</file>