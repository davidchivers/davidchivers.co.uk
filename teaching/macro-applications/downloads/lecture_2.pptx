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b9452f9c9242d5" /><Relationship Type="http://schemas.openxmlformats.org/officeDocument/2006/relationships/extended-properties" Target="/docProps/app.xml" Id="Ra5a48f721a6c447e" /><Relationship Type="http://schemas.openxmlformats.org/officeDocument/2006/relationships/officeDocument" Target="/ppt/presentation.xml" Id="R097123e9e16d4c79" /></Relationships>
</file>

<file path=ppt/presentation.xml><?xml version="1.0" encoding="utf-8"?>
<p:presentation xmlns:p="http://schemas.openxmlformats.org/presentationml/2006/main">
  <p:sldMasterIdLst>
    <p:sldMasterId xmlns:r="http://schemas.openxmlformats.org/officeDocument/2006/relationships" id="2147483648" r:id="Rc41e22a2ee6545ce"/>
  </p:sldMasterIdLst>
  <p:notesMasterIdLst>
    <p:notesMasterId xmlns:r="http://schemas.openxmlformats.org/officeDocument/2006/relationships" r:id="R6ef9ed51e7994105"/>
  </p:notesMasterIdLst>
  <p:sldIdLst>
    <p:sldId xmlns:r="http://schemas.openxmlformats.org/officeDocument/2006/relationships" id="256" r:id="R9a6c7ecab314471b"/>
    <p:sldId xmlns:r="http://schemas.openxmlformats.org/officeDocument/2006/relationships" id="257" r:id="Ree027d07adb84f8c"/>
    <p:sldId xmlns:r="http://schemas.openxmlformats.org/officeDocument/2006/relationships" id="258" r:id="R48afc9e2aedb4e7d"/>
    <p:sldId xmlns:r="http://schemas.openxmlformats.org/officeDocument/2006/relationships" id="259" r:id="R30a98648770542e4"/>
    <p:sldId xmlns:r="http://schemas.openxmlformats.org/officeDocument/2006/relationships" id="260" r:id="R9463a0d11fad4422"/>
    <p:sldId xmlns:r="http://schemas.openxmlformats.org/officeDocument/2006/relationships" id="261" r:id="Ra323955d08d7478a"/>
    <p:sldId xmlns:r="http://schemas.openxmlformats.org/officeDocument/2006/relationships" id="262" r:id="R78cf89ab53fa403b"/>
    <p:sldId xmlns:r="http://schemas.openxmlformats.org/officeDocument/2006/relationships" id="263" r:id="R70734fca53454def"/>
    <p:sldId xmlns:r="http://schemas.openxmlformats.org/officeDocument/2006/relationships" id="264" r:id="Rf3492febd65c4f95"/>
    <p:sldId xmlns:r="http://schemas.openxmlformats.org/officeDocument/2006/relationships" id="265" r:id="R3860d8076e154f69"/>
    <p:sldId xmlns:r="http://schemas.openxmlformats.org/officeDocument/2006/relationships" id="266" r:id="Ra850657bb5094388"/>
    <p:sldId xmlns:r="http://schemas.openxmlformats.org/officeDocument/2006/relationships" id="267" r:id="Rc5a5845ce4834a7f"/>
    <p:sldId xmlns:r="http://schemas.openxmlformats.org/officeDocument/2006/relationships" id="268" r:id="R4ffe4a2814784c88"/>
    <p:sldId xmlns:r="http://schemas.openxmlformats.org/officeDocument/2006/relationships" id="269" r:id="R4a019b5c41464d7c"/>
    <p:sldId xmlns:r="http://schemas.openxmlformats.org/officeDocument/2006/relationships" id="270" r:id="R89ce00786e774e09"/>
    <p:sldId xmlns:r="http://schemas.openxmlformats.org/officeDocument/2006/relationships" id="271" r:id="Rf4e88f16e99b439f"/>
    <p:sldId xmlns:r="http://schemas.openxmlformats.org/officeDocument/2006/relationships" id="272" r:id="R7831d10b913848f7"/>
    <p:sldId xmlns:r="http://schemas.openxmlformats.org/officeDocument/2006/relationships" id="273" r:id="R2be4ec221835422b"/>
    <p:sldId xmlns:r="http://schemas.openxmlformats.org/officeDocument/2006/relationships" id="274" r:id="R3986150f47484113"/>
    <p:sldId xmlns:r="http://schemas.openxmlformats.org/officeDocument/2006/relationships" id="275" r:id="R234af501c4c34e37"/>
    <p:sldId xmlns:r="http://schemas.openxmlformats.org/officeDocument/2006/relationships" id="276" r:id="R5bac5d740a2042ac"/>
    <p:sldId xmlns:r="http://schemas.openxmlformats.org/officeDocument/2006/relationships" id="277" r:id="R5bbbe55985c04624"/>
    <p:sldId xmlns:r="http://schemas.openxmlformats.org/officeDocument/2006/relationships" id="278" r:id="R2ac35052329f42c6"/>
    <p:sldId xmlns:r="http://schemas.openxmlformats.org/officeDocument/2006/relationships" id="279" r:id="R573eacecdac249a1"/>
    <p:sldId xmlns:r="http://schemas.openxmlformats.org/officeDocument/2006/relationships" id="280" r:id="R271698c97e0c46b9"/>
    <p:sldId xmlns:r="http://schemas.openxmlformats.org/officeDocument/2006/relationships" id="281" r:id="Rf26a48ec38d646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d8372b990204723" /><Relationship Type="http://schemas.openxmlformats.org/officeDocument/2006/relationships/slideMaster" Target="/ppt/slideMasters/slideMaster1.xml" Id="Rc41e22a2ee6545ce" /><Relationship Type="http://schemas.openxmlformats.org/officeDocument/2006/relationships/notesMaster" Target="/ppt/notesMasters/notesMaster1.xml" Id="R6ef9ed51e7994105" /><Relationship Type="http://schemas.openxmlformats.org/officeDocument/2006/relationships/presProps" Target="/ppt/presProps.xml" Id="Rbc2a100d2f41449f" /><Relationship Type="http://schemas.openxmlformats.org/officeDocument/2006/relationships/tableStyles" Target="/ppt/tableStyles.xml" Id="R98902ebf70c54d28" /><Relationship Type="http://schemas.openxmlformats.org/officeDocument/2006/relationships/slide" Target="/ppt/slides/slide1.xml" Id="R9a6c7ecab314471b" /><Relationship Type="http://schemas.openxmlformats.org/officeDocument/2006/relationships/slide" Target="/ppt/slides/slide2.xml" Id="Ree027d07adb84f8c" /><Relationship Type="http://schemas.openxmlformats.org/officeDocument/2006/relationships/slide" Target="/ppt/slides/slide3.xml" Id="R48afc9e2aedb4e7d" /><Relationship Type="http://schemas.openxmlformats.org/officeDocument/2006/relationships/slide" Target="/ppt/slides/slide4.xml" Id="R30a98648770542e4" /><Relationship Type="http://schemas.openxmlformats.org/officeDocument/2006/relationships/slide" Target="/ppt/slides/slide5.xml" Id="R9463a0d11fad4422" /><Relationship Type="http://schemas.openxmlformats.org/officeDocument/2006/relationships/slide" Target="/ppt/slides/slide6.xml" Id="Ra323955d08d7478a" /><Relationship Type="http://schemas.openxmlformats.org/officeDocument/2006/relationships/slide" Target="/ppt/slides/slide7.xml" Id="R78cf89ab53fa403b" /><Relationship Type="http://schemas.openxmlformats.org/officeDocument/2006/relationships/slide" Target="/ppt/slides/slide8.xml" Id="R70734fca53454def" /><Relationship Type="http://schemas.openxmlformats.org/officeDocument/2006/relationships/slide" Target="/ppt/slides/slide9.xml" Id="Rf3492febd65c4f95" /><Relationship Type="http://schemas.openxmlformats.org/officeDocument/2006/relationships/slide" Target="/ppt/slides/slide10.xml" Id="R3860d8076e154f69" /><Relationship Type="http://schemas.openxmlformats.org/officeDocument/2006/relationships/slide" Target="/ppt/slides/slide11.xml" Id="Ra850657bb5094388" /><Relationship Type="http://schemas.openxmlformats.org/officeDocument/2006/relationships/slide" Target="/ppt/slides/slide12.xml" Id="Rc5a5845ce4834a7f" /><Relationship Type="http://schemas.openxmlformats.org/officeDocument/2006/relationships/slide" Target="/ppt/slides/slide13.xml" Id="R4ffe4a2814784c88" /><Relationship Type="http://schemas.openxmlformats.org/officeDocument/2006/relationships/slide" Target="/ppt/slides/slide14.xml" Id="R4a019b5c41464d7c" /><Relationship Type="http://schemas.openxmlformats.org/officeDocument/2006/relationships/slide" Target="/ppt/slides/slide15.xml" Id="R89ce00786e774e09" /><Relationship Type="http://schemas.openxmlformats.org/officeDocument/2006/relationships/slide" Target="/ppt/slides/slide16.xml" Id="Rf4e88f16e99b439f" /><Relationship Type="http://schemas.openxmlformats.org/officeDocument/2006/relationships/slide" Target="/ppt/slides/slide17.xml" Id="R7831d10b913848f7" /><Relationship Type="http://schemas.openxmlformats.org/officeDocument/2006/relationships/slide" Target="/ppt/slides/slide18.xml" Id="R2be4ec221835422b" /><Relationship Type="http://schemas.openxmlformats.org/officeDocument/2006/relationships/slide" Target="/ppt/slides/slide19.xml" Id="R3986150f47484113" /><Relationship Type="http://schemas.openxmlformats.org/officeDocument/2006/relationships/slide" Target="/ppt/slides/slide20.xml" Id="R234af501c4c34e37" /><Relationship Type="http://schemas.openxmlformats.org/officeDocument/2006/relationships/slide" Target="/ppt/slides/slide21.xml" Id="R5bac5d740a2042ac" /><Relationship Type="http://schemas.openxmlformats.org/officeDocument/2006/relationships/slide" Target="/ppt/slides/slide22.xml" Id="R5bbbe55985c04624" /><Relationship Type="http://schemas.openxmlformats.org/officeDocument/2006/relationships/slide" Target="/ppt/slides/slide23.xml" Id="R2ac35052329f42c6" /><Relationship Type="http://schemas.openxmlformats.org/officeDocument/2006/relationships/slide" Target="/ppt/slides/slide24.xml" Id="R573eacecdac249a1" /><Relationship Type="http://schemas.openxmlformats.org/officeDocument/2006/relationships/slide" Target="/ppt/slides/slide25.xml" Id="R271698c97e0c46b9" /><Relationship Type="http://schemas.openxmlformats.org/officeDocument/2006/relationships/slide" Target="/ppt/slides/slide26.xml" Id="Rf26a48ec38d646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5919dafc3140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2c92d154fc44d64" /><Relationship Type="http://schemas.openxmlformats.org/officeDocument/2006/relationships/notesMaster" Target="/ppt/notesMasters/notesMaster1.xml" Id="Re4949b937f474c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12982c662934f66" /><Relationship Type="http://schemas.openxmlformats.org/officeDocument/2006/relationships/notesMaster" Target="/ppt/notesMasters/notesMaster1.xml" Id="R570fb49ca4f24f5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2b6510c809404e" /><Relationship Type="http://schemas.openxmlformats.org/officeDocument/2006/relationships/notesMaster" Target="/ppt/notesMasters/notesMaster1.xml" Id="Rb9a7a33b31544b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3cdda7f552468d" /><Relationship Type="http://schemas.openxmlformats.org/officeDocument/2006/relationships/notesMaster" Target="/ppt/notesMasters/notesMaster1.xml" Id="R4b8d18dd102141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4c23e846aa4832" /><Relationship Type="http://schemas.openxmlformats.org/officeDocument/2006/relationships/notesMaster" Target="/ppt/notesMasters/notesMaster1.xml" Id="R801195b442334cb5"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eef03204694397" /><Relationship Type="http://schemas.openxmlformats.org/officeDocument/2006/relationships/notesMaster" Target="/ppt/notesMasters/notesMaster1.xml" Id="Rc86de711cfbd45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acfedbee5d4f15" /><Relationship Type="http://schemas.openxmlformats.org/officeDocument/2006/relationships/notesMaster" Target="/ppt/notesMasters/notesMaster1.xml" Id="R288027058dd74c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1ce61d15716d4d7f" /><Relationship Type="http://schemas.openxmlformats.org/officeDocument/2006/relationships/notesMaster" Target="/ppt/notesMasters/notesMaster1.xml" Id="Rc5c6743a30a74b5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299a2f9ee6e4e44" /><Relationship Type="http://schemas.openxmlformats.org/officeDocument/2006/relationships/notesMaster" Target="/ppt/notesMasters/notesMaster1.xml" Id="Rcda7bbb766e0468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08fb9531044174" /><Relationship Type="http://schemas.openxmlformats.org/officeDocument/2006/relationships/notesMaster" Target="/ppt/notesMasters/notesMaster1.xml" Id="R654284d33c384d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89cfb22d0ef40fd" /><Relationship Type="http://schemas.openxmlformats.org/officeDocument/2006/relationships/notesMaster" Target="/ppt/notesMasters/notesMaster1.xml" Id="R12f9cf7dfde2499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c18af042d34f2f" /><Relationship Type="http://schemas.openxmlformats.org/officeDocument/2006/relationships/notesMaster" Target="/ppt/notesMasters/notesMaster1.xml" Id="Rd4a1d7316b3d45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a3852060d04720" /><Relationship Type="http://schemas.openxmlformats.org/officeDocument/2006/relationships/notesMaster" Target="/ppt/notesMasters/notesMaster1.xml" Id="Rcc3d4c3e98a844d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592ed56cfc74655" /><Relationship Type="http://schemas.openxmlformats.org/officeDocument/2006/relationships/notesMaster" Target="/ppt/notesMasters/notesMaster1.xml" Id="R118ca4e9c60a4e1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be30e09df2f4c2d" /><Relationship Type="http://schemas.openxmlformats.org/officeDocument/2006/relationships/notesMaster" Target="/ppt/notesMasters/notesMaster1.xml" Id="R79a5f843a3a843d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fde9fc5e614f21" /><Relationship Type="http://schemas.openxmlformats.org/officeDocument/2006/relationships/notesMaster" Target="/ppt/notesMasters/notesMaster1.xml" Id="R686c98054bf34f3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86a68d17c814ced" /><Relationship Type="http://schemas.openxmlformats.org/officeDocument/2006/relationships/notesMaster" Target="/ppt/notesMasters/notesMaster1.xml" Id="R2d13d2d1f8c441f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4147b655ccc4d31" /><Relationship Type="http://schemas.openxmlformats.org/officeDocument/2006/relationships/notesMaster" Target="/ppt/notesMasters/notesMaster1.xml" Id="Rf33c6ec2a22e4d1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c41d7c706564f09" /><Relationship Type="http://schemas.openxmlformats.org/officeDocument/2006/relationships/notesMaster" Target="/ppt/notesMasters/notesMaster1.xml" Id="Rcae0138e500d4ce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9ee6ef5425d4d05" /><Relationship Type="http://schemas.openxmlformats.org/officeDocument/2006/relationships/notesMaster" Target="/ppt/notesMasters/notesMaster1.xml" Id="Rbe5ea13906e5456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d929df9aaef4c39" /><Relationship Type="http://schemas.openxmlformats.org/officeDocument/2006/relationships/notesMaster" Target="/ppt/notesMasters/notesMaster1.xml" Id="Re7cacf1a644a4d4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eff66829f734e95" /><Relationship Type="http://schemas.openxmlformats.org/officeDocument/2006/relationships/notesMaster" Target="/ppt/notesMasters/notesMaster1.xml" Id="Rd911b97113c542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74679148eca42c7" /><Relationship Type="http://schemas.openxmlformats.org/officeDocument/2006/relationships/notesMaster" Target="/ppt/notesMasters/notesMaster1.xml" Id="R2180f7085cba450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2889b2cafc647c6" /><Relationship Type="http://schemas.openxmlformats.org/officeDocument/2006/relationships/notesMaster" Target="/ppt/notesMasters/notesMaster1.xml" Id="Rb51c62814d17400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b1e518fd7d54b56" /><Relationship Type="http://schemas.openxmlformats.org/officeDocument/2006/relationships/notesMaster" Target="/ppt/notesMasters/notesMaster1.xml" Id="Ra3be10e055304d0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b8443e41d57449c" /><Relationship Type="http://schemas.openxmlformats.org/officeDocument/2006/relationships/notesMaster" Target="/ppt/notesMasters/notesMaster1.xml" Id="R3ae69a5e165342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2: Customs unions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a:t>
            </a:r>
          </a:p>
          <a:p xmlns:a="http://schemas.openxmlformats.org/drawingml/2006/main">
            <a:r>
              <a:t>One of the main goals of the Treaty of Rome was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lecture, you will be able to:</a:t>
            </a:r>
          </a:p>
          <a:p xmlns:a="http://schemas.openxmlformats.org/drawingml/2006/main">
            <a:r>
              <a:t/>
            </a:r>
          </a:p>
          <a:p xmlns:a="http://schemas.openxmlformats.org/drawingml/2006/main">
            <a:r>
              <a:t>Analyse the welfare effects of joining a customs union:</a:t>
            </a:r>
          </a:p>
          <a:p xmlns:a="http://schemas.openxmlformats.org/drawingml/2006/main">
            <a:r>
              <a:t>Removal of tariff barriers and establishment of a common external tariff (1958–1968).</a:t>
            </a:r>
          </a:p>
          <a:p xmlns:a="http://schemas.openxmlformats.org/drawingml/2006/main">
            <a:r>
              <a:t>Removal of non-tariff barriers (1986–1992).</a:t>
            </a:r>
          </a:p>
          <a:p xmlns:a="http://schemas.openxmlformats.org/drawingml/2006/main">
            <a:r>
              <a:t>Understand the economic incentives to join a preferential trade agreement.</a:t>
            </a:r>
          </a:p>
          <a:p xmlns:a="http://schemas.openxmlformats.org/drawingml/2006/main">
            <a:r>
              <a:t>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a:t>
            </a:r>
          </a:p>
          <a:p xmlns:a="http://schemas.openxmlformats.org/drawingml/2006/main">
            <a:r>
              <a:t>MERCOSUR</a:t>
            </a:r>
          </a:p>
          <a:p xmlns:a="http://schemas.openxmlformats.org/drawingml/2006/main">
            <a:r>
              <a:t>CARICOM</a:t>
            </a:r>
          </a:p>
          <a:p xmlns:a="http://schemas.openxmlformats.org/drawingml/2006/main">
            <a:r>
              <a:t>CACM</a:t>
            </a:r>
          </a:p>
          <a:p xmlns:a="http://schemas.openxmlformats.org/drawingml/2006/main">
            <a:r>
              <a:t>CAN</a:t>
            </a:r>
          </a:p>
          <a:p xmlns:a="http://schemas.openxmlformats.org/drawingml/2006/main">
            <a:r>
              <a:t>CH-FL</a:t>
            </a:r>
          </a:p>
          <a:p xmlns:a="http://schemas.openxmlformats.org/drawingml/2006/main">
            <a:r>
              <a:t>EUCU</a:t>
            </a:r>
          </a:p>
          <a:p xmlns:a="http://schemas.openxmlformats.org/drawingml/2006/main">
            <a:r>
              <a:t>EACU</a:t>
            </a:r>
          </a:p>
          <a:p xmlns:a="http://schemas.openxmlformats.org/drawingml/2006/main">
            <a:r>
              <a:t>GCC</a:t>
            </a:r>
          </a:p>
          <a:p xmlns:a="http://schemas.openxmlformats.org/drawingml/2006/main">
            <a:r>
              <a:t>EAC</a:t>
            </a:r>
          </a:p>
          <a:p xmlns:a="http://schemas.openxmlformats.org/drawingml/2006/main">
            <a:r>
              <a:t>WAEMU</a:t>
            </a:r>
          </a:p>
          <a:p xmlns:a="http://schemas.openxmlformats.org/drawingml/2006/main">
            <a:r>
              <a:t>CEMAC</a:t>
            </a:r>
          </a:p>
          <a:p xmlns:a="http://schemas.openxmlformats.org/drawingml/2006/main">
            <a:r>
              <a:t>SACU</a:t>
            </a:r>
          </a:p>
          <a:p xmlns:a="http://schemas.openxmlformats.org/drawingml/2006/main">
            <a:r>
              <a:t>Explore a trade bloc</a:t>
            </a:r>
          </a:p>
          <a:p xmlns:a="http://schemas.openxmlformats.org/drawingml/2006/main">
            <a:r>
              <a:t/>
            </a:r>
          </a:p>
          <a:p xmlns:a="http://schemas.openxmlformats.org/drawingml/2006/main">
            <a:r>
              <a:t>Hover over a coloured region, or select its abbreviation below.</a:t>
            </a:r>
          </a:p>
          <a:p xmlns:a="http://schemas.openxmlformats.org/drawingml/2006/main">
            <a:r>
              <a:t/>
            </a:r>
          </a:p>
          <a:p xmlns:a="http://schemas.openxmlformats.org/drawingml/2006/main">
            <a:r>
              <a:t>A customs union removes internal tariffs and adopts a common external tariff.</a:t>
            </a:r>
          </a:p>
          <a:p xmlns:a="http://schemas.openxmlformats.org/drawingml/2006/main">
            <a:r>
              <a:t/>
            </a:r>
          </a:p>
          <a:p xmlns:a="http://schemas.openxmlformats.org/drawingml/2006/main">
            <a:r>
              <a:t>EUCU</a:t>
            </a:r>
          </a:p>
          <a:p xmlns:a="http://schemas.openxmlformats.org/drawingml/2006/main">
            <a:r>
              <a:t>EACU</a:t>
            </a:r>
          </a:p>
          <a:p xmlns:a="http://schemas.openxmlformats.org/drawingml/2006/main">
            <a:r>
              <a:t>MERCOSUR</a:t>
            </a:r>
          </a:p>
          <a:p xmlns:a="http://schemas.openxmlformats.org/drawingml/2006/main">
            <a:r>
              <a:t>CAN</a:t>
            </a:r>
          </a:p>
          <a:p xmlns:a="http://schemas.openxmlformats.org/drawingml/2006/main">
            <a:r>
              <a:t>CACM</a:t>
            </a:r>
          </a:p>
          <a:p xmlns:a="http://schemas.openxmlformats.org/drawingml/2006/main">
            <a:r>
              <a:t>CARICOM</a:t>
            </a:r>
          </a:p>
          <a:p xmlns:a="http://schemas.openxmlformats.org/drawingml/2006/main">
            <a:r>
              <a:t>WAEMU</a:t>
            </a:r>
          </a:p>
          <a:p xmlns:a="http://schemas.openxmlformats.org/drawingml/2006/main">
            <a:r>
              <a:t>CEMAC</a:t>
            </a:r>
          </a:p>
          <a:p xmlns:a="http://schemas.openxmlformats.org/drawingml/2006/main">
            <a:r>
              <a:t>EAC</a:t>
            </a:r>
          </a:p>
          <a:p xmlns:a="http://schemas.openxmlformats.org/drawingml/2006/main">
            <a:r>
              <a:t>SACU</a:t>
            </a:r>
          </a:p>
          <a:p xmlns:a="http://schemas.openxmlformats.org/drawingml/2006/main">
            <a:r>
              <a:t>GCC</a:t>
            </a:r>
          </a:p>
          <a:p xmlns:a="http://schemas.openxmlformats.org/drawingml/2006/main">
            <a:r>
              <a:t>CH-FL</a:t>
            </a:r>
          </a:p>
          <a:p xmlns:a="http://schemas.openxmlformats.org/drawingml/2006/main">
            <a:r>
              <a:t/>
            </a:r>
          </a:p>
          <a:p xmlns:a="http://schemas.openxmlformats.org/drawingml/2006/main">
            <a:r>
              <a:t>Historical illustration · membership and implementation vary. Map source (2021 revision, adapted); customs unions in practice.</a:t>
            </a:r>
          </a:p>
          <a:p xmlns:a="http://schemas.openxmlformats.org/drawingml/2006/main">
            <a:r>
              <a:t/>
            </a:r>
          </a:p>
          <a:p xmlns:a="http://schemas.openxmlformats.org/drawingml/2006/main">
            <a:r>
              <a:t>Historical world map of customs unions and trade blocs. Named controls provide descriptions in the online slide.</a:t>
            </a:r>
          </a:p>
          <a:p xmlns:a="http://schemas.openxmlformats.org/drawingml/2006/main">
            <a:r>
              <a:t/>
            </a:r>
          </a:p>
          <a:p xmlns:a="http://schemas.openxmlformats.org/drawingml/2006/main">
            <a:r>
              <a:t>https://commons.wikimedia.org/wiki/File:Customs_Unions_World.svg</a:t>
            </a:r>
          </a:p>
          <a:p xmlns:a="http://schemas.openxmlformats.org/drawingml/2006/main">
            <a:r>
              <a:t>https://www.uktpo.org/2018/03/29/what-can-the-uk-learn-from-existing-customs-unions/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Tariff removal: who benefits?</a:t>
            </a:r>
          </a:p>
          <a:p xmlns:a="http://schemas.openxmlformats.org/drawingml/2006/main">
            <a:r>
              <a:t/>
            </a:r>
          </a:p>
          <a:p xmlns:a="http://schemas.openxmlformats.org/drawingml/2006/main">
            <a:r>
              <a:t>Is the removal of tariff barriers beneficial for all countries involved?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a:t>
            </a:r>
          </a:p>
          <a:p xmlns:a="http://schemas.openxmlformats.org/drawingml/2006/main">
            <a:r>
              <a:t>Perfect competition</a:t>
            </a:r>
          </a:p>
          <a:p xmlns:a="http://schemas.openxmlformats.org/drawingml/2006/main">
            <a:r>
              <a:t>Full employment</a:t>
            </a:r>
          </a:p>
          <a:p xmlns:a="http://schemas.openxmlformats.org/drawingml/2006/main">
            <a:r>
              <a:t>No transport costs</a:t>
            </a:r>
          </a:p>
          <a:p xmlns:a="http://schemas.openxmlformats.org/drawingml/2006/main">
            <a:r>
              <a:t>Perfect factor mobility (capital and labour)</a:t>
            </a:r>
          </a:p>
          <a:p xmlns:a="http://schemas.openxmlformats.org/drawingml/2006/main">
            <a:r>
              <a:t>Firms optimise (P=MR=MC)</a:t>
            </a:r>
          </a:p>
          <a:p xmlns:a="http://schemas.openxmlformats.org/drawingml/2006/main">
            <a:r>
              <a:t>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a:t>
            </a:r>
          </a:p>
          <a:p xmlns:a="http://schemas.openxmlformats.org/drawingml/2006/main">
            <a:r>
              <a:t>A simple, symmetric framework</a:t>
            </a:r>
          </a:p>
          <a:p xmlns:a="http://schemas.openxmlformats.org/drawingml/2006/main">
            <a:r>
              <a:t>Good 1</a:t>
            </a:r>
          </a:p>
          <a:p xmlns:a="http://schemas.openxmlformats.org/drawingml/2006/main">
            <a:r>
              <a:t>Good 1</a:t>
            </a:r>
          </a:p>
          <a:p xmlns:a="http://schemas.openxmlformats.org/drawingml/2006/main">
            <a:r>
              <a:t>Good 2</a:t>
            </a:r>
          </a:p>
          <a:p xmlns:a="http://schemas.openxmlformats.org/drawingml/2006/main">
            <a:r>
              <a:t>Good 2</a:t>
            </a:r>
          </a:p>
          <a:p xmlns:a="http://schemas.openxmlformats.org/drawingml/2006/main">
            <a:r>
              <a:t>Good 3</a:t>
            </a:r>
          </a:p>
          <a:p xmlns:a="http://schemas.openxmlformats.org/drawingml/2006/main">
            <a:r>
              <a:t>Good 3</a:t>
            </a:r>
          </a:p>
          <a:p xmlns:a="http://schemas.openxmlformats.org/drawingml/2006/main">
            <a:r>
              <a:t>Home</a:t>
            </a:r>
          </a:p>
          <a:p xmlns:a="http://schemas.openxmlformats.org/drawingml/2006/main">
            <a:r>
              <a:t>Partner</a:t>
            </a:r>
          </a:p>
          <a:p xmlns:a="http://schemas.openxmlformats.org/drawingml/2006/main">
            <a:r>
              <a:t>RoW</a:t>
            </a:r>
          </a:p>
          <a:p xmlns:a="http://schemas.openxmlformats.org/drawingml/2006/main">
            <a:r>
              <a:t/>
            </a:r>
          </a:p>
          <a:p xmlns:a="http://schemas.openxmlformats.org/drawingml/2006/main">
            <a:r>
              <a:t>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a:t>
            </a:r>
          </a:p>
          <a:p xmlns:a="http://schemas.openxmlformats.org/drawingml/2006/main">
            <a:r>
              <a:t/>
            </a:r>
          </a:p>
          <a:p xmlns:a="http://schemas.openxmlformats.org/drawingml/2006/main">
            <a:r>
              <a:t>Below Home’s autarky price, imports equal domestic demand minus domestic supply: </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
            </a:r>
          </a:p>
          <a:p xmlns:a="http://schemas.openxmlformats.org/drawingml/2006/main">
            <a:r>
              <a:t>The highlighted quantity intervals are equal: imports are the gap between demand and supply.</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a:t>
            </a:r>
          </a:p>
          <a:p xmlns:a="http://schemas.openxmlformats.org/drawingml/2006/main">
            <a:r>
              <a:t/>
            </a:r>
          </a:p>
          <a:p xmlns:a="http://schemas.openxmlformats.org/drawingml/2006/main">
            <a:r>
              <a:t>Above Partner’s autarky price, exports equal domestic supply minus domestic demand: </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
            </a:r>
          </a:p>
          <a:p xmlns:a="http://schemas.openxmlformats.org/drawingml/2006/main">
            <a:r>
              <a:t>The highlighted quantity intervals are equal: exports are the gap between supply and demand.</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a:t>
            </a:r>
          </a:p>
          <a:p xmlns:a="http://schemas.openxmlformats.org/drawingml/2006/main">
            <a:r>
              <a:t/>
            </a:r>
          </a:p>
          <a:p xmlns:a="http://schemas.openxmlformats.org/drawingml/2006/main">
            <a:r>
              <a:t>Home’s import supply is the horizontal sum of both export supply curves: </a:t>
            </a:r>
          </a:p>
          <a:p xmlns:a="http://schemas.openxmlformats.org/drawingml/2006/main">
            <a:r>
              <a:t>𝑀</a:t>
            </a:r>
          </a:p>
          <a:p xmlns:a="http://schemas.openxmlformats.org/drawingml/2006/main">
            <a:r>
              <a:t>𝑆</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
            </a:r>
          </a:p>
          <a:p xmlns:a="http://schemas.openxmlformats.org/drawingml/2006/main">
            <a:r>
              <a:t>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a:t>
            </a:r>
          </a:p>
          <a:p xmlns:a="http://schemas.openxmlformats.org/drawingml/2006/main">
            <a:r>
              <a:t/>
            </a:r>
          </a:p>
          <a:p xmlns:a="http://schemas.openxmlformats.org/drawingml/2006/main">
            <a:r>
              <a:t>At the free-trade equilibrium price </a:t>
            </a:r>
          </a:p>
          <a:p xmlns:a="http://schemas.openxmlformats.org/drawingml/2006/main">
            <a:r>
              <a:t>𝑃</a:t>
            </a:r>
          </a:p>
          <a:p xmlns:a="http://schemas.openxmlformats.org/drawingml/2006/main">
            <a:r>
              <a:t>𝐹</a:t>
            </a:r>
          </a:p>
          <a:p xmlns:a="http://schemas.openxmlformats.org/drawingml/2006/main">
            <a:r>
              <a:t>𝑇</a:t>
            </a:r>
          </a:p>
          <a:p xmlns:a="http://schemas.openxmlformats.org/drawingml/2006/main">
            <a:r>
              <a:t>, world demand equals world supply.</a:t>
            </a:r>
          </a:p>
          <a:p xmlns:a="http://schemas.openxmlformats.org/drawingml/2006/main">
            <a:r>
              <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𝑅</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a:t>
            </a:r>
          </a:p>
          <a:p xmlns:a="http://schemas.openxmlformats.org/drawingml/2006/main">
            <a:r>
              <a:t>Assume that Home, Partner and RoW were all applying the ‘Most Favoured Nation’ principle (GATT/WTO), according to which trade barriers should not be discriminatory.</a:t>
            </a:r>
          </a:p>
          <a:p xmlns:a="http://schemas.openxmlformats.org/drawingml/2006/main">
            <a:r>
              <a:t>Home imposes the same tariff on Partner and RoW.</a:t>
            </a:r>
          </a:p>
          <a:p xmlns:a="http://schemas.openxmlformats.org/drawingml/2006/main">
            <a:r>
              <a:t>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a:t>
            </a:r>
          </a:p>
          <a:p xmlns:a="http://schemas.openxmlformats.org/drawingml/2006/main">
            <a:r>
              <a:t/>
            </a:r>
          </a:p>
          <a:p xmlns:a="http://schemas.openxmlformats.org/drawingml/2006/main">
            <a:r>
              <a:t>Home applies the same tariff </a:t>
            </a:r>
          </a:p>
          <a:p xmlns:a="http://schemas.openxmlformats.org/drawingml/2006/main">
            <a:r>
              <a:t>𝑇</a:t>
            </a:r>
          </a:p>
          <a:p xmlns:a="http://schemas.openxmlformats.org/drawingml/2006/main">
            <a:r>
              <a:t> to Partner and the rest of the world.</a:t>
            </a:r>
          </a:p>
          <a:p xmlns:a="http://schemas.openxmlformats.org/drawingml/2006/main">
            <a:r>
              <a:t/>
            </a:r>
          </a:p>
          <a:p xmlns:a="http://schemas.openxmlformats.org/drawingml/2006/main">
            <a:r>
              <a:t>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a:t>
            </a:r>
          </a:p>
          <a:p xmlns:a="http://schemas.openxmlformats.org/drawingml/2006/main">
            <a:r>
              <a:t/>
            </a:r>
          </a:p>
          <a:p xmlns:a="http://schemas.openxmlformats.org/drawingml/2006/main">
            <a:r>
              <a:t>Home removes the tariff on Partner. The tariff on RoW remains </a:t>
            </a:r>
          </a:p>
          <a:p xmlns:a="http://schemas.openxmlformats.org/drawingml/2006/main">
            <a:r>
              <a:t>𝑇</a:t>
            </a:r>
          </a:p>
          <a:p xmlns:a="http://schemas.openxmlformats.org/drawingml/2006/main">
            <a:r>
              <a:t>.</a:t>
            </a:r>
          </a:p>
          <a:p xmlns:a="http://schemas.openxmlformats.org/drawingml/2006/main">
            <a:r>
              <a:t/>
            </a:r>
          </a:p>
          <a:p xmlns:a="http://schemas.openxmlformats.org/drawingml/2006/main">
            <a:r>
              <a:t>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a:t>
            </a:r>
          </a:p>
          <a:p xmlns:a="http://schemas.openxmlformats.org/drawingml/2006/main">
            <a:r>
              <a:t/>
            </a:r>
          </a:p>
          <a:p xmlns:a="http://schemas.openxmlformats.org/drawingml/2006/main">
            <a:r>
              <a:t>The shaded areas measure each exporter’s net welfare change for this good.</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
            </a:r>
          </a:p>
          <a:p xmlns:a="http://schemas.openxmlformats.org/drawingml/2006/main">
            <a:r>
              <a:t>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Home’s welfare needs a separate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a:t>
            </a:r>
          </a:p>
          <a:p xmlns:a="http://schemas.openxmlformats.org/drawingml/2006/main">
            <a:r>
              <a:t/>
            </a:r>
          </a:p>
          <a:p xmlns:a="http://schemas.openxmlformats.org/drawingml/2006/main">
            <a:r>
              <a:t>Home’s price falls from </a:t>
            </a:r>
          </a:p>
          <a:p xmlns:a="http://schemas.openxmlformats.org/drawingml/2006/main">
            <a:r>
              <a:t>𝑃</a:t>
            </a:r>
          </a:p>
          <a:p xmlns:a="http://schemas.openxmlformats.org/drawingml/2006/main">
            <a:r>
              <a:t>′</a:t>
            </a:r>
          </a:p>
          <a:p xmlns:a="http://schemas.openxmlformats.org/drawingml/2006/main">
            <a:r>
              <a:t> to </a:t>
            </a:r>
          </a:p>
          <a:p xmlns:a="http://schemas.openxmlformats.org/drawingml/2006/main">
            <a:r>
              <a:t>𝑃</a:t>
            </a:r>
          </a:p>
          <a:p xmlns:a="http://schemas.openxmlformats.org/drawingml/2006/main">
            <a:r>
              <a:t>″</a:t>
            </a:r>
          </a:p>
          <a:p xmlns:a="http://schemas.openxmlformats.org/drawingml/2006/main">
            <a:r>
              <a:t>: consumers gain and producers lose.</a:t>
            </a:r>
          </a:p>
          <a:p xmlns:a="http://schemas.openxmlformats.org/drawingml/2006/main">
            <a:r>
              <a:t/>
            </a:r>
          </a:p>
          <a:p xmlns:a="http://schemas.openxmlformats.org/drawingml/2006/main">
            <a:r>
              <a:t>Price</a:t>
            </a:r>
          </a:p>
          <a:p xmlns:a="http://schemas.openxmlformats.org/drawingml/2006/main">
            <a:r>
              <a:t>Quantity</a:t>
            </a:r>
          </a:p>
          <a:p xmlns:a="http://schemas.openxmlformats.org/drawingml/2006/main">
            <a:r>
              <a:t>S</a:t>
            </a:r>
          </a:p>
          <a:p xmlns:a="http://schemas.openxmlformats.org/drawingml/2006/main">
            <a:r>
              <a:t>D</a:t>
            </a:r>
          </a:p>
          <a:p xmlns:a="http://schemas.openxmlformats.org/drawingml/2006/main">
            <a:r>
              <a:t>P′</a:t>
            </a:r>
          </a:p>
          <a:p xmlns:a="http://schemas.openxmlformats.org/drawingml/2006/main">
            <a:r>
              <a:t>P″</a:t>
            </a:r>
          </a:p>
          <a:p xmlns:a="http://schemas.openxmlformats.org/drawingml/2006/main">
            <a:r>
              <a:t>D</a:t>
            </a:r>
          </a:p>
          <a:p xmlns:a="http://schemas.openxmlformats.org/drawingml/2006/main">
            <a:r>
              <a:t>A1</a:t>
            </a:r>
          </a:p>
          <a:p xmlns:a="http://schemas.openxmlformats.org/drawingml/2006/main">
            <a:r>
              <a:t>A2</a:t>
            </a:r>
          </a:p>
          <a:p xmlns:a="http://schemas.openxmlformats.org/drawingml/2006/main">
            <a:r>
              <a:t>A3</a:t>
            </a:r>
          </a:p>
          <a:p xmlns:a="http://schemas.openxmlformats.org/drawingml/2006/main">
            <a:r>
              <a:t>S″</a:t>
            </a:r>
          </a:p>
          <a:p xmlns:a="http://schemas.openxmlformats.org/drawingml/2006/main">
            <a:r>
              <a:t>S′</a:t>
            </a:r>
          </a:p>
          <a:p xmlns:a="http://schemas.openxmlformats.org/drawingml/2006/main">
            <a:r>
              <a:t>D′</a:t>
            </a:r>
          </a:p>
          <a:p xmlns:a="http://schemas.openxmlformats.org/drawingml/2006/main">
            <a:r>
              <a:t>D″</a:t>
            </a:r>
          </a:p>
          <a:p xmlns:a="http://schemas.openxmlformats.org/drawingml/2006/main">
            <a:r>
              <a:t>D is a transfer from producers to consumers.</a:t>
            </a:r>
          </a:p>
          <a:p xmlns:a="http://schemas.openxmlformats.org/drawingml/2006/main">
            <a:r>
              <a:t>Consumer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Producer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
            </a:r>
          </a:p>
          <a:p xmlns:a="http://schemas.openxmlformats.org/drawingml/2006/main">
            <a:r>
              <a:t>Net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The transfer </a:t>
            </a:r>
          </a:p>
          <a:p xmlns:a="http://schemas.openxmlformats.org/drawingml/2006/main">
            <a:r>
              <a:t>𝐷</a:t>
            </a:r>
          </a:p>
          <a:p xmlns:a="http://schemas.openxmlformats.org/drawingml/2006/main">
            <a:r>
              <a:t> cancels. We still need the change in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a:t>
            </a:r>
          </a:p>
          <a:p xmlns:a="http://schemas.openxmlformats.org/drawingml/2006/main">
            <a:r>
              <a:t/>
            </a:r>
          </a:p>
          <a:p xmlns:a="http://schemas.openxmlformats.org/drawingml/2006/main">
            <a:r>
              <a:t>After the customs union, only imports from RoW generate tariff revenue.</a:t>
            </a:r>
          </a:p>
          <a:p xmlns:a="http://schemas.openxmlformats.org/drawingml/2006/main">
            <a:r>
              <a:t/>
            </a:r>
          </a:p>
          <a:p xmlns:a="http://schemas.openxmlformats.org/drawingml/2006/main">
            <a:r>
              <a:t>Price</a:t>
            </a:r>
          </a:p>
          <a:p xmlns:a="http://schemas.openxmlformats.org/drawingml/2006/main">
            <a:r>
              <a:t>Home imports</a:t>
            </a:r>
          </a:p>
          <a:p xmlns:a="http://schemas.openxmlformats.org/drawingml/2006/main">
            <a:r>
              <a:t>MD</a:t>
            </a:r>
          </a:p>
          <a:p xmlns:a="http://schemas.openxmlformats.org/drawingml/2006/main">
            <a:r>
              <a:t>P′</a:t>
            </a:r>
          </a:p>
          <a:p xmlns:a="http://schemas.openxmlformats.org/drawingml/2006/main">
            <a:r>
              <a:t>P″</a:t>
            </a:r>
          </a:p>
          <a:p xmlns:a="http://schemas.openxmlformats.org/drawingml/2006/main">
            <a:r>
              <a:t>P′ − T</a:t>
            </a:r>
          </a:p>
          <a:p xmlns:a="http://schemas.openxmlformats.org/drawingml/2006/main">
            <a:r>
              <a:t>P″ − T</a:t>
            </a:r>
          </a:p>
          <a:p xmlns:a="http://schemas.openxmlformats.org/drawingml/2006/main">
            <a:r>
              <a:t>XR″</a:t>
            </a:r>
          </a:p>
          <a:p xmlns:a="http://schemas.openxmlformats.org/drawingml/2006/main">
            <a:r>
              <a:t>M′</a:t>
            </a:r>
          </a:p>
          <a:p xmlns:a="http://schemas.openxmlformats.org/drawingml/2006/main">
            <a:r>
              <a:t>M″</a:t>
            </a:r>
          </a:p>
          <a:p xmlns:a="http://schemas.openxmlformats.org/drawingml/2006/main">
            <a:r>
              <a:t>A1</a:t>
            </a:r>
          </a:p>
          <a:p xmlns:a="http://schemas.openxmlformats.org/drawingml/2006/main">
            <a:r>
              <a:t>B1</a:t>
            </a:r>
          </a:p>
          <a:p xmlns:a="http://schemas.openxmlformats.org/drawingml/2006/main">
            <a:r>
              <a:t>C</a:t>
            </a:r>
          </a:p>
          <a:p xmlns:a="http://schemas.openxmlformats.org/drawingml/2006/main">
            <a:r>
              <a:t>B</a:t>
            </a:r>
          </a:p>
          <a:p xmlns:a="http://schemas.openxmlformats.org/drawingml/2006/main">
            <a:r>
              <a:t>A</a:t>
            </a:r>
          </a:p>
          <a:p xmlns:a="http://schemas.openxmlformats.org/drawingml/2006/main">
            <a:r>
              <a:t>T</a:t>
            </a:r>
          </a:p>
          <a:p xmlns:a="http://schemas.openxmlformats.org/drawingml/2006/main">
            <a:r>
              <a:t>T</a:t>
            </a:r>
          </a:p>
          <a:p xmlns:a="http://schemas.openxmlformats.org/drawingml/2006/main">
            <a:r>
              <a:t>A = A₂ + A₃; the net welfare effect is A + B − C.</a:t>
            </a:r>
          </a:p>
          <a:p xmlns:a="http://schemas.openxmlformats.org/drawingml/2006/main">
            <a:r>
              <a:t>Tariff revenue</a:t>
            </a:r>
          </a:p>
          <a:p xmlns:a="http://schemas.openxmlformats.org/drawingml/2006/main">
            <a:r>
              <a:t/>
            </a:r>
          </a:p>
          <a:p xmlns:a="http://schemas.openxmlformats.org/drawingml/2006/main">
            <a:r>
              <a:t>Before: </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𝑇</a:t>
            </a:r>
          </a:p>
          <a:p xmlns:a="http://schemas.openxmlformats.org/drawingml/2006/main">
            <a:r>
              <a:t>𝑀</a:t>
            </a:r>
          </a:p>
          <a:p xmlns:a="http://schemas.openxmlformats.org/drawingml/2006/main">
            <a:r>
              <a:t>′</a:t>
            </a:r>
          </a:p>
          <a:p xmlns:a="http://schemas.openxmlformats.org/drawingml/2006/main">
            <a:r>
              <a:t>.</a:t>
            </a:r>
          </a:p>
          <a:p xmlns:a="http://schemas.openxmlformats.org/drawingml/2006/main">
            <a:r>
              <a:t/>
            </a:r>
          </a:p>
          <a:p xmlns:a="http://schemas.openxmlformats.org/drawingml/2006/main">
            <a:r>
              <a:t>After: </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𝑇</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a:t>
            </a:r>
          </a:p>
          <a:p xmlns:a="http://schemas.openxmlformats.org/drawingml/2006/main">
            <a:r>
              <a:t>.</a:t>
            </a:r>
          </a:p>
          <a:p xmlns:a="http://schemas.openxmlformats.org/drawingml/2006/main">
            <a:r>
              <a:t/>
            </a:r>
          </a:p>
          <a:p xmlns:a="http://schemas.openxmlformats.org/drawingml/2006/main">
            <a:r>
              <a:t>Change: </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Add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The sign is ambiguous. Here, </a:t>
            </a:r>
          </a:p>
          <a:p xmlns:a="http://schemas.openxmlformats.org/drawingml/2006/main">
            <a:r>
              <a:t>𝐴</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a:t>
            </a:r>
          </a:p>
          <a:p xmlns:a="http://schemas.openxmlformats.org/drawingml/2006/main">
            <a:r>
              <a:t>Home</a:t>
            </a:r>
          </a:p>
          <a:p xmlns:a="http://schemas.openxmlformats.org/drawingml/2006/main">
            <a:r>
              <a:t>Good 1 (imported):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Good 2 (exported to Partner):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Good 3 (exported to RoW): no change.</a:t>
            </a:r>
          </a:p>
          <a:p xmlns:a="http://schemas.openxmlformats.org/drawingml/2006/main">
            <a:r>
              <a:t>Partner</a:t>
            </a:r>
          </a:p>
          <a:p xmlns:a="http://schemas.openxmlformats.org/drawingml/2006/main">
            <a:r>
              <a:t/>
            </a:r>
          </a:p>
          <a:p xmlns:a="http://schemas.openxmlformats.org/drawingml/2006/main">
            <a:r>
              <a:t>Identical to Home.</a:t>
            </a:r>
          </a:p>
          <a:p xmlns:a="http://schemas.openxmlformats.org/drawingml/2006/main">
            <a:r>
              <a:t/>
            </a:r>
          </a:p>
          <a:p xmlns:a="http://schemas.openxmlformats.org/drawingml/2006/main">
            <a:r>
              <a:t>Rest of the world</a:t>
            </a:r>
          </a:p>
          <a:p xmlns:a="http://schemas.openxmlformats.org/drawingml/2006/main">
            <a:r>
              <a:t>Goods 1 and 2 (exported to customs union members): </a:t>
            </a:r>
          </a:p>
          <a:p xmlns:a="http://schemas.openxmlformats.org/drawingml/2006/main">
            <a:r>
              <a:t>−</a:t>
            </a:r>
          </a:p>
          <a:p xmlns:a="http://schemas.openxmlformats.org/drawingml/2006/main">
            <a:r>
              <a:t>2</a:t>
            </a:r>
          </a:p>
          <a:p xmlns:a="http://schemas.openxmlformats.org/drawingml/2006/main">
            <a:r>
              <a:t>𝐸</a:t>
            </a:r>
          </a:p>
          <a:p xmlns:a="http://schemas.openxmlformats.org/drawingml/2006/main">
            <a:r>
              <a:t>.</a:t>
            </a:r>
          </a:p>
          <a:p xmlns:a="http://schemas.openxmlformats.org/drawingml/2006/main">
            <a:r>
              <a:t>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a:t>
            </a:r>
          </a:p>
          <a:p xmlns:a="http://schemas.openxmlformats.org/drawingml/2006/main">
            <a:r>
              <a:t>Three elements</a:t>
            </a:r>
          </a:p>
          <a:p xmlns:a="http://schemas.openxmlformats.org/drawingml/2006/main">
            <a:r>
              <a:t>Adam Smith’s certitude: foreign firms gain when tariffs against them are eliminated (increase in the price of the exported good);</a:t>
            </a:r>
          </a:p>
          <a:p xmlns:a="http://schemas.openxmlformats.org/drawingml/2006/main">
            <a:r>
              <a:t>Haberler’s spillover: third nations – those excluded from the tariff reductions – lose (fall in the price of the exported good);</a:t>
            </a:r>
          </a:p>
          <a:p xmlns:a="http://schemas.openxmlformats.org/drawingml/2006/main">
            <a:r>
              <a:t>Viner’s ambiguity: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a:t>
            </a:r>
          </a:p>
          <a:p xmlns:a="http://schemas.openxmlformats.org/drawingml/2006/main">
            <a:r>
              <a:t>Protection by country</a:t>
            </a:r>
          </a:p>
          <a:p xmlns:a="http://schemas.openxmlformats.org/drawingml/2006/main">
            <a:r>
              <a:t>Country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Belgium	7.0	7.6	19.6	28.2</a:t>
            </a:r>
          </a:p>
          <a:p xmlns:a="http://schemas.openxmlformats.org/drawingml/2006/main">
            <a:r>
              <a:t>Denmark	7.1	4.1	18.2	27.0</a:t>
            </a:r>
          </a:p>
          <a:p xmlns:a="http://schemas.openxmlformats.org/drawingml/2006/main">
            <a:r>
              <a:t>Germany, West	7.4	6.0	22.3	27.4</a:t>
            </a:r>
          </a:p>
          <a:p xmlns:a="http://schemas.openxmlformats.org/drawingml/2006/main">
            <a:r>
              <a:t>Greece	7.0	8.6	25.5	25.8</a:t>
            </a:r>
          </a:p>
          <a:p xmlns:a="http://schemas.openxmlformats.org/drawingml/2006/main">
            <a:r>
              <a:t>Spain	6.8	4.8	13.9	22.1</a:t>
            </a:r>
          </a:p>
          <a:p xmlns:a="http://schemas.openxmlformats.org/drawingml/2006/main">
            <a:r>
              <a:t>France	7.4	14.3	18.4	26.1</a:t>
            </a:r>
          </a:p>
          <a:p xmlns:a="http://schemas.openxmlformats.org/drawingml/2006/main">
            <a:r>
              <a:t>Ireland	7.5	7.5	20.8	27.0</a:t>
            </a:r>
          </a:p>
          <a:p xmlns:a="http://schemas.openxmlformats.org/drawingml/2006/main">
            <a:r>
              <a:t>Italy	7.6	14.4	20.9	27.1</a:t>
            </a:r>
          </a:p>
          <a:p xmlns:a="http://schemas.openxmlformats.org/drawingml/2006/main">
            <a:r>
              <a:t>Netherlands	7.1	7.6	20.6	28.1</a:t>
            </a:r>
          </a:p>
          <a:p xmlns:a="http://schemas.openxmlformats.org/drawingml/2006/main">
            <a:r>
              <a:t>Portugal	7.1	3.4	19.1	20.2</a:t>
            </a:r>
          </a:p>
          <a:p xmlns:a="http://schemas.openxmlformats.org/drawingml/2006/main">
            <a:r>
              <a:t>Protection by industry</a:t>
            </a:r>
          </a:p>
          <a:p xmlns:a="http://schemas.openxmlformats.org/drawingml/2006/main">
            <a:r>
              <a:t>Industry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Food products	9.8	33.6	45.9	30.0</a:t>
            </a:r>
          </a:p>
          <a:p xmlns:a="http://schemas.openxmlformats.org/drawingml/2006/main">
            <a:r>
              <a:t>Textiles	11.7	24.5	69.8	38.2</a:t>
            </a:r>
          </a:p>
          <a:p xmlns:a="http://schemas.openxmlformats.org/drawingml/2006/main">
            <a:r>
              <a:t>Apparel	12.3	30.4	71.7	35.7</a:t>
            </a:r>
          </a:p>
          <a:p xmlns:a="http://schemas.openxmlformats.org/drawingml/2006/main">
            <a:r>
              <a:t>Footwear	13.3	44.5	33.8	41.9</a:t>
            </a:r>
          </a:p>
          <a:p xmlns:a="http://schemas.openxmlformats.org/drawingml/2006/main">
            <a:r>
              <a:t>Furniture	6.4	46.2	0.9	46.5</a:t>
            </a:r>
          </a:p>
          <a:p xmlns:a="http://schemas.openxmlformats.org/drawingml/2006/main">
            <a:r>
              <a:t>Industrial chemicals	10.2	23.5	9.1	30.1</a:t>
            </a:r>
          </a:p>
          <a:p xmlns:a="http://schemas.openxmlformats.org/drawingml/2006/main">
            <a:r>
              <a:t>Iron &amp; steel	9.8	38.0	47.7	34.6</a:t>
            </a:r>
          </a:p>
          <a:p xmlns:a="http://schemas.openxmlformats.org/drawingml/2006/main">
            <a:r>
              <a:t>Machinery, electric	8.6	28.3	14.3	33.3</a:t>
            </a:r>
          </a:p>
          <a:p xmlns:a="http://schemas.openxmlformats.org/drawingml/2006/main">
            <a:r>
              <a:t>Transport equipment	7.9	30.7	25.5	38.8</a:t>
            </a:r>
          </a:p>
          <a:p xmlns:a="http://schemas.openxmlformats.org/drawingml/2006/main">
            <a:r>
              <a:t>Professional &amp; scientific equipment	6.5	23.6	2.7	30.3</a:t>
            </a:r>
          </a:p>
          <a:p xmlns:a="http://schemas.openxmlformats.org/drawingml/2006/main">
            <a:r>
              <a:t/>
            </a:r>
          </a:p>
          <a:p xmlns:a="http://schemas.openxmlformats.org/drawingml/2006/main">
            <a:r>
              <a:t>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a:t>
            </a:r>
          </a:p>
          <a:p xmlns:a="http://schemas.openxmlformats.org/drawingml/2006/main">
            <a:r>
              <a:t/>
            </a:r>
          </a:p>
          <a:p xmlns:a="http://schemas.openxmlformats.org/drawingml/2006/main">
            <a:r>
              <a:t>Here </a:t>
            </a:r>
          </a:p>
          <a:p xmlns:a="http://schemas.openxmlformats.org/drawingml/2006/main">
            <a:r>
              <a:t>𝑇</a:t>
            </a:r>
          </a:p>
          <a:p xmlns:a="http://schemas.openxmlformats.org/drawingml/2006/main">
            <a:r>
              <a:t> is a real per-unit trade cost. Home removes it on Partner’s goods; it remains on RoW goods.</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F</a:t>
            </a:r>
          </a:p>
          <a:p xmlns:a="http://schemas.openxmlformats.org/drawingml/2006/main">
            <a:r>
              <a:t>A</a:t>
            </a:r>
          </a:p>
          <a:p xmlns:a="http://schemas.openxmlformats.org/drawingml/2006/main">
            <a:r>
              <a:t/>
            </a:r>
          </a:p>
          <a:p xmlns:a="http://schemas.openxmlformats.org/drawingml/2006/main">
            <a:r>
              <a:t>Home gains </a:t>
            </a:r>
          </a:p>
          <a:p xmlns:a="http://schemas.openxmlformats.org/drawingml/2006/main">
            <a:r>
              <a:t>𝐴</a:t>
            </a:r>
          </a:p>
          <a:p xmlns:a="http://schemas.openxmlformats.org/drawingml/2006/main">
            <a:r>
              <a:t>+</a:t>
            </a:r>
          </a:p>
          <a:p xmlns:a="http://schemas.openxmlformats.org/drawingml/2006/main">
            <a:r>
              <a:t>𝐹</a:t>
            </a:r>
          </a:p>
          <a:p xmlns:a="http://schemas.openxmlformats.org/drawingml/2006/main">
            <a:r>
              <a:t>; 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A real trade cost generates no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a:t>
            </a:r>
          </a:p>
          <a:p xmlns:a="http://schemas.openxmlformats.org/drawingml/2006/main">
            <a:r>
              <a:t/>
            </a:r>
          </a:p>
          <a:p xmlns:a="http://schemas.openxmlformats.org/drawingml/2006/main">
            <a:r>
              <a:t>We have seen that removing non-tariff barriers produces unambiguously positive welfare effects in this framework. This is not the case for tariff barriers.</a:t>
            </a:r>
          </a:p>
          <a:p xmlns:a="http://schemas.openxmlformats.org/drawingml/2006/main">
            <a:r>
              <a:t/>
            </a:r>
          </a:p>
          <a:p xmlns:a="http://schemas.openxmlformats.org/drawingml/2006/main">
            <a:r>
              <a:t>Question</a:t>
            </a:r>
          </a:p>
          <a:p xmlns:a="http://schemas.openxmlformats.org/drawingml/2006/main">
            <a:r>
              <a:t/>
            </a:r>
          </a:p>
          <a:p xmlns:a="http://schemas.openxmlformats.org/drawingml/2006/main">
            <a:r>
              <a:t>Why join a customs union? Would unilateral liberalisation towards the potential Partner be better?</a:t>
            </a:r>
          </a:p>
          <a:p xmlns:a="http://schemas.openxmlformats.org/drawingml/2006/main">
            <a:r>
              <a:t/>
            </a:r>
          </a:p>
          <a:p xmlns:a="http://schemas.openxmlformats.org/drawingml/2006/main">
            <a:r>
              <a:t>Answer</a:t>
            </a:r>
          </a:p>
          <a:p xmlns:a="http://schemas.openxmlformats.org/drawingml/2006/main">
            <a:r>
              <a:t/>
            </a:r>
          </a:p>
          <a:p xmlns:a="http://schemas.openxmlformats.org/drawingml/2006/main">
            <a:r>
              <a:t>Not necessarily: a country would not benefit from Partner’s tariff reduction within the customs union (area 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Empirical evidence</a:t>
            </a:r>
          </a:p>
          <a:p xmlns:a="http://schemas.openxmlformats.org/drawingml/2006/main">
            <a:r>
              <a:t>Findings</a:t>
            </a:r>
          </a:p>
          <a:p xmlns:a="http://schemas.openxmlformats.org/drawingml/2006/main">
            <a:r>
              <a:t/>
            </a:r>
          </a:p>
          <a:p xmlns:a="http://schemas.openxmlformats.org/drawingml/2006/main">
            <a:r>
              <a:t>Trade creation exceeded trade diversion in Europe, but the gains were small (Baldwin and Venables, 1995).</a:t>
            </a:r>
          </a:p>
          <a:p xmlns:a="http://schemas.openxmlformats.org/drawingml/2006/main">
            <a:r>
              <a:t/>
            </a:r>
          </a:p>
          <a:p xmlns:a="http://schemas.openxmlformats.org/drawingml/2006/main">
            <a:r>
              <a:t>Little diversion: much of Europe’s trade was already intra-European.</a:t>
            </a:r>
          </a:p>
          <a:p xmlns:a="http://schemas.openxmlformats.org/drawingml/2006/main">
            <a:r>
              <a:t>Limited creation: initial trade barriers were low.</a:t>
            </a:r>
          </a:p>
          <a:p xmlns:a="http://schemas.openxmlformats.org/drawingml/2006/main">
            <a:r>
              <a:t>The perfect-competition framework has limitations.</a:t>
            </a:r>
          </a:p>
          <a:p xmlns:a="http://schemas.openxmlformats.org/drawingml/2006/main">
            <a:r>
              <a:t>Empirical challenges</a:t>
            </a:r>
          </a:p>
          <a:p xmlns:a="http://schemas.openxmlformats.org/drawingml/2006/main">
            <a:r>
              <a:t>Ex ante: quantifying effects in a theoretical framework is complicated (e.g. Miller et al., 1977).</a:t>
            </a:r>
          </a:p>
          <a:p xmlns:a="http://schemas.openxmlformats.org/drawingml/2006/main">
            <a:r>
              <a:t>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a:t>
            </a:r>
          </a:p>
          <a:p xmlns:a="http://schemas.openxmlformats.org/drawingml/2006/main">
            <a:r>
              <a:t>We will talk about the competition effects of the Single Market Act.</a:t>
            </a:r>
          </a:p>
          <a:p xmlns:a="http://schemas.openxmlformats.org/drawingml/2006/main">
            <a:r>
              <a:t>Tip: revise the theory of the firm under monopoly and oligopoly (Cournot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R., Wyplosz C. (2022), The Economics of European Integration, Chapters 4 and 5</a:t>
            </a:r>
          </a:p>
          <a:p xmlns:a="http://schemas.openxmlformats.org/drawingml/2006/main">
            <a:r>
              <a:t>Further reading</a:t>
            </a:r>
          </a:p>
          <a:p xmlns:a="http://schemas.openxmlformats.org/drawingml/2006/main">
            <a:r>
              <a:t>Baldwin R., Venables A. (1995), Regional Economic Integration, Handbook of International Economics, Chapter 31.</a:t>
            </a:r>
          </a:p>
          <a:p xmlns:a="http://schemas.openxmlformats.org/drawingml/2006/main">
            <a:r>
              <a:t>Lee J.-W., Swagel P. (1997), Trade Barriers and Trade Flows Across Countries and Industries, Review of Economics and Statistics, 79 (3), pp. 372-382.</a:t>
            </a:r>
          </a:p>
          <a:p xmlns:a="http://schemas.openxmlformats.org/drawingml/2006/main">
            <a:r>
              <a:t>Miller M., Spencer J.E. (1977), The Static Economic Effects of the UK Joining the EEC: A General Equilibrium Approach, Review of Economic Studies, 44 (1), 71-93.</a:t>
            </a:r>
          </a:p>
          <a:p xmlns:a="http://schemas.openxmlformats.org/drawingml/2006/main">
            <a:r>
              <a:t>Winters L.A. (1987), Britain in Europe: a Survey of Quantitative Trade Studies, Journal of Common Market Studies, XXV (4), 315-335.</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1e8fd33b2641b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de9258fbfe463c" /><Relationship Type="http://schemas.openxmlformats.org/officeDocument/2006/relationships/slideLayout" Target="/ppt/slideLayouts/slideLayout1.xml" Id="R982a2e415b384b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2a2e415b384b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2f50885754a427b" /><Relationship Type="http://schemas.openxmlformats.org/officeDocument/2006/relationships/image" Target="/ppt/media/image.jpeg" Id="Rf08e20e1b27a414f" /><Relationship Type="http://schemas.openxmlformats.org/officeDocument/2006/relationships/notesSlide" Target="/ppt/notesSlides/notesSlide1.xml" Id="R7cd20e62a1624d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50a9b3d648a421c" /><Relationship Type="http://schemas.openxmlformats.org/officeDocument/2006/relationships/image" Target="/ppt/media/image2.jpeg" Id="R9c9dfa4fbdb642d1" /><Relationship Type="http://schemas.openxmlformats.org/officeDocument/2006/relationships/notesSlide" Target="/ppt/notesSlides/notesSlide2.xml" Id="Re6228006e5404e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a90854cd0984bee" /><Relationship Type="http://schemas.openxmlformats.org/officeDocument/2006/relationships/image" Target="/ppt/media/image3.jpeg" Id="R6c6c7e960d2a4195" /><Relationship Type="http://schemas.openxmlformats.org/officeDocument/2006/relationships/notesSlide" Target="/ppt/notesSlides/notesSlide3.xml" Id="R2aebcfa374c54b8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0557d6d5b99459e" /><Relationship Type="http://schemas.openxmlformats.org/officeDocument/2006/relationships/image" Target="/ppt/media/image.png" Id="Re6b028fe0a314319" /><Relationship Type="http://schemas.openxmlformats.org/officeDocument/2006/relationships/notesSlide" Target="/ppt/notesSlides/notesSlide4.xml" Id="R351be4b0044640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07d42092f64d47" /><Relationship Type="http://schemas.openxmlformats.org/officeDocument/2006/relationships/image" Target="/ppt/media/image4.jpeg" Id="R15bdc3567271431b" /><Relationship Type="http://schemas.openxmlformats.org/officeDocument/2006/relationships/notesSlide" Target="/ppt/notesSlides/notesSlide5.xml" Id="R6af045b4ca5e4f6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6c5980528204558" /><Relationship Type="http://schemas.openxmlformats.org/officeDocument/2006/relationships/image" Target="/ppt/media/image5.jpeg" Id="R6a6e6fadf9f541b6" /><Relationship Type="http://schemas.openxmlformats.org/officeDocument/2006/relationships/notesSlide" Target="/ppt/notesSlides/notesSlide6.xml" Id="R56efa231f30145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036b8184cf94b77" /><Relationship Type="http://schemas.openxmlformats.org/officeDocument/2006/relationships/image" Target="/ppt/media/image6.jpeg" Id="R46afd60e9ca34083" /><Relationship Type="http://schemas.openxmlformats.org/officeDocument/2006/relationships/notesSlide" Target="/ppt/notesSlides/notesSlide7.xml" Id="Rdda1a0492f0445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b2be05b49ca459d" /><Relationship Type="http://schemas.openxmlformats.org/officeDocument/2006/relationships/image" Target="/ppt/media/image7.jpeg" Id="Rba5451ae62de4bd3" /><Relationship Type="http://schemas.openxmlformats.org/officeDocument/2006/relationships/notesSlide" Target="/ppt/notesSlides/notesSlide8.xml" Id="Rbc48f39ea27743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4f44078ea2249d4" /><Relationship Type="http://schemas.openxmlformats.org/officeDocument/2006/relationships/image" Target="/ppt/media/image8.jpeg" Id="R8ebaf352484f4f3e" /><Relationship Type="http://schemas.openxmlformats.org/officeDocument/2006/relationships/notesSlide" Target="/ppt/notesSlides/notesSlide9.xml" Id="R4992416a1989472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bcc56f0bfe14891" /><Relationship Type="http://schemas.openxmlformats.org/officeDocument/2006/relationships/image" Target="/ppt/media/image9.jpeg" Id="R070dc756b2bb4a2f" /><Relationship Type="http://schemas.openxmlformats.org/officeDocument/2006/relationships/notesSlide" Target="/ppt/notesSlides/notesSlide10.xml" Id="R3e427884969f44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9193d6f79c9494b" /><Relationship Type="http://schemas.openxmlformats.org/officeDocument/2006/relationships/image" Target="/ppt/media/image10.jpeg" Id="R143a0c7c7eef4a32" /><Relationship Type="http://schemas.openxmlformats.org/officeDocument/2006/relationships/notesSlide" Target="/ppt/notesSlides/notesSlide11.xml" Id="R86a51493c2d54b6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c4597001af6447d" /><Relationship Type="http://schemas.openxmlformats.org/officeDocument/2006/relationships/image" Target="/ppt/media/image11.jpeg" Id="R8d1ea9417dc2488a" /><Relationship Type="http://schemas.openxmlformats.org/officeDocument/2006/relationships/notesSlide" Target="/ppt/notesSlides/notesSlide12.xml" Id="Ra1e084542b0c406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b049703b33c4947" /><Relationship Type="http://schemas.openxmlformats.org/officeDocument/2006/relationships/image" Target="/ppt/media/image12.jpeg" Id="Rb9dd244c9aa74405" /><Relationship Type="http://schemas.openxmlformats.org/officeDocument/2006/relationships/notesSlide" Target="/ppt/notesSlides/notesSlide13.xml" Id="R8acfd9d1f8194e5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f435138c6654fe9" /><Relationship Type="http://schemas.openxmlformats.org/officeDocument/2006/relationships/image" Target="/ppt/media/image13.jpeg" Id="R981e60bda93a492a" /><Relationship Type="http://schemas.openxmlformats.org/officeDocument/2006/relationships/notesSlide" Target="/ppt/notesSlides/notesSlide14.xml" Id="R1b350885798d42a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a7567f1fbcd4048" /><Relationship Type="http://schemas.openxmlformats.org/officeDocument/2006/relationships/image" Target="/ppt/media/image14.jpeg" Id="R09d154e047b34d6e" /><Relationship Type="http://schemas.openxmlformats.org/officeDocument/2006/relationships/notesSlide" Target="/ppt/notesSlides/notesSlide15.xml" Id="Re0f47cf1c52e447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644597ace904f55" /><Relationship Type="http://schemas.openxmlformats.org/officeDocument/2006/relationships/image" Target="/ppt/media/image15.jpeg" Id="R308e33724b034f30" /><Relationship Type="http://schemas.openxmlformats.org/officeDocument/2006/relationships/notesSlide" Target="/ppt/notesSlides/notesSlide16.xml" Id="R5ba468cb6d27460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a9d9f21c64d443f" /><Relationship Type="http://schemas.openxmlformats.org/officeDocument/2006/relationships/image" Target="/ppt/media/image16.jpeg" Id="R2a7826cc54de4db8" /><Relationship Type="http://schemas.openxmlformats.org/officeDocument/2006/relationships/notesSlide" Target="/ppt/notesSlides/notesSlide17.xml" Id="R3f59416604b84fb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f92b86ef2874762" /><Relationship Type="http://schemas.openxmlformats.org/officeDocument/2006/relationships/image" Target="/ppt/media/image17.jpeg" Id="R7082d970e97448bc" /><Relationship Type="http://schemas.openxmlformats.org/officeDocument/2006/relationships/notesSlide" Target="/ppt/notesSlides/notesSlide18.xml" Id="R7f988bcf587c421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b0e23441ce349a6" /><Relationship Type="http://schemas.openxmlformats.org/officeDocument/2006/relationships/image" Target="/ppt/media/image18.jpeg" Id="R365cfede31014fab" /><Relationship Type="http://schemas.openxmlformats.org/officeDocument/2006/relationships/notesSlide" Target="/ppt/notesSlides/notesSlide19.xml" Id="R9ce43b011f12449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63709c73b804829" /><Relationship Type="http://schemas.openxmlformats.org/officeDocument/2006/relationships/image" Target="/ppt/media/image19.jpeg" Id="R4dd308cef0cb4c33" /><Relationship Type="http://schemas.openxmlformats.org/officeDocument/2006/relationships/notesSlide" Target="/ppt/notesSlides/notesSlide20.xml" Id="Rddfa8fca02ed415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86040b3057d4e72" /><Relationship Type="http://schemas.openxmlformats.org/officeDocument/2006/relationships/image" Target="/ppt/media/image20.jpeg" Id="R1a6a4c56be2a48cc" /><Relationship Type="http://schemas.openxmlformats.org/officeDocument/2006/relationships/notesSlide" Target="/ppt/notesSlides/notesSlide21.xml" Id="Re3129c1f6666414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450119a60d04484" /><Relationship Type="http://schemas.openxmlformats.org/officeDocument/2006/relationships/image" Target="/ppt/media/image21.jpeg" Id="R6557e16f365b4183" /><Relationship Type="http://schemas.openxmlformats.org/officeDocument/2006/relationships/notesSlide" Target="/ppt/notesSlides/notesSlide22.xml" Id="Rdff13a95cd694a5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85e5f7173bc4e20" /><Relationship Type="http://schemas.openxmlformats.org/officeDocument/2006/relationships/image" Target="/ppt/media/image22.jpeg" Id="R12c05a5dc0f24945" /><Relationship Type="http://schemas.openxmlformats.org/officeDocument/2006/relationships/notesSlide" Target="/ppt/notesSlides/notesSlide23.xml" Id="Ra5d1ce4bec66463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839af9bce7c463a" /><Relationship Type="http://schemas.openxmlformats.org/officeDocument/2006/relationships/image" Target="/ppt/media/image23.jpeg" Id="R54dca14147c348ec" /><Relationship Type="http://schemas.openxmlformats.org/officeDocument/2006/relationships/notesSlide" Target="/ppt/notesSlides/notesSlide24.xml" Id="R309fbcec7544451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02422ee772849df" /><Relationship Type="http://schemas.openxmlformats.org/officeDocument/2006/relationships/image" Target="/ppt/media/image24.jpeg" Id="R270d0e2ae7154567" /><Relationship Type="http://schemas.openxmlformats.org/officeDocument/2006/relationships/notesSlide" Target="/ppt/notesSlides/notesSlide25.xml" Id="R5edb7053b8e7408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d02719bce964fb7" /><Relationship Type="http://schemas.openxmlformats.org/officeDocument/2006/relationships/image" Target="/ppt/media/image25.jpeg" Id="Rd623e23839254947" /><Relationship Type="http://schemas.openxmlformats.org/officeDocument/2006/relationships/notesSlide" Target="/ppt/notesSlides/notesSlide26.xml" Id="R65ece246a79f434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08e20e1b27a414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548304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c9dfa4fbdb642d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5500529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c6c7e960d2a419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9184102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6b028fe0a31431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641278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5bdc3567271431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2222613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a6e6fadf9f541b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837345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6afd60e9ca3408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0425045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a5451ae62de4bd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266591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ebaf352484f4f3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7489979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70dc756b2bb4a2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4833145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43a0c7c7eef4a3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4821407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d1ea9417dc248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9641809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9dd244c9aa7440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9117195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81e60bda93a49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0854955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9d154e047b34d6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9372566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08e33724b034f3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090783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a7826cc54de4db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3755692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082d970e97448b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1710627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65cfede31014fa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9910439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dd308cef0cb4c3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513553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a6a4c56be2a48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5489332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557e16f365b418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874844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2c05a5dc0f2494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88270798"/>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4dca14147c348e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0553202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70d0e2ae71545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4559838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623e2383925494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644931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2026-10-06T10:32:45.1580000Z</dcterms:created>
  <dcterms:modified xsi:type="dcterms:W3CDTF">2026-10-06T10:32:45.1580000Z</dcterms:modified>
</coreProperties>
</file>