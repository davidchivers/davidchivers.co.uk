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c936b2973404b0b" /><Relationship Type="http://schemas.openxmlformats.org/officeDocument/2006/relationships/extended-properties" Target="/docProps/app.xml" Id="R9f5e454605ba47bc" /><Relationship Type="http://schemas.openxmlformats.org/officeDocument/2006/relationships/officeDocument" Target="/ppt/presentation.xml" Id="R18e759b0d8784ebc" /></Relationships>
</file>

<file path=ppt/presentation.xml><?xml version="1.0" encoding="utf-8"?>
<p:presentation xmlns:p="http://schemas.openxmlformats.org/presentationml/2006/main">
  <p:sldMasterIdLst>
    <p:sldMasterId xmlns:r="http://schemas.openxmlformats.org/officeDocument/2006/relationships" id="2147483648" r:id="Re48a85af298d4d2a"/>
  </p:sldMasterIdLst>
  <p:notesMasterIdLst>
    <p:notesMasterId xmlns:r="http://schemas.openxmlformats.org/officeDocument/2006/relationships" r:id="Rc0c15c0c06c84900"/>
  </p:notesMasterIdLst>
  <p:sldIdLst>
    <p:sldId xmlns:r="http://schemas.openxmlformats.org/officeDocument/2006/relationships" id="256" r:id="R4db49d6fca9346ef"/>
    <p:sldId xmlns:r="http://schemas.openxmlformats.org/officeDocument/2006/relationships" id="257" r:id="Re67f627f0c9e47ba"/>
    <p:sldId xmlns:r="http://schemas.openxmlformats.org/officeDocument/2006/relationships" id="258" r:id="R9b75f86c2f3e45ea"/>
    <p:sldId xmlns:r="http://schemas.openxmlformats.org/officeDocument/2006/relationships" id="259" r:id="R412fc51bdaf941d8"/>
    <p:sldId xmlns:r="http://schemas.openxmlformats.org/officeDocument/2006/relationships" id="260" r:id="R6a608acd17af4c58"/>
    <p:sldId xmlns:r="http://schemas.openxmlformats.org/officeDocument/2006/relationships" id="261" r:id="Rafa03f3c18ad4e05"/>
    <p:sldId xmlns:r="http://schemas.openxmlformats.org/officeDocument/2006/relationships" id="262" r:id="R57e72d556e734f79"/>
    <p:sldId xmlns:r="http://schemas.openxmlformats.org/officeDocument/2006/relationships" id="263" r:id="R3453f64f3f254491"/>
    <p:sldId xmlns:r="http://schemas.openxmlformats.org/officeDocument/2006/relationships" id="264" r:id="R4d0f6cc0538d45fa"/>
    <p:sldId xmlns:r="http://schemas.openxmlformats.org/officeDocument/2006/relationships" id="265" r:id="R5df99b1a126c492d"/>
    <p:sldId xmlns:r="http://schemas.openxmlformats.org/officeDocument/2006/relationships" id="266" r:id="R1f9dfadadff04f3f"/>
    <p:sldId xmlns:r="http://schemas.openxmlformats.org/officeDocument/2006/relationships" id="267" r:id="R4bf47a9baa884cd5"/>
    <p:sldId xmlns:r="http://schemas.openxmlformats.org/officeDocument/2006/relationships" id="268" r:id="R56b382d6c9a6466c"/>
    <p:sldId xmlns:r="http://schemas.openxmlformats.org/officeDocument/2006/relationships" id="269" r:id="R9d9f04b366b44ce1"/>
    <p:sldId xmlns:r="http://schemas.openxmlformats.org/officeDocument/2006/relationships" id="270" r:id="Rf832e2377eff4c82"/>
    <p:sldId xmlns:r="http://schemas.openxmlformats.org/officeDocument/2006/relationships" id="271" r:id="Rcd3bc5877a0045a4"/>
    <p:sldId xmlns:r="http://schemas.openxmlformats.org/officeDocument/2006/relationships" id="272" r:id="R1d243698a0a34e1b"/>
    <p:sldId xmlns:r="http://schemas.openxmlformats.org/officeDocument/2006/relationships" id="273" r:id="Rfc57c986a1f74c28"/>
    <p:sldId xmlns:r="http://schemas.openxmlformats.org/officeDocument/2006/relationships" id="274" r:id="R25528e12af1e45b7"/>
    <p:sldId xmlns:r="http://schemas.openxmlformats.org/officeDocument/2006/relationships" id="275" r:id="R93de46bfc94e4d64"/>
    <p:sldId xmlns:r="http://schemas.openxmlformats.org/officeDocument/2006/relationships" id="276" r:id="Rb3e9936b7a0843ba"/>
    <p:sldId xmlns:r="http://schemas.openxmlformats.org/officeDocument/2006/relationships" id="277" r:id="R8f2358e7fafc4493"/>
    <p:sldId xmlns:r="http://schemas.openxmlformats.org/officeDocument/2006/relationships" id="278" r:id="R28889b9a48254c5c"/>
    <p:sldId xmlns:r="http://schemas.openxmlformats.org/officeDocument/2006/relationships" id="279" r:id="R7d19cb1fec594002"/>
    <p:sldId xmlns:r="http://schemas.openxmlformats.org/officeDocument/2006/relationships" id="280" r:id="Re7122338afeb4627"/>
    <p:sldId xmlns:r="http://schemas.openxmlformats.org/officeDocument/2006/relationships" id="281" r:id="R41d14dcd6947453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17a1336a3db4aa6" /><Relationship Type="http://schemas.openxmlformats.org/officeDocument/2006/relationships/slideMaster" Target="/ppt/slideMasters/slideMaster1.xml" Id="Re48a85af298d4d2a" /><Relationship Type="http://schemas.openxmlformats.org/officeDocument/2006/relationships/notesMaster" Target="/ppt/notesMasters/notesMaster1.xml" Id="Rc0c15c0c06c84900" /><Relationship Type="http://schemas.openxmlformats.org/officeDocument/2006/relationships/presProps" Target="/ppt/presProps.xml" Id="Rf3d81181d8de42d1" /><Relationship Type="http://schemas.openxmlformats.org/officeDocument/2006/relationships/tableStyles" Target="/ppt/tableStyles.xml" Id="R153193acb3324454" /><Relationship Type="http://schemas.openxmlformats.org/officeDocument/2006/relationships/slide" Target="/ppt/slides/slide1.xml" Id="R4db49d6fca9346ef" /><Relationship Type="http://schemas.openxmlformats.org/officeDocument/2006/relationships/slide" Target="/ppt/slides/slide2.xml" Id="Re67f627f0c9e47ba" /><Relationship Type="http://schemas.openxmlformats.org/officeDocument/2006/relationships/slide" Target="/ppt/slides/slide3.xml" Id="R9b75f86c2f3e45ea" /><Relationship Type="http://schemas.openxmlformats.org/officeDocument/2006/relationships/slide" Target="/ppt/slides/slide4.xml" Id="R412fc51bdaf941d8" /><Relationship Type="http://schemas.openxmlformats.org/officeDocument/2006/relationships/slide" Target="/ppt/slides/slide5.xml" Id="R6a608acd17af4c58" /><Relationship Type="http://schemas.openxmlformats.org/officeDocument/2006/relationships/slide" Target="/ppt/slides/slide6.xml" Id="Rafa03f3c18ad4e05" /><Relationship Type="http://schemas.openxmlformats.org/officeDocument/2006/relationships/slide" Target="/ppt/slides/slide7.xml" Id="R57e72d556e734f79" /><Relationship Type="http://schemas.openxmlformats.org/officeDocument/2006/relationships/slide" Target="/ppt/slides/slide8.xml" Id="R3453f64f3f254491" /><Relationship Type="http://schemas.openxmlformats.org/officeDocument/2006/relationships/slide" Target="/ppt/slides/slide9.xml" Id="R4d0f6cc0538d45fa" /><Relationship Type="http://schemas.openxmlformats.org/officeDocument/2006/relationships/slide" Target="/ppt/slides/slide10.xml" Id="R5df99b1a126c492d" /><Relationship Type="http://schemas.openxmlformats.org/officeDocument/2006/relationships/slide" Target="/ppt/slides/slide11.xml" Id="R1f9dfadadff04f3f" /><Relationship Type="http://schemas.openxmlformats.org/officeDocument/2006/relationships/slide" Target="/ppt/slides/slide12.xml" Id="R4bf47a9baa884cd5" /><Relationship Type="http://schemas.openxmlformats.org/officeDocument/2006/relationships/slide" Target="/ppt/slides/slide13.xml" Id="R56b382d6c9a6466c" /><Relationship Type="http://schemas.openxmlformats.org/officeDocument/2006/relationships/slide" Target="/ppt/slides/slide14.xml" Id="R9d9f04b366b44ce1" /><Relationship Type="http://schemas.openxmlformats.org/officeDocument/2006/relationships/slide" Target="/ppt/slides/slide15.xml" Id="Rf832e2377eff4c82" /><Relationship Type="http://schemas.openxmlformats.org/officeDocument/2006/relationships/slide" Target="/ppt/slides/slide16.xml" Id="Rcd3bc5877a0045a4" /><Relationship Type="http://schemas.openxmlformats.org/officeDocument/2006/relationships/slide" Target="/ppt/slides/slide17.xml" Id="R1d243698a0a34e1b" /><Relationship Type="http://schemas.openxmlformats.org/officeDocument/2006/relationships/slide" Target="/ppt/slides/slide18.xml" Id="Rfc57c986a1f74c28" /><Relationship Type="http://schemas.openxmlformats.org/officeDocument/2006/relationships/slide" Target="/ppt/slides/slide19.xml" Id="R25528e12af1e45b7" /><Relationship Type="http://schemas.openxmlformats.org/officeDocument/2006/relationships/slide" Target="/ppt/slides/slide20.xml" Id="R93de46bfc94e4d64" /><Relationship Type="http://schemas.openxmlformats.org/officeDocument/2006/relationships/slide" Target="/ppt/slides/slide21.xml" Id="Rb3e9936b7a0843ba" /><Relationship Type="http://schemas.openxmlformats.org/officeDocument/2006/relationships/slide" Target="/ppt/slides/slide22.xml" Id="R8f2358e7fafc4493" /><Relationship Type="http://schemas.openxmlformats.org/officeDocument/2006/relationships/slide" Target="/ppt/slides/slide23.xml" Id="R28889b9a48254c5c" /><Relationship Type="http://schemas.openxmlformats.org/officeDocument/2006/relationships/slide" Target="/ppt/slides/slide24.xml" Id="R7d19cb1fec594002" /><Relationship Type="http://schemas.openxmlformats.org/officeDocument/2006/relationships/slide" Target="/ppt/slides/slide25.xml" Id="Re7122338afeb4627" /><Relationship Type="http://schemas.openxmlformats.org/officeDocument/2006/relationships/slide" Target="/ppt/slides/slide26.xml" Id="R41d14dcd694745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744b9ea781c4a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6905565b2b4c0c" /><Relationship Type="http://schemas.openxmlformats.org/officeDocument/2006/relationships/notesMaster" Target="/ppt/notesMasters/notesMaster1.xml" Id="R7380da9434804e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20b401269a504c68" /><Relationship Type="http://schemas.openxmlformats.org/officeDocument/2006/relationships/notesMaster" Target="/ppt/notesMasters/notesMaster1.xml" Id="R9d89fd5b0db045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b3d5bdf5b4421f" /><Relationship Type="http://schemas.openxmlformats.org/officeDocument/2006/relationships/notesMaster" Target="/ppt/notesMasters/notesMaster1.xml" Id="R00556e1820dc4199"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ee579f75654f6b" /><Relationship Type="http://schemas.openxmlformats.org/officeDocument/2006/relationships/notesMaster" Target="/ppt/notesMasters/notesMaster1.xml" Id="Rf56ccd800dde4ebb" /></Relationships>
</file>

<file path=ppt/notesSlides/_rels/notesSlide5.xml.rels>&#65279;<?xml version="1.0" encoding="utf-8"?><Relationships xmlns="http://schemas.openxmlformats.org/package/2006/relationships"><Relationship Type="http://schemas.openxmlformats.org/officeDocument/2006/relationships/slide" Target="/ppt/slides/slide5.xml" Id="Re8a5bfa623414e66" /><Relationship Type="http://schemas.openxmlformats.org/officeDocument/2006/relationships/notesMaster" Target="/ppt/notesMasters/notesMaster1.xml" Id="Raa7562e6b5434df1" /></Relationships>
</file>

<file path=ppt/notesSlides/_rels/notesSlide6.xml.rels>&#65279;<?xml version="1.0" encoding="utf-8"?><Relationships xmlns="http://schemas.openxmlformats.org/package/2006/relationships"><Relationship Type="http://schemas.openxmlformats.org/officeDocument/2006/relationships/slide" Target="/ppt/slides/slide6.xml" Id="R593d5799f9144189" /><Relationship Type="http://schemas.openxmlformats.org/officeDocument/2006/relationships/notesMaster" Target="/ppt/notesMasters/notesMaster1.xml" Id="R3eb2ba43fac54ea7"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b29d98b34d42bf" /><Relationship Type="http://schemas.openxmlformats.org/officeDocument/2006/relationships/notesMaster" Target="/ppt/notesMasters/notesMaster1.xml" Id="Rb10a2c0221034664" /></Relationships>
</file>

<file path=ppt/notesSlides/_rels/notesSlide8.xml.rels>&#65279;<?xml version="1.0" encoding="utf-8"?><Relationships xmlns="http://schemas.openxmlformats.org/package/2006/relationships"><Relationship Type="http://schemas.openxmlformats.org/officeDocument/2006/relationships/slide" Target="/ppt/slides/slide8.xml" Id="R3b7580594cf248e2" /><Relationship Type="http://schemas.openxmlformats.org/officeDocument/2006/relationships/notesMaster" Target="/ppt/notesMasters/notesMaster1.xml" Id="R1c26e252b67f46c6" /></Relationships>
</file>

<file path=ppt/notesSlides/_rels/notesSlide9.xml.rels>&#65279;<?xml version="1.0" encoding="utf-8"?><Relationships xmlns="http://schemas.openxmlformats.org/package/2006/relationships"><Relationship Type="http://schemas.openxmlformats.org/officeDocument/2006/relationships/slide" Target="/ppt/slides/slide9.xml" Id="R53a973015de24efe" /><Relationship Type="http://schemas.openxmlformats.org/officeDocument/2006/relationships/notesMaster" Target="/ppt/notesMasters/notesMaster1.xml" Id="R0b56d443bf3842a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c3724b40eab42f9" /><Relationship Type="http://schemas.openxmlformats.org/officeDocument/2006/relationships/notesMaster" Target="/ppt/notesMasters/notesMaster1.xml" Id="Rbb0ab2f75d88479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20e58cc2bcc4435" /><Relationship Type="http://schemas.openxmlformats.org/officeDocument/2006/relationships/notesMaster" Target="/ppt/notesMasters/notesMaster1.xml" Id="Rb9dc88eb2040426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901635e140a4d91" /><Relationship Type="http://schemas.openxmlformats.org/officeDocument/2006/relationships/notesMaster" Target="/ppt/notesMasters/notesMaster1.xml" Id="Ra468fca50004436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3721113a036471a" /><Relationship Type="http://schemas.openxmlformats.org/officeDocument/2006/relationships/notesMaster" Target="/ppt/notesMasters/notesMaster1.xml" Id="R229b69c0d8b8486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77998d2809646db" /><Relationship Type="http://schemas.openxmlformats.org/officeDocument/2006/relationships/notesMaster" Target="/ppt/notesMasters/notesMaster1.xml" Id="Re1ae0749536744d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3709dff3fbd47b6" /><Relationship Type="http://schemas.openxmlformats.org/officeDocument/2006/relationships/notesMaster" Target="/ppt/notesMasters/notesMaster1.xml" Id="R019479591b894fd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daa7492390a48bb" /><Relationship Type="http://schemas.openxmlformats.org/officeDocument/2006/relationships/notesMaster" Target="/ppt/notesMasters/notesMaster1.xml" Id="Re69841b7a81043c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4dbbc8bc9574481" /><Relationship Type="http://schemas.openxmlformats.org/officeDocument/2006/relationships/notesMaster" Target="/ppt/notesMasters/notesMaster1.xml" Id="Rdfe82831a1234e7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f95106ef9764abc" /><Relationship Type="http://schemas.openxmlformats.org/officeDocument/2006/relationships/notesMaster" Target="/ppt/notesMasters/notesMaster1.xml" Id="R49820e342d2c4b6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225a3f801c44b5a" /><Relationship Type="http://schemas.openxmlformats.org/officeDocument/2006/relationships/notesMaster" Target="/ppt/notesMasters/notesMaster1.xml" Id="R6d64a31df5f14e5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1fa372e96e44e25" /><Relationship Type="http://schemas.openxmlformats.org/officeDocument/2006/relationships/notesMaster" Target="/ppt/notesMasters/notesMaster1.xml" Id="Ra601ddbbe0704fd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2ccd59753cd448c" /><Relationship Type="http://schemas.openxmlformats.org/officeDocument/2006/relationships/notesMaster" Target="/ppt/notesMasters/notesMaster1.xml" Id="Rb015e539890247f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e0cd151c5704143" /><Relationship Type="http://schemas.openxmlformats.org/officeDocument/2006/relationships/notesMaster" Target="/ppt/notesMasters/notesMaster1.xml" Id="Rea7074a602634de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4dcbd1bbe0c4a0f" /><Relationship Type="http://schemas.openxmlformats.org/officeDocument/2006/relationships/notesMaster" Target="/ppt/notesMasters/notesMaster1.xml" Id="Rffe6e9ba1533451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14ea1770caa48b0" /><Relationship Type="http://schemas.openxmlformats.org/officeDocument/2006/relationships/notesMaster" Target="/ppt/notesMasters/notesMaster1.xml" Id="R137a3678e04f4f2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b14287dd5484b7d" /><Relationship Type="http://schemas.openxmlformats.org/officeDocument/2006/relationships/notesMaster" Target="/ppt/notesMasters/notesMaster1.xml" Id="Rbf019f860272418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e3a5ef5f1534250" /><Relationship Type="http://schemas.openxmlformats.org/officeDocument/2006/relationships/notesMaster" Target="/ppt/notesMasters/notesMaster1.xml" Id="Rbb5a6dad08a8443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2: Customs unions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https://davidchivers.co.uk/teaching/macro-applications/lecture_2.html#/l2-s02</a:t>
            </a:r>
          </a:p>
          <a:p xmlns:a="http://schemas.openxmlformats.org/drawingml/2006/main">
            <a:r>
              <a:t/>
            </a:r>
          </a:p>
          <a:p xmlns:a="http://schemas.openxmlformats.org/drawingml/2006/main">
            <a:r>
              <a:t>Context</a:t>
            </a:r>
          </a:p>
          <a:p xmlns:a="http://schemas.openxmlformats.org/drawingml/2006/main">
            <a:r>
              <a:t>One of the main goals of the Treaty of Rome was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https://davidchivers.co.uk/teaching/macro-applications/lecture_2.html#/l2-s03</a:t>
            </a:r>
          </a:p>
          <a:p xmlns:a="http://schemas.openxmlformats.org/drawingml/2006/main">
            <a:r>
              <a:t/>
            </a:r>
          </a:p>
          <a:p xmlns:a="http://schemas.openxmlformats.org/drawingml/2006/main">
            <a:r>
              <a:t>Learning objectives</a:t>
            </a:r>
          </a:p>
          <a:p xmlns:a="http://schemas.openxmlformats.org/drawingml/2006/main">
            <a:r>
              <a:t/>
            </a:r>
          </a:p>
          <a:p xmlns:a="http://schemas.openxmlformats.org/drawingml/2006/main">
            <a:r>
              <a:t>After this lecture, you will be able to:</a:t>
            </a:r>
          </a:p>
          <a:p xmlns:a="http://schemas.openxmlformats.org/drawingml/2006/main">
            <a:r>
              <a:t/>
            </a:r>
          </a:p>
          <a:p xmlns:a="http://schemas.openxmlformats.org/drawingml/2006/main">
            <a:r>
              <a:t>Analyse the welfare effects of joining a customs union:</a:t>
            </a:r>
          </a:p>
          <a:p xmlns:a="http://schemas.openxmlformats.org/drawingml/2006/main">
            <a:r>
              <a:t>Removal of tariff barriers and establishment of a common external tariff (1958–1968).</a:t>
            </a:r>
          </a:p>
          <a:p xmlns:a="http://schemas.openxmlformats.org/drawingml/2006/main">
            <a:r>
              <a:t>Removal of non-tariff barriers (1986–1992).</a:t>
            </a:r>
          </a:p>
          <a:p xmlns:a="http://schemas.openxmlformats.org/drawingml/2006/main">
            <a:r>
              <a:t>Understand the economic incentives to join a preferential trade agreement.</a:t>
            </a:r>
          </a:p>
          <a:p xmlns:a="http://schemas.openxmlformats.org/drawingml/2006/main">
            <a:r>
              <a:t>Discuss evidence on the welfare impact of customs unions.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https://davidchivers.co.uk/teaching/macro-applications/lecture_2.html#/l2-s04</a:t>
            </a:r>
          </a:p>
          <a:p xmlns:a="http://schemas.openxmlformats.org/drawingml/2006/main">
            <a:r>
              <a:t/>
            </a:r>
          </a:p>
          <a:p xmlns:a="http://schemas.openxmlformats.org/drawingml/2006/main">
            <a:r>
              <a:t>Customs unions</a:t>
            </a:r>
          </a:p>
          <a:p xmlns:a="http://schemas.openxmlformats.org/drawingml/2006/main">
            <a:r>
              <a:t>MERCOSUR</a:t>
            </a:r>
          </a:p>
          <a:p xmlns:a="http://schemas.openxmlformats.org/drawingml/2006/main">
            <a:r>
              <a:t>CARICOM</a:t>
            </a:r>
          </a:p>
          <a:p xmlns:a="http://schemas.openxmlformats.org/drawingml/2006/main">
            <a:r>
              <a:t>CACM</a:t>
            </a:r>
          </a:p>
          <a:p xmlns:a="http://schemas.openxmlformats.org/drawingml/2006/main">
            <a:r>
              <a:t>CAN</a:t>
            </a:r>
          </a:p>
          <a:p xmlns:a="http://schemas.openxmlformats.org/drawingml/2006/main">
            <a:r>
              <a:t>CH-FL</a:t>
            </a:r>
          </a:p>
          <a:p xmlns:a="http://schemas.openxmlformats.org/drawingml/2006/main">
            <a:r>
              <a:t>EUCU</a:t>
            </a:r>
          </a:p>
          <a:p xmlns:a="http://schemas.openxmlformats.org/drawingml/2006/main">
            <a:r>
              <a:t>EACU</a:t>
            </a:r>
          </a:p>
          <a:p xmlns:a="http://schemas.openxmlformats.org/drawingml/2006/main">
            <a:r>
              <a:t>GCC</a:t>
            </a:r>
          </a:p>
          <a:p xmlns:a="http://schemas.openxmlformats.org/drawingml/2006/main">
            <a:r>
              <a:t>EAC</a:t>
            </a:r>
          </a:p>
          <a:p xmlns:a="http://schemas.openxmlformats.org/drawingml/2006/main">
            <a:r>
              <a:t>WAEMU</a:t>
            </a:r>
          </a:p>
          <a:p xmlns:a="http://schemas.openxmlformats.org/drawingml/2006/main">
            <a:r>
              <a:t>CEMAC</a:t>
            </a:r>
          </a:p>
          <a:p xmlns:a="http://schemas.openxmlformats.org/drawingml/2006/main">
            <a:r>
              <a:t>SACU</a:t>
            </a:r>
          </a:p>
          <a:p xmlns:a="http://schemas.openxmlformats.org/drawingml/2006/main">
            <a:r>
              <a:t>Explore a trade bloc</a:t>
            </a:r>
          </a:p>
          <a:p xmlns:a="http://schemas.openxmlformats.org/drawingml/2006/main">
            <a:r>
              <a:t/>
            </a:r>
          </a:p>
          <a:p xmlns:a="http://schemas.openxmlformats.org/drawingml/2006/main">
            <a:r>
              <a:t>Hover over a coloured region, or select its abbreviation below.</a:t>
            </a:r>
          </a:p>
          <a:p xmlns:a="http://schemas.openxmlformats.org/drawingml/2006/main">
            <a:r>
              <a:t/>
            </a:r>
          </a:p>
          <a:p xmlns:a="http://schemas.openxmlformats.org/drawingml/2006/main">
            <a:r>
              <a:t>A customs union removes internal tariffs and adopts a common external tariff.</a:t>
            </a:r>
          </a:p>
          <a:p xmlns:a="http://schemas.openxmlformats.org/drawingml/2006/main">
            <a:r>
              <a:t/>
            </a:r>
          </a:p>
          <a:p xmlns:a="http://schemas.openxmlformats.org/drawingml/2006/main">
            <a:r>
              <a:t>EUCU</a:t>
            </a:r>
          </a:p>
          <a:p xmlns:a="http://schemas.openxmlformats.org/drawingml/2006/main">
            <a:r>
              <a:t>EACU</a:t>
            </a:r>
          </a:p>
          <a:p xmlns:a="http://schemas.openxmlformats.org/drawingml/2006/main">
            <a:r>
              <a:t>MERCOSUR</a:t>
            </a:r>
          </a:p>
          <a:p xmlns:a="http://schemas.openxmlformats.org/drawingml/2006/main">
            <a:r>
              <a:t>CAN</a:t>
            </a:r>
          </a:p>
          <a:p xmlns:a="http://schemas.openxmlformats.org/drawingml/2006/main">
            <a:r>
              <a:t>CACM</a:t>
            </a:r>
          </a:p>
          <a:p xmlns:a="http://schemas.openxmlformats.org/drawingml/2006/main">
            <a:r>
              <a:t>CARICOM</a:t>
            </a:r>
          </a:p>
          <a:p xmlns:a="http://schemas.openxmlformats.org/drawingml/2006/main">
            <a:r>
              <a:t>WAEMU</a:t>
            </a:r>
          </a:p>
          <a:p xmlns:a="http://schemas.openxmlformats.org/drawingml/2006/main">
            <a:r>
              <a:t>CEMAC</a:t>
            </a:r>
          </a:p>
          <a:p xmlns:a="http://schemas.openxmlformats.org/drawingml/2006/main">
            <a:r>
              <a:t>EAC</a:t>
            </a:r>
          </a:p>
          <a:p xmlns:a="http://schemas.openxmlformats.org/drawingml/2006/main">
            <a:r>
              <a:t>SACU</a:t>
            </a:r>
          </a:p>
          <a:p xmlns:a="http://schemas.openxmlformats.org/drawingml/2006/main">
            <a:r>
              <a:t>GCC</a:t>
            </a:r>
          </a:p>
          <a:p xmlns:a="http://schemas.openxmlformats.org/drawingml/2006/main">
            <a:r>
              <a:t>CH-FL</a:t>
            </a:r>
          </a:p>
          <a:p xmlns:a="http://schemas.openxmlformats.org/drawingml/2006/main">
            <a:r>
              <a:t/>
            </a:r>
          </a:p>
          <a:p xmlns:a="http://schemas.openxmlformats.org/drawingml/2006/main">
            <a:r>
              <a:t>Historical illustration · membership and implementation vary. Map source (2021 revision, adapted); customs unions in practice.</a:t>
            </a:r>
          </a:p>
          <a:p xmlns:a="http://schemas.openxmlformats.org/drawingml/2006/main">
            <a:r>
              <a:t/>
            </a:r>
          </a:p>
          <a:p xmlns:a="http://schemas.openxmlformats.org/drawingml/2006/main">
            <a:r>
              <a:t>Historical world map of customs unions and trade blocs. Named controls provide descriptions in the online slide.</a:t>
            </a:r>
          </a:p>
          <a:p xmlns:a="http://schemas.openxmlformats.org/drawingml/2006/main">
            <a:r>
              <a:t/>
            </a:r>
          </a:p>
          <a:p xmlns:a="http://schemas.openxmlformats.org/drawingml/2006/main">
            <a:r>
              <a:t/>
            </a:r>
          </a:p>
          <a:p xmlns:a="http://schemas.openxmlformats.org/drawingml/2006/main">
            <a:r>
              <a:t/>
            </a:r>
          </a:p>
          <a:p xmlns:a="http://schemas.openxmlformats.org/drawingml/2006/main">
            <a:r>
              <a:t>https://commons.wikimedia.org/wiki/File:Customs_Unions_World.svg</a:t>
            </a:r>
          </a:p>
          <a:p xmlns:a="http://schemas.openxmlformats.org/drawingml/2006/main">
            <a:r>
              <a:t>https://www.uktpo.org/2018/03/29/what-can-the-uk-learn-from-existing-customs-unions/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https://davidchivers.co.uk/teaching/macro-applications/lecture_2.html#/l2-s05</a:t>
            </a:r>
          </a:p>
          <a:p xmlns:a="http://schemas.openxmlformats.org/drawingml/2006/main">
            <a:r>
              <a:t/>
            </a:r>
          </a:p>
          <a:p xmlns:a="http://schemas.openxmlformats.org/drawingml/2006/main">
            <a:r>
              <a:t>Tariff removal: who benefits?</a:t>
            </a:r>
          </a:p>
          <a:p xmlns:a="http://schemas.openxmlformats.org/drawingml/2006/main">
            <a:r>
              <a:t/>
            </a:r>
          </a:p>
          <a:p xmlns:a="http://schemas.openxmlformats.org/drawingml/2006/main">
            <a:r>
              <a:t>Is the removal of tariff barriers beneficial for all countries involved?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https://davidchivers.co.uk/teaching/macro-applications/lecture_2.html#/l2-s06</a:t>
            </a:r>
          </a:p>
          <a:p xmlns:a="http://schemas.openxmlformats.org/drawingml/2006/main">
            <a:r>
              <a:t/>
            </a:r>
          </a:p>
          <a:p xmlns:a="http://schemas.openxmlformats.org/drawingml/2006/main">
            <a:r>
              <a:t>Framework</a:t>
            </a:r>
          </a:p>
          <a:p xmlns:a="http://schemas.openxmlformats.org/drawingml/2006/main">
            <a:r>
              <a:t>Perfect competition</a:t>
            </a:r>
          </a:p>
          <a:p xmlns:a="http://schemas.openxmlformats.org/drawingml/2006/main">
            <a:r>
              <a:t>Full employment</a:t>
            </a:r>
          </a:p>
          <a:p xmlns:a="http://schemas.openxmlformats.org/drawingml/2006/main">
            <a:r>
              <a:t>No transport costs</a:t>
            </a:r>
          </a:p>
          <a:p xmlns:a="http://schemas.openxmlformats.org/drawingml/2006/main">
            <a:r>
              <a:t>Perfect factor mobility (capital and labour)</a:t>
            </a:r>
          </a:p>
          <a:p xmlns:a="http://schemas.openxmlformats.org/drawingml/2006/main">
            <a:r>
              <a:t>Firms optimise (P=MR=MC)</a:t>
            </a:r>
          </a:p>
          <a:p xmlns:a="http://schemas.openxmlformats.org/drawingml/2006/main">
            <a:r>
              <a:t>Consumers optimise (P=MU)</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https://davidchivers.co.uk/teaching/macro-applications/lecture_2.html#/l2-s07</a:t>
            </a:r>
          </a:p>
          <a:p xmlns:a="http://schemas.openxmlformats.org/drawingml/2006/main">
            <a:r>
              <a:t/>
            </a:r>
          </a:p>
          <a:p xmlns:a="http://schemas.openxmlformats.org/drawingml/2006/main">
            <a:r>
              <a:t>Customs union</a:t>
            </a:r>
          </a:p>
          <a:p xmlns:a="http://schemas.openxmlformats.org/drawingml/2006/main">
            <a:r>
              <a:t>A simple, symmetric framework</a:t>
            </a:r>
          </a:p>
          <a:p xmlns:a="http://schemas.openxmlformats.org/drawingml/2006/main">
            <a:r>
              <a:t>Good 1</a:t>
            </a:r>
          </a:p>
          <a:p xmlns:a="http://schemas.openxmlformats.org/drawingml/2006/main">
            <a:r>
              <a:t>Good 1</a:t>
            </a:r>
          </a:p>
          <a:p xmlns:a="http://schemas.openxmlformats.org/drawingml/2006/main">
            <a:r>
              <a:t>Good 2</a:t>
            </a:r>
          </a:p>
          <a:p xmlns:a="http://schemas.openxmlformats.org/drawingml/2006/main">
            <a:r>
              <a:t>Good 2</a:t>
            </a:r>
          </a:p>
          <a:p xmlns:a="http://schemas.openxmlformats.org/drawingml/2006/main">
            <a:r>
              <a:t>Good 3</a:t>
            </a:r>
          </a:p>
          <a:p xmlns:a="http://schemas.openxmlformats.org/drawingml/2006/main">
            <a:r>
              <a:t>Good 3</a:t>
            </a:r>
          </a:p>
          <a:p xmlns:a="http://schemas.openxmlformats.org/drawingml/2006/main">
            <a:r>
              <a:t>Home</a:t>
            </a:r>
          </a:p>
          <a:p xmlns:a="http://schemas.openxmlformats.org/drawingml/2006/main">
            <a:r>
              <a:t>Partner</a:t>
            </a:r>
          </a:p>
          <a:p xmlns:a="http://schemas.openxmlformats.org/drawingml/2006/main">
            <a:r>
              <a:t>RoW</a:t>
            </a:r>
          </a:p>
          <a:p xmlns:a="http://schemas.openxmlformats.org/drawingml/2006/main">
            <a:r>
              <a:t/>
            </a:r>
          </a:p>
          <a:p xmlns:a="http://schemas.openxmlformats.org/drawingml/2006/main">
            <a:r>
              <a:t>Home imports good 1; Partner imports good 2; RoW imports good 3.</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https://davidchivers.co.uk/teaching/macro-applications/lecture_2.html#/l2-s08</a:t>
            </a:r>
          </a:p>
          <a:p xmlns:a="http://schemas.openxmlformats.org/drawingml/2006/main">
            <a:r>
              <a:t/>
            </a:r>
          </a:p>
          <a:p xmlns:a="http://schemas.openxmlformats.org/drawingml/2006/main">
            <a:r>
              <a:t>The import demand curve</a:t>
            </a:r>
          </a:p>
          <a:p xmlns:a="http://schemas.openxmlformats.org/drawingml/2006/main">
            <a:r>
              <a:t/>
            </a:r>
          </a:p>
          <a:p xmlns:a="http://schemas.openxmlformats.org/drawingml/2006/main">
            <a:r>
              <a:t>Below Home’s autarky price, imports equal domestic demand minus domestic supply: </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
            </a:r>
          </a:p>
          <a:p xmlns:a="http://schemas.openxmlformats.org/drawingml/2006/main">
            <a:r>
              <a:t>The highlighted quantity intervals are equal: imports are the gap between demand and supply.</a:t>
            </a:r>
          </a:p>
          <a:p xmlns:a="http://schemas.openxmlformats.org/drawingml/2006/main">
            <a:r>
              <a:t/>
            </a:r>
          </a:p>
          <a:p xmlns:a="http://schemas.openxmlformats.org/drawingml/2006/main">
            <a:r>
              <a:t>Deriving Home import demand from domestic supply and demand. Continuous horizontal guides align Home's autarky and free-trade prices across both panels. At the autarky price, domestic supply equals demand and imports are zero. At the free-trade price, the highlighted gap between domestic supply and demand has exactly the same width as Home imports in the right panel. Import demand slopes downwards.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https://davidchivers.co.uk/teaching/macro-applications/lecture_2.html#/l2-s09</a:t>
            </a:r>
          </a:p>
          <a:p xmlns:a="http://schemas.openxmlformats.org/drawingml/2006/main">
            <a:r>
              <a:t/>
            </a:r>
          </a:p>
          <a:p xmlns:a="http://schemas.openxmlformats.org/drawingml/2006/main">
            <a:r>
              <a:t>Partner’s export supply curve</a:t>
            </a:r>
          </a:p>
          <a:p xmlns:a="http://schemas.openxmlformats.org/drawingml/2006/main">
            <a:r>
              <a:t/>
            </a:r>
          </a:p>
          <a:p xmlns:a="http://schemas.openxmlformats.org/drawingml/2006/main">
            <a:r>
              <a:t>Above Partner’s autarky price, exports equal domestic supply minus domestic demand: </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
            </a:r>
          </a:p>
          <a:p xmlns:a="http://schemas.openxmlformats.org/drawingml/2006/main">
            <a:r>
              <a:t>The highlighted quantity intervals are equal: exports are the gap between supply and demand.</a:t>
            </a:r>
          </a:p>
          <a:p xmlns:a="http://schemas.openxmlformats.org/drawingml/2006/main">
            <a:r>
              <a:t/>
            </a:r>
          </a:p>
          <a:p xmlns:a="http://schemas.openxmlformats.org/drawingml/2006/main">
            <a:r>
              <a:t>Deriving Partner export supply from domestic supply and demand. Continuous horizontal guides align the autarky and free-trade prices across both panels. At the autarky price, exports are zero. At the free-trade price, the highlighted gap between supply and demand is exactly as wide as exports in the right panel. Export supply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https://davidchivers.co.uk/teaching/macro-applications/lecture_2.html#/l2-s10</a:t>
            </a:r>
          </a:p>
          <a:p xmlns:a="http://schemas.openxmlformats.org/drawingml/2006/main">
            <a:r>
              <a:t/>
            </a:r>
          </a:p>
          <a:p xmlns:a="http://schemas.openxmlformats.org/drawingml/2006/main">
            <a:r>
              <a:t>The aggregate export supply curve</a:t>
            </a:r>
          </a:p>
          <a:p xmlns:a="http://schemas.openxmlformats.org/drawingml/2006/main">
            <a:r>
              <a:t/>
            </a:r>
          </a:p>
          <a:p xmlns:a="http://schemas.openxmlformats.org/drawingml/2006/main">
            <a:r>
              <a:t>Home’s import supply is the horizontal sum of both export supply curves: </a:t>
            </a:r>
          </a:p>
          <a:p xmlns:a="http://schemas.openxmlformats.org/drawingml/2006/main">
            <a:r>
              <a:t>𝑀</a:t>
            </a:r>
          </a:p>
          <a:p xmlns:a="http://schemas.openxmlformats.org/drawingml/2006/main">
            <a:r>
              <a:t>𝑆</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
            </a:r>
          </a:p>
          <a:p xmlns:a="http://schemas.openxmlformats.org/drawingml/2006/main">
            <a:r>
              <a:t>At each common price, add quantities horizontally to obtain aggregate supply.</a:t>
            </a:r>
          </a:p>
          <a:p xmlns:a="http://schemas.openxmlformats.org/drawingml/2006/main">
            <a:r>
              <a:t/>
            </a:r>
          </a:p>
          <a:p xmlns:a="http://schemas.openxmlformats.org/drawingml/2006/main">
            <a:r>
              <a:t>Three panels on common price and quantity scales. A continuous free-trade-price guide crosses both export supply panels and Home's import supply panel. The horizontal distance for aggregate supply equals the sum of the two exporter distances at that price.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https://davidchivers.co.uk/teaching/macro-applications/lecture_2.html#/l2-s11</a:t>
            </a:r>
          </a:p>
          <a:p xmlns:a="http://schemas.openxmlformats.org/drawingml/2006/main">
            <a:r>
              <a:t/>
            </a:r>
          </a:p>
          <a:p xmlns:a="http://schemas.openxmlformats.org/drawingml/2006/main">
            <a:r>
              <a:t>World equilibrium (free trade)</a:t>
            </a:r>
          </a:p>
          <a:p xmlns:a="http://schemas.openxmlformats.org/drawingml/2006/main">
            <a:r>
              <a:t/>
            </a:r>
          </a:p>
          <a:p xmlns:a="http://schemas.openxmlformats.org/drawingml/2006/main">
            <a:r>
              <a:t>At the free-trade equilibrium price </a:t>
            </a:r>
          </a:p>
          <a:p xmlns:a="http://schemas.openxmlformats.org/drawingml/2006/main">
            <a:r>
              <a:t>𝑃</a:t>
            </a:r>
          </a:p>
          <a:p xmlns:a="http://schemas.openxmlformats.org/drawingml/2006/main">
            <a:r>
              <a:t>𝐹</a:t>
            </a:r>
          </a:p>
          <a:p xmlns:a="http://schemas.openxmlformats.org/drawingml/2006/main">
            <a:r>
              <a:t>𝑇</a:t>
            </a:r>
          </a:p>
          <a:p xmlns:a="http://schemas.openxmlformats.org/drawingml/2006/main">
            <a:r>
              <a:t>, world demand equals world supply.</a:t>
            </a:r>
          </a:p>
          <a:p xmlns:a="http://schemas.openxmlformats.org/drawingml/2006/main">
            <a:r>
              <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𝑅</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
            </a:r>
          </a:p>
          <a:p xmlns:a="http://schemas.openxmlformats.org/drawingml/2006/main">
            <a:r>
              <a:t>The same three panels and scales as aggregate supply. Home import demand intersects aggregate import supply at the free-trade price. The continuous horizontal price guide links that intersection to both exporters. Home's import quantity equals the sum of Partner and rest-of-world exports.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https://davidchivers.co.uk/teaching/macro-applications/lecture_2.html#/l2-s12</a:t>
            </a:r>
          </a:p>
          <a:p xmlns:a="http://schemas.openxmlformats.org/drawingml/2006/main">
            <a:r>
              <a:t/>
            </a:r>
          </a:p>
          <a:p xmlns:a="http://schemas.openxmlformats.org/drawingml/2006/main">
            <a:r>
              <a:t>Before the formation of the CU</a:t>
            </a:r>
          </a:p>
          <a:p xmlns:a="http://schemas.openxmlformats.org/drawingml/2006/main">
            <a:r>
              <a:t>Assume that Home, Partner and RoW were all applying the ‘Most Favoured Nation’ principle (GATT/WTO), according to which trade barriers should not be discriminatory.</a:t>
            </a:r>
          </a:p>
          <a:p xmlns:a="http://schemas.openxmlformats.org/drawingml/2006/main">
            <a:r>
              <a:t>Home imposes the same tariff on Partner and RoW.</a:t>
            </a:r>
          </a:p>
          <a:p xmlns:a="http://schemas.openxmlformats.org/drawingml/2006/main">
            <a:r>
              <a:t>The “welfare” impact of the imposition of a MFN tariff is negative from a global point of view: the imposing country might gain, but the affected country always loses (see Baldwin and Wyplosz).</a:t>
            </a:r>
          </a:p>
          <a:p xmlns:a="http://schemas.openxmlformats.org/drawingml/2006/main">
            <a:r>
              <a:t/>
            </a:r>
          </a:p>
          <a:p xmlns:a="http://schemas.openxmlformats.org/drawingml/2006/main">
            <a:r>
              <a:t/>
            </a:r>
          </a:p>
          <a:p xmlns:a="http://schemas.openxmlformats.org/drawingml/2006/main">
            <a:r>
              <a:t/>
            </a:r>
          </a:p>
          <a:p xmlns:a="http://schemas.openxmlformats.org/drawingml/2006/main">
            <a:r>
              <a:t>CU: Customs union</a:t>
            </a:r>
          </a:p>
          <a:p xmlns:a="http://schemas.openxmlformats.org/drawingml/2006/main">
            <a:r>
              <a:t>RoW: Rest of the world</a:t>
            </a:r>
          </a:p>
          <a:p xmlns:a="http://schemas.openxmlformats.org/drawingml/2006/main">
            <a:r>
              <a:t>GATT: General Agreement on Tariffs and Trade</a:t>
            </a:r>
          </a:p>
          <a:p xmlns:a="http://schemas.openxmlformats.org/drawingml/2006/main">
            <a:r>
              <a:t>WTO: World Trade Organization</a:t>
            </a:r>
          </a:p>
          <a:p xmlns:a="http://schemas.openxmlformats.org/drawingml/2006/main">
            <a:r>
              <a:t>MFN: Most-favoured-nation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https://davidchivers.co.uk/teaching/macro-applications/lecture_2.html#/l2-s13</a:t>
            </a:r>
          </a:p>
          <a:p xmlns:a="http://schemas.openxmlformats.org/drawingml/2006/main">
            <a:r>
              <a:t/>
            </a:r>
          </a:p>
          <a:p xmlns:a="http://schemas.openxmlformats.org/drawingml/2006/main">
            <a:r>
              <a:t>Three-country analysis (MFN)</a:t>
            </a:r>
          </a:p>
          <a:p xmlns:a="http://schemas.openxmlformats.org/drawingml/2006/main">
            <a:r>
              <a:t/>
            </a:r>
          </a:p>
          <a:p xmlns:a="http://schemas.openxmlformats.org/drawingml/2006/main">
            <a:r>
              <a:t>Home applies the same tariff </a:t>
            </a:r>
          </a:p>
          <a:p xmlns:a="http://schemas.openxmlformats.org/drawingml/2006/main">
            <a:r>
              <a:t>𝑇</a:t>
            </a:r>
          </a:p>
          <a:p xmlns:a="http://schemas.openxmlformats.org/drawingml/2006/main">
            <a:r>
              <a:t> to Partner and the rest of the world.</a:t>
            </a:r>
          </a:p>
          <a:p xmlns:a="http://schemas.openxmlformats.org/drawingml/2006/main">
            <a:r>
              <a:t/>
            </a:r>
          </a:p>
          <a:p xmlns:a="http://schemas.openxmlformats.org/drawingml/2006/main">
            <a:r>
              <a:t>Predict: what changes when Home removes the tariff on Partner?</a:t>
            </a:r>
          </a:p>
          <a:p xmlns:a="http://schemas.openxmlformats.org/drawingml/2006/main">
            <a:r>
              <a:t/>
            </a:r>
          </a:p>
          <a:p xmlns:a="http://schemas.openxmlformats.org/drawingml/2006/main">
            <a:r>
              <a:t>Three fixed panels: rest-of-world exports, Partner exports and Home imports. Blue dashed lines mark the initial MFN equilibrium. Home pays P prime; both exporters receive P prime minus T. Grey MS is aggregate supply under free trade.</a:t>
            </a:r>
          </a:p>
          <a:p xmlns:a="http://schemas.openxmlformats.org/drawingml/2006/main">
            <a:r>
              <a:t/>
            </a:r>
          </a:p>
          <a:p xmlns:a="http://schemas.openxmlformats.org/drawingml/2006/main">
            <a:r>
              <a:t>MFN: Most-favoured-nation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https://davidchivers.co.uk/teaching/macro-applications/lecture_2.html#/l2-s14</a:t>
            </a:r>
          </a:p>
          <a:p xmlns:a="http://schemas.openxmlformats.org/drawingml/2006/main">
            <a:r>
              <a:t/>
            </a:r>
          </a:p>
          <a:p xmlns:a="http://schemas.openxmlformats.org/drawingml/2006/main">
            <a:r>
              <a:t>The formation of the CU</a:t>
            </a:r>
          </a:p>
          <a:p xmlns:a="http://schemas.openxmlformats.org/drawingml/2006/main">
            <a:r>
              <a:t/>
            </a:r>
          </a:p>
          <a:p xmlns:a="http://schemas.openxmlformats.org/drawingml/2006/main">
            <a:r>
              <a:t>Home removes the tariff on Partner. The tariff on RoW remains </a:t>
            </a:r>
          </a:p>
          <a:p xmlns:a="http://schemas.openxmlformats.org/drawingml/2006/main">
            <a:r>
              <a:t>𝑇</a:t>
            </a:r>
          </a:p>
          <a:p xmlns:a="http://schemas.openxmlformats.org/drawingml/2006/main">
            <a:r>
              <a:t>.</a:t>
            </a:r>
          </a:p>
          <a:p xmlns:a="http://schemas.openxmlformats.org/drawingml/2006/main">
            <a:r>
              <a:t/>
            </a:r>
          </a:p>
          <a:p xmlns:a="http://schemas.openxmlformats.org/drawingml/2006/main">
            <a:r>
              <a:t>Home’s price falls; Partner exports more; RoW exports less. Dashed blue: before. Solid orange: after.</a:t>
            </a:r>
          </a:p>
          <a:p xmlns:a="http://schemas.openxmlformats.org/drawingml/2006/main">
            <a:r>
              <a:t/>
            </a:r>
          </a:p>
          <a:p xmlns:a="http://schemas.openxmlformats.org/drawingml/2006/main">
            <a:r>
              <a:t>The same three panels, with axes and curves fixed. Blue dashed lines retain the MFN equilibrium; orange solid lines mark the customs-union equilibrium. Home's price falls to P double prime. Partner receives that price and exports more. RoW receives P double prime minus T and exports less. Home imports increase.</a:t>
            </a:r>
          </a:p>
          <a:p xmlns:a="http://schemas.openxmlformats.org/drawingml/2006/main">
            <a:r>
              <a:t/>
            </a:r>
          </a:p>
          <a:p xmlns:a="http://schemas.openxmlformats.org/drawingml/2006/main">
            <a:r>
              <a:t>CU: Customs union</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https://davidchivers.co.uk/teaching/macro-applications/lecture_2.html#/l2-s15</a:t>
            </a:r>
          </a:p>
          <a:p xmlns:a="http://schemas.openxmlformats.org/drawingml/2006/main">
            <a:r>
              <a:t/>
            </a:r>
          </a:p>
          <a:p xmlns:a="http://schemas.openxmlformats.org/drawingml/2006/main">
            <a:r>
              <a:t>“Welfare” effects</a:t>
            </a:r>
          </a:p>
          <a:p xmlns:a="http://schemas.openxmlformats.org/drawingml/2006/main">
            <a:r>
              <a:t/>
            </a:r>
          </a:p>
          <a:p xmlns:a="http://schemas.openxmlformats.org/drawingml/2006/main">
            <a:r>
              <a:t>The shaded areas measure each exporter’s net welfare change for this good.</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
            </a:r>
          </a:p>
          <a:p xmlns:a="http://schemas.openxmlformats.org/drawingml/2006/main">
            <a:r>
              <a:t>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Home’s welfare needs a separate calculation.</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https://davidchivers.co.uk/teaching/macro-applications/lecture_2.html#/l2-s16</a:t>
            </a:r>
          </a:p>
          <a:p xmlns:a="http://schemas.openxmlformats.org/drawingml/2006/main">
            <a:r>
              <a:t/>
            </a:r>
          </a:p>
          <a:p xmlns:a="http://schemas.openxmlformats.org/drawingml/2006/main">
            <a:r>
              <a:t>Home welfare: consumers and producers</a:t>
            </a:r>
          </a:p>
          <a:p xmlns:a="http://schemas.openxmlformats.org/drawingml/2006/main">
            <a:r>
              <a:t/>
            </a:r>
          </a:p>
          <a:p xmlns:a="http://schemas.openxmlformats.org/drawingml/2006/main">
            <a:r>
              <a:t>Home’s price falls from </a:t>
            </a:r>
          </a:p>
          <a:p xmlns:a="http://schemas.openxmlformats.org/drawingml/2006/main">
            <a:r>
              <a:t>𝑃</a:t>
            </a:r>
          </a:p>
          <a:p xmlns:a="http://schemas.openxmlformats.org/drawingml/2006/main">
            <a:r>
              <a:t>′</a:t>
            </a:r>
          </a:p>
          <a:p xmlns:a="http://schemas.openxmlformats.org/drawingml/2006/main">
            <a:r>
              <a:t> to </a:t>
            </a:r>
          </a:p>
          <a:p xmlns:a="http://schemas.openxmlformats.org/drawingml/2006/main">
            <a:r>
              <a:t>𝑃</a:t>
            </a:r>
          </a:p>
          <a:p xmlns:a="http://schemas.openxmlformats.org/drawingml/2006/main">
            <a:r>
              <a:t>″</a:t>
            </a:r>
          </a:p>
          <a:p xmlns:a="http://schemas.openxmlformats.org/drawingml/2006/main">
            <a:r>
              <a:t>: consumers gain and producers lose.</a:t>
            </a:r>
          </a:p>
          <a:p xmlns:a="http://schemas.openxmlformats.org/drawingml/2006/main">
            <a:r>
              <a:t/>
            </a:r>
          </a:p>
          <a:p xmlns:a="http://schemas.openxmlformats.org/drawingml/2006/main">
            <a:r>
              <a:t>Price</a:t>
            </a:r>
          </a:p>
          <a:p xmlns:a="http://schemas.openxmlformats.org/drawingml/2006/main">
            <a:r>
              <a:t>Quantity</a:t>
            </a:r>
          </a:p>
          <a:p xmlns:a="http://schemas.openxmlformats.org/drawingml/2006/main">
            <a:r>
              <a:t>S</a:t>
            </a:r>
          </a:p>
          <a:p xmlns:a="http://schemas.openxmlformats.org/drawingml/2006/main">
            <a:r>
              <a:t>D</a:t>
            </a:r>
          </a:p>
          <a:p xmlns:a="http://schemas.openxmlformats.org/drawingml/2006/main">
            <a:r>
              <a:t>P′</a:t>
            </a:r>
          </a:p>
          <a:p xmlns:a="http://schemas.openxmlformats.org/drawingml/2006/main">
            <a:r>
              <a:t>P″</a:t>
            </a:r>
          </a:p>
          <a:p xmlns:a="http://schemas.openxmlformats.org/drawingml/2006/main">
            <a:r>
              <a:t>D</a:t>
            </a:r>
          </a:p>
          <a:p xmlns:a="http://schemas.openxmlformats.org/drawingml/2006/main">
            <a:r>
              <a:t>A1</a:t>
            </a:r>
          </a:p>
          <a:p xmlns:a="http://schemas.openxmlformats.org/drawingml/2006/main">
            <a:r>
              <a:t>A2</a:t>
            </a:r>
          </a:p>
          <a:p xmlns:a="http://schemas.openxmlformats.org/drawingml/2006/main">
            <a:r>
              <a:t>A3</a:t>
            </a:r>
          </a:p>
          <a:p xmlns:a="http://schemas.openxmlformats.org/drawingml/2006/main">
            <a:r>
              <a:t>S″</a:t>
            </a:r>
          </a:p>
          <a:p xmlns:a="http://schemas.openxmlformats.org/drawingml/2006/main">
            <a:r>
              <a:t>S′</a:t>
            </a:r>
          </a:p>
          <a:p xmlns:a="http://schemas.openxmlformats.org/drawingml/2006/main">
            <a:r>
              <a:t>D′</a:t>
            </a:r>
          </a:p>
          <a:p xmlns:a="http://schemas.openxmlformats.org/drawingml/2006/main">
            <a:r>
              <a:t>D″</a:t>
            </a:r>
          </a:p>
          <a:p xmlns:a="http://schemas.openxmlformats.org/drawingml/2006/main">
            <a:r>
              <a:t>D is a transfer from producers to consumers.</a:t>
            </a:r>
          </a:p>
          <a:p xmlns:a="http://schemas.openxmlformats.org/drawingml/2006/main">
            <a:r>
              <a:t>Consumer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Producer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
            </a:r>
          </a:p>
          <a:p xmlns:a="http://schemas.openxmlformats.org/drawingml/2006/main">
            <a:r>
              <a:t>Net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The transfer </a:t>
            </a:r>
          </a:p>
          <a:p xmlns:a="http://schemas.openxmlformats.org/drawingml/2006/main">
            <a:r>
              <a:t>𝐷</a:t>
            </a:r>
          </a:p>
          <a:p xmlns:a="http://schemas.openxmlformats.org/drawingml/2006/main">
            <a:r>
              <a:t> cancels. We still need the change in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https://davidchivers.co.uk/teaching/macro-applications/lecture_2.html#/l2-s17</a:t>
            </a:r>
          </a:p>
          <a:p xmlns:a="http://schemas.openxmlformats.org/drawingml/2006/main">
            <a:r>
              <a:t/>
            </a:r>
          </a:p>
          <a:p xmlns:a="http://schemas.openxmlformats.org/drawingml/2006/main">
            <a:r>
              <a:t>Home welfare: tariff revenue and total</a:t>
            </a:r>
          </a:p>
          <a:p xmlns:a="http://schemas.openxmlformats.org/drawingml/2006/main">
            <a:r>
              <a:t/>
            </a:r>
          </a:p>
          <a:p xmlns:a="http://schemas.openxmlformats.org/drawingml/2006/main">
            <a:r>
              <a:t>After the customs union, only imports from RoW generate tariff revenue.</a:t>
            </a:r>
          </a:p>
          <a:p xmlns:a="http://schemas.openxmlformats.org/drawingml/2006/main">
            <a:r>
              <a:t/>
            </a:r>
          </a:p>
          <a:p xmlns:a="http://schemas.openxmlformats.org/drawingml/2006/main">
            <a:r>
              <a:t>Price</a:t>
            </a:r>
          </a:p>
          <a:p xmlns:a="http://schemas.openxmlformats.org/drawingml/2006/main">
            <a:r>
              <a:t>Home imports</a:t>
            </a:r>
          </a:p>
          <a:p xmlns:a="http://schemas.openxmlformats.org/drawingml/2006/main">
            <a:r>
              <a:t>MD</a:t>
            </a:r>
          </a:p>
          <a:p xmlns:a="http://schemas.openxmlformats.org/drawingml/2006/main">
            <a:r>
              <a:t>P′</a:t>
            </a:r>
          </a:p>
          <a:p xmlns:a="http://schemas.openxmlformats.org/drawingml/2006/main">
            <a:r>
              <a:t>P″</a:t>
            </a:r>
          </a:p>
          <a:p xmlns:a="http://schemas.openxmlformats.org/drawingml/2006/main">
            <a:r>
              <a:t>P′ − T</a:t>
            </a:r>
          </a:p>
          <a:p xmlns:a="http://schemas.openxmlformats.org/drawingml/2006/main">
            <a:r>
              <a:t>P″ − T</a:t>
            </a:r>
          </a:p>
          <a:p xmlns:a="http://schemas.openxmlformats.org/drawingml/2006/main">
            <a:r>
              <a:t>XR″</a:t>
            </a:r>
          </a:p>
          <a:p xmlns:a="http://schemas.openxmlformats.org/drawingml/2006/main">
            <a:r>
              <a:t>M′</a:t>
            </a:r>
          </a:p>
          <a:p xmlns:a="http://schemas.openxmlformats.org/drawingml/2006/main">
            <a:r>
              <a:t>M″</a:t>
            </a:r>
          </a:p>
          <a:p xmlns:a="http://schemas.openxmlformats.org/drawingml/2006/main">
            <a:r>
              <a:t>A1</a:t>
            </a:r>
          </a:p>
          <a:p xmlns:a="http://schemas.openxmlformats.org/drawingml/2006/main">
            <a:r>
              <a:t>B1</a:t>
            </a:r>
          </a:p>
          <a:p xmlns:a="http://schemas.openxmlformats.org/drawingml/2006/main">
            <a:r>
              <a:t>C</a:t>
            </a:r>
          </a:p>
          <a:p xmlns:a="http://schemas.openxmlformats.org/drawingml/2006/main">
            <a:r>
              <a:t>B</a:t>
            </a:r>
          </a:p>
          <a:p xmlns:a="http://schemas.openxmlformats.org/drawingml/2006/main">
            <a:r>
              <a:t>A</a:t>
            </a:r>
          </a:p>
          <a:p xmlns:a="http://schemas.openxmlformats.org/drawingml/2006/main">
            <a:r>
              <a:t>T</a:t>
            </a:r>
          </a:p>
          <a:p xmlns:a="http://schemas.openxmlformats.org/drawingml/2006/main">
            <a:r>
              <a:t>T</a:t>
            </a:r>
          </a:p>
          <a:p xmlns:a="http://schemas.openxmlformats.org/drawingml/2006/main">
            <a:r>
              <a:t>A = A₂ + A₃; the net welfare effect is A + B − C.</a:t>
            </a:r>
          </a:p>
          <a:p xmlns:a="http://schemas.openxmlformats.org/drawingml/2006/main">
            <a:r>
              <a:t>Tariff revenue</a:t>
            </a:r>
          </a:p>
          <a:p xmlns:a="http://schemas.openxmlformats.org/drawingml/2006/main">
            <a:r>
              <a:t/>
            </a:r>
          </a:p>
          <a:p xmlns:a="http://schemas.openxmlformats.org/drawingml/2006/main">
            <a:r>
              <a:t>Before: </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𝑇</a:t>
            </a:r>
          </a:p>
          <a:p xmlns:a="http://schemas.openxmlformats.org/drawingml/2006/main">
            <a:r>
              <a:t>𝑀</a:t>
            </a:r>
          </a:p>
          <a:p xmlns:a="http://schemas.openxmlformats.org/drawingml/2006/main">
            <a:r>
              <a:t>′</a:t>
            </a:r>
          </a:p>
          <a:p xmlns:a="http://schemas.openxmlformats.org/drawingml/2006/main">
            <a:r>
              <a:t>.</a:t>
            </a:r>
          </a:p>
          <a:p xmlns:a="http://schemas.openxmlformats.org/drawingml/2006/main">
            <a:r>
              <a:t/>
            </a:r>
          </a:p>
          <a:p xmlns:a="http://schemas.openxmlformats.org/drawingml/2006/main">
            <a:r>
              <a:t>After: </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𝑇</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a:t>
            </a:r>
          </a:p>
          <a:p xmlns:a="http://schemas.openxmlformats.org/drawingml/2006/main">
            <a:r>
              <a:t>.</a:t>
            </a:r>
          </a:p>
          <a:p xmlns:a="http://schemas.openxmlformats.org/drawingml/2006/main">
            <a:r>
              <a:t/>
            </a:r>
          </a:p>
          <a:p xmlns:a="http://schemas.openxmlformats.org/drawingml/2006/main">
            <a:r>
              <a:t>Change: </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Add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The sign is ambiguous. Here, </a:t>
            </a:r>
          </a:p>
          <a:p xmlns:a="http://schemas.openxmlformats.org/drawingml/2006/main">
            <a:r>
              <a:t>𝐴</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https://davidchivers.co.uk/teaching/macro-applications/lecture_2.html#/l2-s18</a:t>
            </a:r>
          </a:p>
          <a:p xmlns:a="http://schemas.openxmlformats.org/drawingml/2006/main">
            <a:r>
              <a:t/>
            </a:r>
          </a:p>
          <a:p xmlns:a="http://schemas.openxmlformats.org/drawingml/2006/main">
            <a:r>
              <a:t>Summing up the welfare effects</a:t>
            </a:r>
          </a:p>
          <a:p xmlns:a="http://schemas.openxmlformats.org/drawingml/2006/main">
            <a:r>
              <a:t>Home</a:t>
            </a:r>
          </a:p>
          <a:p xmlns:a="http://schemas.openxmlformats.org/drawingml/2006/main">
            <a:r>
              <a:t>Good 1 (imported): </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Good 2 (exported to Partner):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Good 3 (exported to RoW): no change.</a:t>
            </a:r>
          </a:p>
          <a:p xmlns:a="http://schemas.openxmlformats.org/drawingml/2006/main">
            <a:r>
              <a:t>Partner</a:t>
            </a:r>
          </a:p>
          <a:p xmlns:a="http://schemas.openxmlformats.org/drawingml/2006/main">
            <a:r>
              <a:t/>
            </a:r>
          </a:p>
          <a:p xmlns:a="http://schemas.openxmlformats.org/drawingml/2006/main">
            <a:r>
              <a:t>Identical to Home.</a:t>
            </a:r>
          </a:p>
          <a:p xmlns:a="http://schemas.openxmlformats.org/drawingml/2006/main">
            <a:r>
              <a:t/>
            </a:r>
          </a:p>
          <a:p xmlns:a="http://schemas.openxmlformats.org/drawingml/2006/main">
            <a:r>
              <a:t>Rest of the world</a:t>
            </a:r>
          </a:p>
          <a:p xmlns:a="http://schemas.openxmlformats.org/drawingml/2006/main">
            <a:r>
              <a:t>Goods 1 and 2 (exported to customs union members): </a:t>
            </a:r>
          </a:p>
          <a:p xmlns:a="http://schemas.openxmlformats.org/drawingml/2006/main">
            <a:r>
              <a:t>−</a:t>
            </a:r>
          </a:p>
          <a:p xmlns:a="http://schemas.openxmlformats.org/drawingml/2006/main">
            <a:r>
              <a:t>2</a:t>
            </a:r>
          </a:p>
          <a:p xmlns:a="http://schemas.openxmlformats.org/drawingml/2006/main">
            <a:r>
              <a:t>𝐸</a:t>
            </a:r>
          </a:p>
          <a:p xmlns:a="http://schemas.openxmlformats.org/drawingml/2006/main">
            <a:r>
              <a:t>.</a:t>
            </a:r>
          </a:p>
          <a:p xmlns:a="http://schemas.openxmlformats.org/drawingml/2006/main">
            <a:r>
              <a:t>Good 3 (imported from customs union members): no change.</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https://davidchivers.co.uk/teaching/macro-applications/lecture_2.html#/l2-s19</a:t>
            </a:r>
          </a:p>
          <a:p xmlns:a="http://schemas.openxmlformats.org/drawingml/2006/main">
            <a:r>
              <a:t/>
            </a:r>
          </a:p>
          <a:p xmlns:a="http://schemas.openxmlformats.org/drawingml/2006/main">
            <a:r>
              <a:t>Summing up the welfare effects: in words</a:t>
            </a:r>
          </a:p>
          <a:p xmlns:a="http://schemas.openxmlformats.org/drawingml/2006/main">
            <a:r>
              <a:t>Three elements</a:t>
            </a:r>
          </a:p>
          <a:p xmlns:a="http://schemas.openxmlformats.org/drawingml/2006/main">
            <a:r>
              <a:t>Adam Smith’s certitude: foreign firms gain when tariffs against them are eliminated (increase in the price of the exported good);</a:t>
            </a:r>
          </a:p>
          <a:p xmlns:a="http://schemas.openxmlformats.org/drawingml/2006/main">
            <a:r>
              <a:t>Haberler’s spillover: third nations – those excluded from the tariff reductions – lose (fall in the price of the exported good);</a:t>
            </a:r>
          </a:p>
          <a:p xmlns:a="http://schemas.openxmlformats.org/drawingml/2006/main">
            <a:r>
              <a:t>Viner’s ambiguity: “trade creation” effect with Partner has to be weighed against “supply switching” or “trade diversion”.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https://davidchivers.co.uk/teaching/macro-applications/lecture_2.html#/l2-s20</a:t>
            </a:r>
          </a:p>
          <a:p xmlns:a="http://schemas.openxmlformats.org/drawingml/2006/main">
            <a:r>
              <a:t/>
            </a:r>
          </a:p>
          <a:p xmlns:a="http://schemas.openxmlformats.org/drawingml/2006/main">
            <a:r>
              <a:t>What do we mean by welfare?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https://davidchivers.co.uk/teaching/macro-applications/lecture_2.html#/l2-s21</a:t>
            </a:r>
          </a:p>
          <a:p xmlns:a="http://schemas.openxmlformats.org/drawingml/2006/main">
            <a:r>
              <a:t/>
            </a:r>
          </a:p>
          <a:p xmlns:a="http://schemas.openxmlformats.org/drawingml/2006/main">
            <a:r>
              <a:t>Non-tariff barriers</a:t>
            </a:r>
          </a:p>
          <a:p xmlns:a="http://schemas.openxmlformats.org/drawingml/2006/main">
            <a:r>
              <a:t>Protection by country</a:t>
            </a:r>
          </a:p>
          <a:p xmlns:a="http://schemas.openxmlformats.org/drawingml/2006/main">
            <a:r>
              <a:t>Country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Belgium	7.0	7.6	19.6	28.2</a:t>
            </a:r>
          </a:p>
          <a:p xmlns:a="http://schemas.openxmlformats.org/drawingml/2006/main">
            <a:r>
              <a:t>Denmark	7.1	4.1	18.2	27.0</a:t>
            </a:r>
          </a:p>
          <a:p xmlns:a="http://schemas.openxmlformats.org/drawingml/2006/main">
            <a:r>
              <a:t>Germany, West	7.4	6.0	22.3	27.4</a:t>
            </a:r>
          </a:p>
          <a:p xmlns:a="http://schemas.openxmlformats.org/drawingml/2006/main">
            <a:r>
              <a:t>Greece	7.0	8.6	25.5	25.8</a:t>
            </a:r>
          </a:p>
          <a:p xmlns:a="http://schemas.openxmlformats.org/drawingml/2006/main">
            <a:r>
              <a:t>Spain	6.8	4.8	13.9	22.1</a:t>
            </a:r>
          </a:p>
          <a:p xmlns:a="http://schemas.openxmlformats.org/drawingml/2006/main">
            <a:r>
              <a:t>France	7.4	14.3	18.4	26.1</a:t>
            </a:r>
          </a:p>
          <a:p xmlns:a="http://schemas.openxmlformats.org/drawingml/2006/main">
            <a:r>
              <a:t>Ireland	7.5	7.5	20.8	27.0</a:t>
            </a:r>
          </a:p>
          <a:p xmlns:a="http://schemas.openxmlformats.org/drawingml/2006/main">
            <a:r>
              <a:t>Italy	7.6	14.4	20.9	27.1</a:t>
            </a:r>
          </a:p>
          <a:p xmlns:a="http://schemas.openxmlformats.org/drawingml/2006/main">
            <a:r>
              <a:t>Netherlands	7.1	7.6	20.6	28.1</a:t>
            </a:r>
          </a:p>
          <a:p xmlns:a="http://schemas.openxmlformats.org/drawingml/2006/main">
            <a:r>
              <a:t>Portugal	7.1	3.4	19.1	20.2</a:t>
            </a:r>
          </a:p>
          <a:p xmlns:a="http://schemas.openxmlformats.org/drawingml/2006/main">
            <a:r>
              <a:t>Protection by industry</a:t>
            </a:r>
          </a:p>
          <a:p xmlns:a="http://schemas.openxmlformats.org/drawingml/2006/main">
            <a:r>
              <a:t>Industry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Food products	9.8	33.6	45.9	30.0</a:t>
            </a:r>
          </a:p>
          <a:p xmlns:a="http://schemas.openxmlformats.org/drawingml/2006/main">
            <a:r>
              <a:t>Textiles	11.7	24.5	69.8	38.2</a:t>
            </a:r>
          </a:p>
          <a:p xmlns:a="http://schemas.openxmlformats.org/drawingml/2006/main">
            <a:r>
              <a:t>Apparel	12.3	30.4	71.7	35.7</a:t>
            </a:r>
          </a:p>
          <a:p xmlns:a="http://schemas.openxmlformats.org/drawingml/2006/main">
            <a:r>
              <a:t>Footwear	13.3	44.5	33.8	41.9</a:t>
            </a:r>
          </a:p>
          <a:p xmlns:a="http://schemas.openxmlformats.org/drawingml/2006/main">
            <a:r>
              <a:t>Furniture	6.4	46.2	0.9	46.5</a:t>
            </a:r>
          </a:p>
          <a:p xmlns:a="http://schemas.openxmlformats.org/drawingml/2006/main">
            <a:r>
              <a:t>Industrial chemicals	10.2	23.5	9.1	30.1</a:t>
            </a:r>
          </a:p>
          <a:p xmlns:a="http://schemas.openxmlformats.org/drawingml/2006/main">
            <a:r>
              <a:t>Iron &amp; steel	9.8	38.0	47.7	34.6</a:t>
            </a:r>
          </a:p>
          <a:p xmlns:a="http://schemas.openxmlformats.org/drawingml/2006/main">
            <a:r>
              <a:t>Machinery, electric	8.6	28.3	14.3	33.3</a:t>
            </a:r>
          </a:p>
          <a:p xmlns:a="http://schemas.openxmlformats.org/drawingml/2006/main">
            <a:r>
              <a:t>Transport equipment	7.9	30.7	25.5	38.8</a:t>
            </a:r>
          </a:p>
          <a:p xmlns:a="http://schemas.openxmlformats.org/drawingml/2006/main">
            <a:r>
              <a:t>Professional &amp; scientific equipment	6.5	23.6	2.7	30.3</a:t>
            </a:r>
          </a:p>
          <a:p xmlns:a="http://schemas.openxmlformats.org/drawingml/2006/main">
            <a:r>
              <a:t/>
            </a:r>
          </a:p>
          <a:p xmlns:a="http://schemas.openxmlformats.org/drawingml/2006/main">
            <a:r>
              <a:t>¹ Import-weighted measure. Source: Lee and Swagel (1997), as reproduced in the original lecture. Historical figures.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https://davidchivers.co.uk/teaching/macro-applications/lecture_2.html#/l2-s22</a:t>
            </a:r>
          </a:p>
          <a:p xmlns:a="http://schemas.openxmlformats.org/drawingml/2006/main">
            <a:r>
              <a:t/>
            </a:r>
          </a:p>
          <a:p xmlns:a="http://schemas.openxmlformats.org/drawingml/2006/main">
            <a:r>
              <a:t>Non-tariff barriers: welfare effects</a:t>
            </a:r>
          </a:p>
          <a:p xmlns:a="http://schemas.openxmlformats.org/drawingml/2006/main">
            <a:r>
              <a:t/>
            </a:r>
          </a:p>
          <a:p xmlns:a="http://schemas.openxmlformats.org/drawingml/2006/main">
            <a:r>
              <a:t>Here </a:t>
            </a:r>
          </a:p>
          <a:p xmlns:a="http://schemas.openxmlformats.org/drawingml/2006/main">
            <a:r>
              <a:t>𝑇</a:t>
            </a:r>
          </a:p>
          <a:p xmlns:a="http://schemas.openxmlformats.org/drawingml/2006/main">
            <a:r>
              <a:t> is a real per-unit trade cost. Home removes it on Partner’s goods; it remains on RoW goods.</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F</a:t>
            </a:r>
          </a:p>
          <a:p xmlns:a="http://schemas.openxmlformats.org/drawingml/2006/main">
            <a:r>
              <a:t>A</a:t>
            </a:r>
          </a:p>
          <a:p xmlns:a="http://schemas.openxmlformats.org/drawingml/2006/main">
            <a:r>
              <a:t/>
            </a:r>
          </a:p>
          <a:p xmlns:a="http://schemas.openxmlformats.org/drawingml/2006/main">
            <a:r>
              <a:t>Home gains </a:t>
            </a:r>
          </a:p>
          <a:p xmlns:a="http://schemas.openxmlformats.org/drawingml/2006/main">
            <a:r>
              <a:t>𝐴</a:t>
            </a:r>
          </a:p>
          <a:p xmlns:a="http://schemas.openxmlformats.org/drawingml/2006/main">
            <a:r>
              <a:t>+</a:t>
            </a:r>
          </a:p>
          <a:p xmlns:a="http://schemas.openxmlformats.org/drawingml/2006/main">
            <a:r>
              <a:t>𝐹</a:t>
            </a:r>
          </a:p>
          <a:p xmlns:a="http://schemas.openxmlformats.org/drawingml/2006/main">
            <a:r>
              <a:t>; 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A real trade cost generates no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https://davidchivers.co.uk/teaching/macro-applications/lecture_2.html#/l2-s23</a:t>
            </a:r>
          </a:p>
          <a:p xmlns:a="http://schemas.openxmlformats.org/drawingml/2006/main">
            <a:r>
              <a:t/>
            </a:r>
          </a:p>
          <a:p xmlns:a="http://schemas.openxmlformats.org/drawingml/2006/main">
            <a:r>
              <a:t>The incentives to join a CU</a:t>
            </a:r>
          </a:p>
          <a:p xmlns:a="http://schemas.openxmlformats.org/drawingml/2006/main">
            <a:r>
              <a:t/>
            </a:r>
          </a:p>
          <a:p xmlns:a="http://schemas.openxmlformats.org/drawingml/2006/main">
            <a:r>
              <a:t>We have seen that removing non-tariff barriers produces unambiguously positive welfare effects in this framework. This is not the case for tariff barriers.</a:t>
            </a:r>
          </a:p>
          <a:p xmlns:a="http://schemas.openxmlformats.org/drawingml/2006/main">
            <a:r>
              <a:t/>
            </a:r>
          </a:p>
          <a:p xmlns:a="http://schemas.openxmlformats.org/drawingml/2006/main">
            <a:r>
              <a:t>Question</a:t>
            </a:r>
          </a:p>
          <a:p xmlns:a="http://schemas.openxmlformats.org/drawingml/2006/main">
            <a:r>
              <a:t/>
            </a:r>
          </a:p>
          <a:p xmlns:a="http://schemas.openxmlformats.org/drawingml/2006/main">
            <a:r>
              <a:t>Why join a customs union? Would unilateral liberalisation towards the potential Partner be better?</a:t>
            </a:r>
          </a:p>
          <a:p xmlns:a="http://schemas.openxmlformats.org/drawingml/2006/main">
            <a:r>
              <a:t/>
            </a:r>
          </a:p>
          <a:p xmlns:a="http://schemas.openxmlformats.org/drawingml/2006/main">
            <a:r>
              <a:t>Answer</a:t>
            </a:r>
          </a:p>
          <a:p xmlns:a="http://schemas.openxmlformats.org/drawingml/2006/main">
            <a:r>
              <a:t/>
            </a:r>
          </a:p>
          <a:p xmlns:a="http://schemas.openxmlformats.org/drawingml/2006/main">
            <a:r>
              <a:t>Not necessarily: a country would not benefit from Partner’s tariff reduction within the customs union (area D).</a:t>
            </a:r>
          </a:p>
          <a:p xmlns:a="http://schemas.openxmlformats.org/drawingml/2006/main">
            <a:r>
              <a:t/>
            </a:r>
          </a:p>
          <a:p xmlns:a="http://schemas.openxmlformats.org/drawingml/2006/main">
            <a:r>
              <a:t/>
            </a:r>
          </a:p>
          <a:p xmlns:a="http://schemas.openxmlformats.org/drawingml/2006/main">
            <a:r>
              <a:t/>
            </a:r>
          </a:p>
          <a:p xmlns:a="http://schemas.openxmlformats.org/drawingml/2006/main">
            <a:r>
              <a:t>CU: Customs union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https://davidchivers.co.uk/teaching/macro-applications/lecture_2.html#/l2-s24</a:t>
            </a:r>
          </a:p>
          <a:p xmlns:a="http://schemas.openxmlformats.org/drawingml/2006/main">
            <a:r>
              <a:t/>
            </a:r>
          </a:p>
          <a:p xmlns:a="http://schemas.openxmlformats.org/drawingml/2006/main">
            <a:r>
              <a:t>What did the early studies find?</a:t>
            </a:r>
          </a:p>
          <a:p xmlns:a="http://schemas.openxmlformats.org/drawingml/2006/main">
            <a:r>
              <a:t/>
            </a:r>
          </a:p>
          <a:p xmlns:a="http://schemas.openxmlformats.org/drawingml/2006/main">
            <a:r>
              <a:t>Trade creation exceeded trade diversion in Europe, but the estimated gains were small.</a:t>
            </a:r>
          </a:p>
          <a:p xmlns:a="http://schemas.openxmlformats.org/drawingml/2006/main">
            <a:r>
              <a:t/>
            </a:r>
          </a:p>
          <a:p xmlns:a="http://schemas.openxmlformats.org/drawingml/2006/main">
            <a:r>
              <a:t>Baldwin and Venables (1995).</a:t>
            </a:r>
          </a:p>
          <a:p xmlns:a="http://schemas.openxmlformats.org/drawingml/2006/main">
            <a:r>
              <a:t/>
            </a:r>
          </a:p>
          <a:p xmlns:a="http://schemas.openxmlformats.org/drawingml/2006/main">
            <a:r>
              <a:t>Findings in context</a:t>
            </a:r>
          </a:p>
          <a:p xmlns:a="http://schemas.openxmlformats.org/drawingml/2006/main">
            <a:r>
              <a:t>Little diversion: much of Europe’s trade was already intra-European.</a:t>
            </a:r>
          </a:p>
          <a:p xmlns:a="http://schemas.openxmlformats.org/drawingml/2006/main">
            <a:r>
              <a:t>Limited creation: initial trade barriers were low.</a:t>
            </a:r>
          </a:p>
          <a:p xmlns:a="http://schemas.openxmlformats.org/drawingml/2006/main">
            <a:r>
              <a:t>The perfect-competition framework has limitations.</a:t>
            </a:r>
          </a:p>
          <a:p xmlns:a="http://schemas.openxmlformats.org/drawingml/2006/main">
            <a:r>
              <a:t>Empirical challenges</a:t>
            </a:r>
          </a:p>
          <a:p xmlns:a="http://schemas.openxmlformats.org/drawingml/2006/main">
            <a:r>
              <a:t>Ex ante: quantifying effects in a theoretical framework is complicated (e.g. Miller et al., 1977).</a:t>
            </a:r>
          </a:p>
          <a:p xmlns:a="http://schemas.openxmlformats.org/drawingml/2006/main">
            <a:r>
              <a:t>Ex post: attributing increased intra-European trade, or reduced RoW trade, to customs-union membership is difficult (e.g. Winters, 1987).</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https://davidchivers.co.uk/teaching/macro-applications/lecture_2.html#/l2-s25</a:t>
            </a:r>
          </a:p>
          <a:p xmlns:a="http://schemas.openxmlformats.org/drawingml/2006/main">
            <a:r>
              <a:t/>
            </a:r>
          </a:p>
          <a:p xmlns:a="http://schemas.openxmlformats.org/drawingml/2006/main">
            <a:r>
              <a:t>Next lecture</a:t>
            </a:r>
          </a:p>
          <a:p xmlns:a="http://schemas.openxmlformats.org/drawingml/2006/main">
            <a:r>
              <a:t>We will talk about the competition effects of the Single Market Act.</a:t>
            </a:r>
          </a:p>
          <a:p xmlns:a="http://schemas.openxmlformats.org/drawingml/2006/main">
            <a:r>
              <a:t>Tip: revise the theory of the firm under monopoly and oligopoly (Cournot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https://davidchivers.co.uk/teaching/macro-applications/lecture_2.html#/l2-s26</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Baldwin R., Wyplosz C. (2022), The Economics of European Integration, Chapters 4 and 5</a:t>
            </a:r>
          </a:p>
          <a:p xmlns:a="http://schemas.openxmlformats.org/drawingml/2006/main">
            <a:r>
              <a:t>Further reading</a:t>
            </a:r>
          </a:p>
          <a:p xmlns:a="http://schemas.openxmlformats.org/drawingml/2006/main">
            <a:r>
              <a:t>Baldwin R., Venables A. (1995), Regional Economic Integration, Handbook of International Economics, Chapter 31.</a:t>
            </a:r>
          </a:p>
          <a:p xmlns:a="http://schemas.openxmlformats.org/drawingml/2006/main">
            <a:r>
              <a:t>Lee J.-W., Swagel P. (1997), Trade Barriers and Trade Flows Across Countries and Industries, Review of Economics and Statistics, 79 (3), pp. 372-382.</a:t>
            </a:r>
          </a:p>
          <a:p xmlns:a="http://schemas.openxmlformats.org/drawingml/2006/main">
            <a:r>
              <a:t>Miller M., Spencer J.E. (1977), The Static Economic Effects of the UK Joining the EEC: A General Equilibrium Approach, Review of Economic Studies, 44 (1), 71-93.</a:t>
            </a:r>
          </a:p>
          <a:p xmlns:a="http://schemas.openxmlformats.org/drawingml/2006/main">
            <a:r>
              <a:t>Winters L.A. (1987), Britain in Europe: a Survey of Quantitative Trade Studies, Journal of Common Market Studies, XXV (4), 315-335.</a:t>
            </a:r>
          </a:p>
          <a:p xmlns:a="http://schemas.openxmlformats.org/drawingml/2006/main">
            <a:r>
              <a:t/>
            </a:r>
          </a:p>
          <a:p xmlns:a="http://schemas.openxmlformats.org/drawingml/2006/main">
            <a:r>
              <a:t/>
            </a:r>
          </a:p>
          <a:p xmlns:a="http://schemas.openxmlformats.org/drawingml/2006/main">
            <a:r>
              <a:t/>
            </a:r>
          </a:p>
          <a:p xmlns:a="http://schemas.openxmlformats.org/drawingml/2006/main">
            <a:r>
              <a:t>EEC: European Economic Community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56e4041a1c74f8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b5465756a814e14" /><Relationship Type="http://schemas.openxmlformats.org/officeDocument/2006/relationships/slideLayout" Target="/ppt/slideLayouts/slideLayout1.xml" Id="R08167d3d2bd844b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8167d3d2bd844b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ad6f4b22d254a2e" /><Relationship Type="http://schemas.openxmlformats.org/officeDocument/2006/relationships/image" Target="/ppt/media/image.jpeg" Id="R0cb6c42f6ae449b9" /><Relationship Type="http://schemas.openxmlformats.org/officeDocument/2006/relationships/notesSlide" Target="/ppt/notesSlides/notesSlide1.xml" Id="Re0942114b681482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bf8b8fd85e74c70" /><Relationship Type="http://schemas.openxmlformats.org/officeDocument/2006/relationships/image" Target="/ppt/media/image2.jpeg" Id="R85da0c106ef44603" /><Relationship Type="http://schemas.openxmlformats.org/officeDocument/2006/relationships/notesSlide" Target="/ppt/notesSlides/notesSlide2.xml" Id="Rd0b9eab5ef8d430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1bb20ffa6664646" /><Relationship Type="http://schemas.openxmlformats.org/officeDocument/2006/relationships/image" Target="/ppt/media/image3.jpeg" Id="R200aae3b90474119" /><Relationship Type="http://schemas.openxmlformats.org/officeDocument/2006/relationships/notesSlide" Target="/ppt/notesSlides/notesSlide3.xml" Id="R8c272969af9c4b6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829a82b31d0439b" /><Relationship Type="http://schemas.openxmlformats.org/officeDocument/2006/relationships/image" Target="/ppt/media/image.png" Id="R8e35575e34f349ce" /><Relationship Type="http://schemas.openxmlformats.org/officeDocument/2006/relationships/notesSlide" Target="/ppt/notesSlides/notesSlide4.xml" Id="Ra32005e1bf62467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fea66fab5f743f9" /><Relationship Type="http://schemas.openxmlformats.org/officeDocument/2006/relationships/image" Target="/ppt/media/image4.jpeg" Id="R2d9f055fb42a4a29" /><Relationship Type="http://schemas.openxmlformats.org/officeDocument/2006/relationships/notesSlide" Target="/ppt/notesSlides/notesSlide5.xml" Id="R83f173dfbbe449a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41be598587341fc" /><Relationship Type="http://schemas.openxmlformats.org/officeDocument/2006/relationships/image" Target="/ppt/media/image5.jpeg" Id="Ra308f8f342bc476d" /><Relationship Type="http://schemas.openxmlformats.org/officeDocument/2006/relationships/notesSlide" Target="/ppt/notesSlides/notesSlide6.xml" Id="R274b39fa2cf744b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f3c4b29daf845bc" /><Relationship Type="http://schemas.openxmlformats.org/officeDocument/2006/relationships/image" Target="/ppt/media/image6.jpeg" Id="R69b3fc8c8bd94da9" /><Relationship Type="http://schemas.openxmlformats.org/officeDocument/2006/relationships/notesSlide" Target="/ppt/notesSlides/notesSlide7.xml" Id="R8f9c392d5707447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ce505544a39443e" /><Relationship Type="http://schemas.openxmlformats.org/officeDocument/2006/relationships/image" Target="/ppt/media/image7.jpeg" Id="Redc182f264314ce5" /><Relationship Type="http://schemas.openxmlformats.org/officeDocument/2006/relationships/notesSlide" Target="/ppt/notesSlides/notesSlide8.xml" Id="R5233955d1a0d467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5b8ed05b2bc46bb" /><Relationship Type="http://schemas.openxmlformats.org/officeDocument/2006/relationships/image" Target="/ppt/media/image8.jpeg" Id="R1fe37e31399345c8" /><Relationship Type="http://schemas.openxmlformats.org/officeDocument/2006/relationships/notesSlide" Target="/ppt/notesSlides/notesSlide9.xml" Id="R699e5d1c4cf8403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5c6bdb754024c13" /><Relationship Type="http://schemas.openxmlformats.org/officeDocument/2006/relationships/image" Target="/ppt/media/image9.jpeg" Id="Rda78d6e6df26420c" /><Relationship Type="http://schemas.openxmlformats.org/officeDocument/2006/relationships/notesSlide" Target="/ppt/notesSlides/notesSlide10.xml" Id="Rc85ed685a56048e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356a672023a4027" /><Relationship Type="http://schemas.openxmlformats.org/officeDocument/2006/relationships/image" Target="/ppt/media/image10.jpeg" Id="R60473ae0c77b4e75" /><Relationship Type="http://schemas.openxmlformats.org/officeDocument/2006/relationships/notesSlide" Target="/ppt/notesSlides/notesSlide11.xml" Id="R693f37ada71c4e7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e53291418b14a8e" /><Relationship Type="http://schemas.openxmlformats.org/officeDocument/2006/relationships/image" Target="/ppt/media/image11.jpeg" Id="Rbfc4c15f155a4811" /><Relationship Type="http://schemas.openxmlformats.org/officeDocument/2006/relationships/notesSlide" Target="/ppt/notesSlides/notesSlide12.xml" Id="Rca09d14e34eb48f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56551552a8c43a2" /><Relationship Type="http://schemas.openxmlformats.org/officeDocument/2006/relationships/image" Target="/ppt/media/image12.jpeg" Id="R255b5c38856541af" /><Relationship Type="http://schemas.openxmlformats.org/officeDocument/2006/relationships/notesSlide" Target="/ppt/notesSlides/notesSlide13.xml" Id="R219a3d6cd85f4e1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cfbfac8cff3405a" /><Relationship Type="http://schemas.openxmlformats.org/officeDocument/2006/relationships/image" Target="/ppt/media/image13.jpeg" Id="R1ce33d0bd4d74ee4" /><Relationship Type="http://schemas.openxmlformats.org/officeDocument/2006/relationships/notesSlide" Target="/ppt/notesSlides/notesSlide14.xml" Id="R2b78d44344674c2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d4f9361b7b947d4" /><Relationship Type="http://schemas.openxmlformats.org/officeDocument/2006/relationships/image" Target="/ppt/media/image14.jpeg" Id="R48ebf36a05b740fe" /><Relationship Type="http://schemas.openxmlformats.org/officeDocument/2006/relationships/notesSlide" Target="/ppt/notesSlides/notesSlide15.xml" Id="Rf3586d571e54495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4dda14b151c42c8" /><Relationship Type="http://schemas.openxmlformats.org/officeDocument/2006/relationships/image" Target="/ppt/media/image15.jpeg" Id="Rd18fc5fec89c4713" /><Relationship Type="http://schemas.openxmlformats.org/officeDocument/2006/relationships/notesSlide" Target="/ppt/notesSlides/notesSlide16.xml" Id="Ra44847659472422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b6b8321afe84da0" /><Relationship Type="http://schemas.openxmlformats.org/officeDocument/2006/relationships/image" Target="/ppt/media/image16.jpeg" Id="Rd396c22a107c44d8" /><Relationship Type="http://schemas.openxmlformats.org/officeDocument/2006/relationships/notesSlide" Target="/ppt/notesSlides/notesSlide17.xml" Id="Ree07b94ead9b462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50e25f4ee6e4cbf" /><Relationship Type="http://schemas.openxmlformats.org/officeDocument/2006/relationships/image" Target="/ppt/media/image17.jpeg" Id="R1096370acd604ff9" /><Relationship Type="http://schemas.openxmlformats.org/officeDocument/2006/relationships/notesSlide" Target="/ppt/notesSlides/notesSlide18.xml" Id="R2ea06c55132842f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e763c8383544bab" /><Relationship Type="http://schemas.openxmlformats.org/officeDocument/2006/relationships/image" Target="/ppt/media/image18.jpeg" Id="Rfed7550661ca4329" /><Relationship Type="http://schemas.openxmlformats.org/officeDocument/2006/relationships/notesSlide" Target="/ppt/notesSlides/notesSlide19.xml" Id="Rb86f2e18cd8b4c8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230efde00c343ef" /><Relationship Type="http://schemas.openxmlformats.org/officeDocument/2006/relationships/image" Target="/ppt/media/image19.jpeg" Id="Re895245885cd48da" /><Relationship Type="http://schemas.openxmlformats.org/officeDocument/2006/relationships/notesSlide" Target="/ppt/notesSlides/notesSlide20.xml" Id="R1559b4a52ddb469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29e7896d6c94c71" /><Relationship Type="http://schemas.openxmlformats.org/officeDocument/2006/relationships/image" Target="/ppt/media/image20.jpeg" Id="Raa8533a4564c483e" /><Relationship Type="http://schemas.openxmlformats.org/officeDocument/2006/relationships/notesSlide" Target="/ppt/notesSlides/notesSlide21.xml" Id="Rd95d4b1da9cb480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941e944b82745b8" /><Relationship Type="http://schemas.openxmlformats.org/officeDocument/2006/relationships/image" Target="/ppt/media/image21.jpeg" Id="Rd337f6b1e950444f" /><Relationship Type="http://schemas.openxmlformats.org/officeDocument/2006/relationships/notesSlide" Target="/ppt/notesSlides/notesSlide22.xml" Id="R297443c0903048f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25a656c33b34069" /><Relationship Type="http://schemas.openxmlformats.org/officeDocument/2006/relationships/image" Target="/ppt/media/image2.png" Id="R54bbc929ce544dda" /><Relationship Type="http://schemas.openxmlformats.org/officeDocument/2006/relationships/notesSlide" Target="/ppt/notesSlides/notesSlide23.xml" Id="R7e9edaa08e8b424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ce51f96aee74b3a" /><Relationship Type="http://schemas.openxmlformats.org/officeDocument/2006/relationships/image" Target="/ppt/media/image3.png" Id="Rbb0b81689b624ef7" /><Relationship Type="http://schemas.openxmlformats.org/officeDocument/2006/relationships/notesSlide" Target="/ppt/notesSlides/notesSlide24.xml" Id="R63f939042e054c9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7614f2e2c324081" /><Relationship Type="http://schemas.openxmlformats.org/officeDocument/2006/relationships/image" Target="/ppt/media/image22.jpeg" Id="R9c32ad22582c4296" /><Relationship Type="http://schemas.openxmlformats.org/officeDocument/2006/relationships/notesSlide" Target="/ppt/notesSlides/notesSlide25.xml" Id="R8168cad942744a7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c64781185f546d9" /><Relationship Type="http://schemas.openxmlformats.org/officeDocument/2006/relationships/image" Target="/ppt/media/image23.jpeg" Id="R913d291d67f74880" /><Relationship Type="http://schemas.openxmlformats.org/officeDocument/2006/relationships/notesSlide" Target="/ppt/notesSlides/notesSlide26.xml" Id="Rde3fb80b6e4842b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cb6c42f6ae449b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5290207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5da0c106ef4460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4927000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00aae3b9047411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2433877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e35575e34f349c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3591178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d9f055fb42a4a2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797173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308f8f342bc476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5787195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9b3fc8c8bd94da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5383583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dc182f264314ce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0090342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fe37e31399345c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3230246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a78d6e6df26420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4630436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0473ae0c77b4e7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0419753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fc4c15f155a481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1575756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55b5c38856541a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8540253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ce33d0bd4d74ee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9211710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8ebf36a05b740f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278644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18fc5fec89c471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9126345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396c22a107c44d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20739242"/>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096370acd604ff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7939386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ed7550661ca432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5377972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895245885cd48d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59094494"/>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a8533a4564c483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40546758"/>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337f6b1e950444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6464319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4bbc929ce544dd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07104156"/>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b0b81689b624ef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0835391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c32ad22582c429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0541677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13d291d67f7488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812363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2026-10-06T14:20:30.5770000Z</dcterms:created>
  <dcterms:modified xsi:type="dcterms:W3CDTF">2026-10-06T14:20:30.5770000Z</dcterms:modified>
</coreProperties>
</file>