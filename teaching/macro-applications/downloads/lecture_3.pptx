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9ff79d3cf94ce6" /><Relationship Type="http://schemas.openxmlformats.org/officeDocument/2006/relationships/extended-properties" Target="/docProps/app.xml" Id="Rc74d629add294182" /><Relationship Type="http://schemas.openxmlformats.org/officeDocument/2006/relationships/officeDocument" Target="/ppt/presentation.xml" Id="Rd54e94c3f9a846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539225b2bc4c3c"/>
  </p:sldMasterIdLst>
  <p:notesMasterIdLst>
    <p:notesMasterId xmlns:r="http://schemas.openxmlformats.org/officeDocument/2006/relationships" r:id="Rd22b620405264ac8"/>
  </p:notesMasterIdLst>
  <p:sldIdLst>
    <p:sldId xmlns:r="http://schemas.openxmlformats.org/officeDocument/2006/relationships" id="256" r:id="R3266fbc7849b46ff"/>
    <p:sldId xmlns:r="http://schemas.openxmlformats.org/officeDocument/2006/relationships" id="257" r:id="R405c476494244575"/>
    <p:sldId xmlns:r="http://schemas.openxmlformats.org/officeDocument/2006/relationships" id="258" r:id="Rad14d716346c4235"/>
    <p:sldId xmlns:r="http://schemas.openxmlformats.org/officeDocument/2006/relationships" id="259" r:id="Rd6ed0211b4f44065"/>
    <p:sldId xmlns:r="http://schemas.openxmlformats.org/officeDocument/2006/relationships" id="260" r:id="R368746412db54ef4"/>
    <p:sldId xmlns:r="http://schemas.openxmlformats.org/officeDocument/2006/relationships" id="261" r:id="R89f3289157404640"/>
    <p:sldId xmlns:r="http://schemas.openxmlformats.org/officeDocument/2006/relationships" id="262" r:id="Reb3899baa8c74952"/>
    <p:sldId xmlns:r="http://schemas.openxmlformats.org/officeDocument/2006/relationships" id="263" r:id="R8d31bc0e4f3147f3"/>
    <p:sldId xmlns:r="http://schemas.openxmlformats.org/officeDocument/2006/relationships" id="264" r:id="R5db41004dec8452f"/>
    <p:sldId xmlns:r="http://schemas.openxmlformats.org/officeDocument/2006/relationships" id="265" r:id="R543b80328bd54f07"/>
    <p:sldId xmlns:r="http://schemas.openxmlformats.org/officeDocument/2006/relationships" id="266" r:id="R8c0e3cdcd6ac44ec"/>
    <p:sldId xmlns:r="http://schemas.openxmlformats.org/officeDocument/2006/relationships" id="267" r:id="R28f72873edb243f2"/>
    <p:sldId xmlns:r="http://schemas.openxmlformats.org/officeDocument/2006/relationships" id="268" r:id="R180c0ee9cdda492d"/>
    <p:sldId xmlns:r="http://schemas.openxmlformats.org/officeDocument/2006/relationships" id="269" r:id="Re4060a1cc62946d4"/>
    <p:sldId xmlns:r="http://schemas.openxmlformats.org/officeDocument/2006/relationships" id="270" r:id="R3aea73506bc347be"/>
    <p:sldId xmlns:r="http://schemas.openxmlformats.org/officeDocument/2006/relationships" id="271" r:id="R8fde6b30604e4d66"/>
    <p:sldId xmlns:r="http://schemas.openxmlformats.org/officeDocument/2006/relationships" id="272" r:id="Re164d23a48eb4062"/>
    <p:sldId xmlns:r="http://schemas.openxmlformats.org/officeDocument/2006/relationships" id="273" r:id="Rc410c0823cc547e6"/>
    <p:sldId xmlns:r="http://schemas.openxmlformats.org/officeDocument/2006/relationships" id="274" r:id="Rd10db64cf95d4a61"/>
    <p:sldId xmlns:r="http://schemas.openxmlformats.org/officeDocument/2006/relationships" id="275" r:id="R4b4ff000cf354670"/>
    <p:sldId xmlns:r="http://schemas.openxmlformats.org/officeDocument/2006/relationships" id="276" r:id="R3eb06269e9144ab7"/>
    <p:sldId xmlns:r="http://schemas.openxmlformats.org/officeDocument/2006/relationships" id="277" r:id="R903ac552515c4223"/>
    <p:sldId xmlns:r="http://schemas.openxmlformats.org/officeDocument/2006/relationships" id="278" r:id="R5a3e4d49a81b4379"/>
    <p:sldId xmlns:r="http://schemas.openxmlformats.org/officeDocument/2006/relationships" id="279" r:id="R24cfaea7e7c14412"/>
    <p:sldId xmlns:r="http://schemas.openxmlformats.org/officeDocument/2006/relationships" id="280" r:id="R51162e8554f64ac6"/>
    <p:sldId xmlns:r="http://schemas.openxmlformats.org/officeDocument/2006/relationships" id="281" r:id="Ra9a00749b9414388"/>
    <p:sldId xmlns:r="http://schemas.openxmlformats.org/officeDocument/2006/relationships" id="282" r:id="R391c75a0c85d4ea1"/>
    <p:sldId xmlns:r="http://schemas.openxmlformats.org/officeDocument/2006/relationships" id="283" r:id="R07fe497626d44517"/>
    <p:sldId xmlns:r="http://schemas.openxmlformats.org/officeDocument/2006/relationships" id="284" r:id="R08bc70b4cf974a2c"/>
    <p:sldId xmlns:r="http://schemas.openxmlformats.org/officeDocument/2006/relationships" id="285" r:id="Rb4af5714ec6347be"/>
    <p:sldId xmlns:r="http://schemas.openxmlformats.org/officeDocument/2006/relationships" id="286" r:id="R55b894aba916450b"/>
    <p:sldId xmlns:r="http://schemas.openxmlformats.org/officeDocument/2006/relationships" id="287" r:id="R012b0d628c8c4cb4"/>
    <p:sldId xmlns:r="http://schemas.openxmlformats.org/officeDocument/2006/relationships" id="288" r:id="Re6c3073238b941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dc13af3d96442f" /><Relationship Type="http://schemas.openxmlformats.org/officeDocument/2006/relationships/slideMaster" Target="/ppt/slideMasters/slideMaster1.xml" Id="R6b539225b2bc4c3c" /><Relationship Type="http://schemas.openxmlformats.org/officeDocument/2006/relationships/notesMaster" Target="/ppt/notesMasters/notesMaster1.xml" Id="Rd22b620405264ac8" /><Relationship Type="http://schemas.openxmlformats.org/officeDocument/2006/relationships/presProps" Target="/ppt/presProps.xml" Id="R28d268d38f004c83" /><Relationship Type="http://schemas.openxmlformats.org/officeDocument/2006/relationships/tableStyles" Target="/ppt/tableStyles.xml" Id="R9ca01069d94d4e93" /><Relationship Type="http://schemas.openxmlformats.org/officeDocument/2006/relationships/slide" Target="/ppt/slides/slide1.xml" Id="R3266fbc7849b46ff" /><Relationship Type="http://schemas.openxmlformats.org/officeDocument/2006/relationships/slide" Target="/ppt/slides/slide2.xml" Id="R405c476494244575" /><Relationship Type="http://schemas.openxmlformats.org/officeDocument/2006/relationships/slide" Target="/ppt/slides/slide3.xml" Id="Rad14d716346c4235" /><Relationship Type="http://schemas.openxmlformats.org/officeDocument/2006/relationships/slide" Target="/ppt/slides/slide4.xml" Id="Rd6ed0211b4f44065" /><Relationship Type="http://schemas.openxmlformats.org/officeDocument/2006/relationships/slide" Target="/ppt/slides/slide5.xml" Id="R368746412db54ef4" /><Relationship Type="http://schemas.openxmlformats.org/officeDocument/2006/relationships/slide" Target="/ppt/slides/slide6.xml" Id="R89f3289157404640" /><Relationship Type="http://schemas.openxmlformats.org/officeDocument/2006/relationships/slide" Target="/ppt/slides/slide7.xml" Id="Reb3899baa8c74952" /><Relationship Type="http://schemas.openxmlformats.org/officeDocument/2006/relationships/slide" Target="/ppt/slides/slide8.xml" Id="R8d31bc0e4f3147f3" /><Relationship Type="http://schemas.openxmlformats.org/officeDocument/2006/relationships/slide" Target="/ppt/slides/slide9.xml" Id="R5db41004dec8452f" /><Relationship Type="http://schemas.openxmlformats.org/officeDocument/2006/relationships/slide" Target="/ppt/slides/slide10.xml" Id="R543b80328bd54f07" /><Relationship Type="http://schemas.openxmlformats.org/officeDocument/2006/relationships/slide" Target="/ppt/slides/slide11.xml" Id="R8c0e3cdcd6ac44ec" /><Relationship Type="http://schemas.openxmlformats.org/officeDocument/2006/relationships/slide" Target="/ppt/slides/slide12.xml" Id="R28f72873edb243f2" /><Relationship Type="http://schemas.openxmlformats.org/officeDocument/2006/relationships/slide" Target="/ppt/slides/slide13.xml" Id="R180c0ee9cdda492d" /><Relationship Type="http://schemas.openxmlformats.org/officeDocument/2006/relationships/slide" Target="/ppt/slides/slide14.xml" Id="Re4060a1cc62946d4" /><Relationship Type="http://schemas.openxmlformats.org/officeDocument/2006/relationships/slide" Target="/ppt/slides/slide15.xml" Id="R3aea73506bc347be" /><Relationship Type="http://schemas.openxmlformats.org/officeDocument/2006/relationships/slide" Target="/ppt/slides/slide16.xml" Id="R8fde6b30604e4d66" /><Relationship Type="http://schemas.openxmlformats.org/officeDocument/2006/relationships/slide" Target="/ppt/slides/slide17.xml" Id="Re164d23a48eb4062" /><Relationship Type="http://schemas.openxmlformats.org/officeDocument/2006/relationships/slide" Target="/ppt/slides/slide18.xml" Id="Rc410c0823cc547e6" /><Relationship Type="http://schemas.openxmlformats.org/officeDocument/2006/relationships/slide" Target="/ppt/slides/slide19.xml" Id="Rd10db64cf95d4a61" /><Relationship Type="http://schemas.openxmlformats.org/officeDocument/2006/relationships/slide" Target="/ppt/slides/slide20.xml" Id="R4b4ff000cf354670" /><Relationship Type="http://schemas.openxmlformats.org/officeDocument/2006/relationships/slide" Target="/ppt/slides/slide21.xml" Id="R3eb06269e9144ab7" /><Relationship Type="http://schemas.openxmlformats.org/officeDocument/2006/relationships/slide" Target="/ppt/slides/slide22.xml" Id="R903ac552515c4223" /><Relationship Type="http://schemas.openxmlformats.org/officeDocument/2006/relationships/slide" Target="/ppt/slides/slide23.xml" Id="R5a3e4d49a81b4379" /><Relationship Type="http://schemas.openxmlformats.org/officeDocument/2006/relationships/slide" Target="/ppt/slides/slide24.xml" Id="R24cfaea7e7c14412" /><Relationship Type="http://schemas.openxmlformats.org/officeDocument/2006/relationships/slide" Target="/ppt/slides/slide25.xml" Id="R51162e8554f64ac6" /><Relationship Type="http://schemas.openxmlformats.org/officeDocument/2006/relationships/slide" Target="/ppt/slides/slide26.xml" Id="Ra9a00749b9414388" /><Relationship Type="http://schemas.openxmlformats.org/officeDocument/2006/relationships/slide" Target="/ppt/slides/slide27.xml" Id="R391c75a0c85d4ea1" /><Relationship Type="http://schemas.openxmlformats.org/officeDocument/2006/relationships/slide" Target="/ppt/slides/slide28.xml" Id="R07fe497626d44517" /><Relationship Type="http://schemas.openxmlformats.org/officeDocument/2006/relationships/slide" Target="/ppt/slides/slide29.xml" Id="R08bc70b4cf974a2c" /><Relationship Type="http://schemas.openxmlformats.org/officeDocument/2006/relationships/slide" Target="/ppt/slides/slide30.xml" Id="Rb4af5714ec6347be" /><Relationship Type="http://schemas.openxmlformats.org/officeDocument/2006/relationships/slide" Target="/ppt/slides/slide31.xml" Id="R55b894aba916450b" /><Relationship Type="http://schemas.openxmlformats.org/officeDocument/2006/relationships/slide" Target="/ppt/slides/slide32.xml" Id="R012b0d628c8c4cb4" /><Relationship Type="http://schemas.openxmlformats.org/officeDocument/2006/relationships/slide" Target="/ppt/slides/slide33.xml" Id="Re6c3073238b941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9edf9144b848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9fa54dabbb4753" /><Relationship Type="http://schemas.openxmlformats.org/officeDocument/2006/relationships/notesMaster" Target="/ppt/notesMasters/notesMaster1.xml" Id="R4f6788d10a9645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0277e2cbb74238" /><Relationship Type="http://schemas.openxmlformats.org/officeDocument/2006/relationships/notesMaster" Target="/ppt/notesMasters/notesMaster1.xml" Id="R6e46484622824f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ce821ff85f43ef" /><Relationship Type="http://schemas.openxmlformats.org/officeDocument/2006/relationships/notesMaster" Target="/ppt/notesMasters/notesMaster1.xml" Id="R89de3c3747aa4b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e85492e8cd4be1" /><Relationship Type="http://schemas.openxmlformats.org/officeDocument/2006/relationships/notesMaster" Target="/ppt/notesMasters/notesMaster1.xml" Id="R7da221597e314b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b2d37c142140a5" /><Relationship Type="http://schemas.openxmlformats.org/officeDocument/2006/relationships/notesMaster" Target="/ppt/notesMasters/notesMaster1.xml" Id="R5f035a1f227e44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9e6316ef834bb4" /><Relationship Type="http://schemas.openxmlformats.org/officeDocument/2006/relationships/notesMaster" Target="/ppt/notesMasters/notesMaster1.xml" Id="Rb49e9989b0a142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947714ba0a4bf1" /><Relationship Type="http://schemas.openxmlformats.org/officeDocument/2006/relationships/notesMaster" Target="/ppt/notesMasters/notesMaster1.xml" Id="R94be2dfeeb6c43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880448e3674b04" /><Relationship Type="http://schemas.openxmlformats.org/officeDocument/2006/relationships/notesMaster" Target="/ppt/notesMasters/notesMaster1.xml" Id="R239faf1c957340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c57cb2faf470a" /><Relationship Type="http://schemas.openxmlformats.org/officeDocument/2006/relationships/notesMaster" Target="/ppt/notesMasters/notesMaster1.xml" Id="R45af808ef00e41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62c484fe93417f" /><Relationship Type="http://schemas.openxmlformats.org/officeDocument/2006/relationships/notesMaster" Target="/ppt/notesMasters/notesMaster1.xml" Id="R428b3205824946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05a223f1824e30" /><Relationship Type="http://schemas.openxmlformats.org/officeDocument/2006/relationships/notesMaster" Target="/ppt/notesMasters/notesMaster1.xml" Id="R2608cff0388d4d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e371c79e964e6d" /><Relationship Type="http://schemas.openxmlformats.org/officeDocument/2006/relationships/notesMaster" Target="/ppt/notesMasters/notesMaster1.xml" Id="R2aaf3a29636c45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51c7e3aee5414c" /><Relationship Type="http://schemas.openxmlformats.org/officeDocument/2006/relationships/notesMaster" Target="/ppt/notesMasters/notesMaster1.xml" Id="R8aad697355ed47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28ab4722c8a4bdc" /><Relationship Type="http://schemas.openxmlformats.org/officeDocument/2006/relationships/notesMaster" Target="/ppt/notesMasters/notesMaster1.xml" Id="Rcbf5b74e29304c2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43114f01d5b44ea" /><Relationship Type="http://schemas.openxmlformats.org/officeDocument/2006/relationships/notesMaster" Target="/ppt/notesMasters/notesMaster1.xml" Id="Rf36bee5a505042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6409b919334349" /><Relationship Type="http://schemas.openxmlformats.org/officeDocument/2006/relationships/notesMaster" Target="/ppt/notesMasters/notesMaster1.xml" Id="Ra98b26649aad4db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7e1a8e4a804d27" /><Relationship Type="http://schemas.openxmlformats.org/officeDocument/2006/relationships/notesMaster" Target="/ppt/notesMasters/notesMaster1.xml" Id="R5179c9c4817447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671135b6f74ad2" /><Relationship Type="http://schemas.openxmlformats.org/officeDocument/2006/relationships/notesMaster" Target="/ppt/notesMasters/notesMaster1.xml" Id="R8d5b73dc5f5843e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c8b65658e3467a" /><Relationship Type="http://schemas.openxmlformats.org/officeDocument/2006/relationships/notesMaster" Target="/ppt/notesMasters/notesMaster1.xml" Id="R72ace25f7f1c41e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8e97a0814d4276" /><Relationship Type="http://schemas.openxmlformats.org/officeDocument/2006/relationships/notesMaster" Target="/ppt/notesMasters/notesMaster1.xml" Id="R8677249abf2a4cb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915bd452444c50" /><Relationship Type="http://schemas.openxmlformats.org/officeDocument/2006/relationships/notesMaster" Target="/ppt/notesMasters/notesMaster1.xml" Id="R27593c8399eb4d3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9674270615441de" /><Relationship Type="http://schemas.openxmlformats.org/officeDocument/2006/relationships/notesMaster" Target="/ppt/notesMasters/notesMaster1.xml" Id="R9170585f09ba44c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77764d3b4ef4e7f" /><Relationship Type="http://schemas.openxmlformats.org/officeDocument/2006/relationships/notesMaster" Target="/ppt/notesMasters/notesMaster1.xml" Id="Rcee9f0822a574c3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607a52d2e094df5" /><Relationship Type="http://schemas.openxmlformats.org/officeDocument/2006/relationships/notesMaster" Target="/ppt/notesMasters/notesMaster1.xml" Id="R90f92a4750b44d8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e9c8cd4bde24d96" /><Relationship Type="http://schemas.openxmlformats.org/officeDocument/2006/relationships/notesMaster" Target="/ppt/notesMasters/notesMaster1.xml" Id="Re4c5d817c35845a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bdc99b4324b4c41" /><Relationship Type="http://schemas.openxmlformats.org/officeDocument/2006/relationships/notesMaster" Target="/ppt/notesMasters/notesMaster1.xml" Id="Rbc43198fb4954d3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8138718181c4b7a" /><Relationship Type="http://schemas.openxmlformats.org/officeDocument/2006/relationships/notesMaster" Target="/ppt/notesMasters/notesMaster1.xml" Id="R018669063dbf48b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ba323efd0a74721" /><Relationship Type="http://schemas.openxmlformats.org/officeDocument/2006/relationships/notesMaster" Target="/ppt/notesMasters/notesMaster1.xml" Id="R9f99c78d2b1c4c6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4b9f98243804d7a" /><Relationship Type="http://schemas.openxmlformats.org/officeDocument/2006/relationships/notesMaster" Target="/ppt/notesMasters/notesMaster1.xml" Id="Ra273313b7b09416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a7d7ba2c21e40a2" /><Relationship Type="http://schemas.openxmlformats.org/officeDocument/2006/relationships/notesMaster" Target="/ppt/notesMasters/notesMaster1.xml" Id="R1d7eacd0f3c947d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6af51b8d2504960" /><Relationship Type="http://schemas.openxmlformats.org/officeDocument/2006/relationships/notesMaster" Target="/ppt/notesMasters/notesMaster1.xml" Id="R4fc301fe3b3448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987678d2d544b32" /><Relationship Type="http://schemas.openxmlformats.org/officeDocument/2006/relationships/notesMaster" Target="/ppt/notesMasters/notesMaster1.xml" Id="Rc59c55ba009e452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1842fbccee648b0" /><Relationship Type="http://schemas.openxmlformats.org/officeDocument/2006/relationships/notesMaster" Target="/ppt/notesMasters/notesMaster1.xml" Id="Rd192e4059a594a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3: The Single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 of the main benefits of the Single Market is that firms have access to a bigger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larger market means more competition between firms, lower prices and increased consumer welfare.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http://ec.europa.eu/growth/single-market/index_en.htm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the end of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Analyse how increased market size affects:</a:t>
            </a:r>
          </a:p>
          <a:p xmlns:a="http://schemas.openxmlformats.org/drawingml/2006/main">
            <a:r>
              <a:t>Competitiveness: the pro-competitive effect.</a:t>
            </a:r>
          </a:p>
          <a:p xmlns:a="http://schemas.openxmlformats.org/drawingml/2006/main">
            <a:r>
              <a:t>The scale of firms: industrial restructuring.</a:t>
            </a:r>
          </a:p>
          <a:p xmlns:a="http://schemas.openxmlformats.org/drawingml/2006/main">
            <a:r>
              <a:t>Welfare.</a:t>
            </a:r>
          </a:p>
          <a:p xmlns:a="http://schemas.openxmlformats.org/drawingml/2006/main">
            <a:r>
              <a:t>Discuss the empirical evidence on the effects of the Single Market Act on European price-cost margins.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Analytical framework</a:t>
            </a:r>
          </a:p>
          <a:p xmlns:a="http://schemas.openxmlformats.org/drawingml/2006/main">
            <a:r>
              <a:t>Brander and Krugman (1983)</a:t>
            </a:r>
          </a:p>
          <a:p xmlns:a="http://schemas.openxmlformats.org/drawingml/2006/main">
            <a:r>
              <a:t>One good.</a:t>
            </a:r>
          </a:p>
          <a:p xmlns:a="http://schemas.openxmlformats.org/drawingml/2006/main">
            <a:r>
              <a:t>Two countries: Home and Foreign.</a:t>
            </a:r>
          </a:p>
          <a:p xmlns:a="http://schemas.openxmlformats.org/drawingml/2006/main">
            <a:r>
              <a:t>A fixed entry cost and constant marginal cost: increasing returns to scale.</a:t>
            </a:r>
          </a:p>
          <a:p xmlns:a="http://schemas.openxmlformats.org/drawingml/2006/main">
            <a:r>
              <a:t>Linear demand.</a:t>
            </a:r>
          </a:p>
          <a:p xmlns:a="http://schemas.openxmlformats.org/drawingml/2006/main">
            <a:r>
              <a:t>Two versions</a:t>
            </a:r>
          </a:p>
          <a:p xmlns:a="http://schemas.openxmlformats.org/drawingml/2006/main">
            <a:r>
              <a:t>Fixed number of firms: one per country.</a:t>
            </a:r>
          </a:p>
          <a:p xmlns:a="http://schemas.openxmlformats.org/drawingml/2006/main">
            <a:r>
              <a:t>Autarky: two monopolists.</a:t>
            </a:r>
          </a:p>
          <a:p xmlns:a="http://schemas.openxmlformats.org/drawingml/2006/main">
            <a:r>
              <a:t>Open economy: Cournot competition.</a:t>
            </a:r>
          </a:p>
          <a:p xmlns:a="http://schemas.openxmlformats.org/drawingml/2006/main">
            <a:r>
              <a:t>Free entry: the number of firms is determined endogenously.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 monopolistic markets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Monopolist’s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Monopoly diagram: marginal revenue crosses marginal cost at monopoly output. Demand determines monopoly price. Average cost lies below price at that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markets integrate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can sell in both markets. Demand in each country is met by the domestic or foreign firm: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(Home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(Foreign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Here,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Home-firm sales;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Foreign-firm 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“Iceberg” transport costs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marginal cost of exporting is 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, where 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≤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the Home firm’s problem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subject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Substitute the demand functions into the profit function and calculate the two first-order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first-order conditions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Foreign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Foreign firm’s conditions follow from its corresponding maximisation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reaction functions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problem is symmetric, so focus on the Home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Rewrite (1) and (3) to obtain the two firms’ reaction functions: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 in the Home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Notice that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By symmetry,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a larger share of its domestic market because it faces no transport costs there.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Home-market reaction functions for the two firms. The downward-sloping reactions intersect at equilibrium, with the domestic firm selling more than the foreign firm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“Reciprocal dumping”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Define Home’s mark-up in each country: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Proposition: with positive transport costs, the domestic mark-up is higher than the foreign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Proof: the countries are identical, so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𝑇</a:t>
            </a:r>
          </a:p>
          <a:p xmlns:a="http://schemas.openxmlformats.org/drawingml/2006/main">
            <a:r>
              <a:t>. Since 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, it follows that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Consequences of international trade</a:t>
            </a:r>
          </a:p>
          <a:p xmlns:a="http://schemas.openxmlformats.org/drawingml/2006/main">
            <a:r>
              <a:t>Question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Is there a pro-competitive effect?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Question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so, does it increase welfare in all countries?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consumer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𝑆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Consumers can consume a larger quantity at a lower price under free trade: the pro-competitive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Consumer-surplus gain from integration. Price falls from the monopoly price to the free-trade price and consumption rises. The gain comprises areas A and 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producer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 in the mark-up on monopoly sales: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Further fall in the mark-up on monopoly sales now made in the foreign market: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Additional mark-up on new sales: 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Producer-surplus decomposition under integration. Domestic mark-ups fall, exports incur transport costs, and new sales generate additional margin. The diagram labels the losses A and C and gain 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aggregate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Overall welfare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if there are no transport costs?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Aggregate welfare diagram. Consumer and producer effects combine to B plus D minus C, with C representing a cost associated with transporting exports.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Questions</a:t>
            </a:r>
          </a:p>
          <a:p xmlns:a="http://schemas.openxmlformats.org/drawingml/2006/main">
            <a:r>
              <a:t>What is the effect of an increased market size on the industry itself?</a:t>
            </a:r>
          </a:p>
          <a:p xmlns:a="http://schemas.openxmlformats.org/drawingml/2006/main">
            <a:r>
              <a:t>Can some firms leave the market because of the increased competition?</a:t>
            </a:r>
          </a:p>
          <a:p xmlns:a="http://schemas.openxmlformats.org/drawingml/2006/main">
            <a:r>
              <a:t>If so, is this beneficial for the countries involved?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Brander and Krugman’s model (1983) with free entry provides an answer.</a:t>
            </a:r>
          </a:p>
          <a:p xmlns:a="http://schemas.openxmlformats.org/drawingml/2006/main">
            <a:r>
              <a:t>The free entry condition allows us to pin down the number of firms in the market and therefore to understand the effect of trade on the number of firms.</a:t>
            </a:r>
          </a:p>
          <a:p xmlns:a="http://schemas.openxmlformats.org/drawingml/2006/main">
            <a:r>
              <a:t>First, we look at the closed economy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the number of firms in the market as given.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profit-maximisation problem shows that the more firms there are, the less each firm produces (see the appendix).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negative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BE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Free entry implies zero profits in the long run: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rises,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falls. A firm therefore needs a higher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to cover 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positive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break-even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appendix for a derivation.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downward-sloping COMP curve and upward-sloping BE curve intersect at equilibrium firm count n prime and mark-up mu prime.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linked panels before integration: firm average and marginal cost, market demand, and the BE-COMP equilibrium. Dashed guides connect equilibrium firm output, price, sales and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same three panels after integration. The initial increase in competing firms lowers the mark-up; exit and restructuring then raise output per surviving firm. The new equilibrium differs from the short-run point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EU: a bigger market</a:t>
            </a:r>
          </a:p>
          <a:p xmlns:a="http://schemas.openxmlformats.org/drawingml/2006/main">
            <a:r>
              <a:t>Pro-competitive effect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falls and output rises because twice as many firms compete in the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 restructuring</a:t>
            </a:r>
          </a:p>
          <a:p xmlns:a="http://schemas.openxmlformats.org/drawingml/2006/main">
            <a:r>
              <a:t>Some firms exit because point A is not feasible: </a:t>
            </a:r>
          </a:p>
          <a:p xmlns:a="http://schemas.openxmlformats.org/drawingml/2006/main">
            <a:r>
              <a:t>𝑃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The remaining firms are larger and exploit increasing returns to scale more effectively.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always welfare-improving with free entry in this model. Why?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Empirical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Price-cost margins for French industry, 1986–2004.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Baldwin and Wyplosz (2012).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of French industrial price-cost margins, 1986 to 2004. Margins fluctuate but are lower at the end of the period than at the beginning. Source: Baldwin and Wyplosz, 2012.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Controversies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beneficial for consumers, but not necessarily for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Profits normally fall.</a:t>
            </a:r>
          </a:p>
          <a:p xmlns:a="http://schemas.openxmlformats.org/drawingml/2006/main">
            <a:r>
              <a:t>Some firms exit the market (job losses).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a result: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incentives to collude can increase as the remaining firms are bigger.</a:t>
            </a:r>
          </a:p>
          <a:p xmlns:a="http://schemas.openxmlformats.org/drawingml/2006/main">
            <a:r>
              <a:t>Governments might be tempted to provide subsidies to national firms.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</a:t>
            </a:r>
          </a:p>
          <a:p xmlns:a="http://schemas.openxmlformats.org/drawingml/2006/main">
            <a:r>
              <a:t>Free mobility of goods is beneficial as consumers benefit from the higher competition triggered by the increased market size.</a:t>
            </a:r>
          </a:p>
          <a:p xmlns:a="http://schemas.openxmlformats.org/drawingml/2006/main">
            <a:r>
              <a:t>Market integration also leads to a process of industrial restructuring (job losses if labour mobility across sectors and countries is not perfect).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 lecture</a:t>
            </a:r>
          </a:p>
          <a:p xmlns:a="http://schemas.openxmlformats.org/drawingml/2006/main">
            <a:r>
              <a:t>We will talk about migration.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R. and Wyplosz C. (2022), The Economics of European Integration, Chapter 6</a:t>
            </a:r>
          </a:p>
          <a:p xmlns:a="http://schemas.openxmlformats.org/drawingml/2006/main">
            <a:r>
              <a:t>Brander J., and Krugman P. (1983), A ‘reciprocal dumping’ model of international trade, Journal of International Economics, 15, 313-321.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firm’s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Firm 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 faces the following maximisation problem: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Substituting the demand function gives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]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first-order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symmetric firms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Assume symmetric firms: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 Then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Using the demand function and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 the market price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COMP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for a given number of firms gives the COMP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decreases with the number of firms. It approaches zero as the number of firms tends to infinity, as under perfect competition: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∞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BE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free-entry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firm’s optimal quantity satisfies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Substitution gives the BE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have two equations in two unknowns: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Solving the BE and COMP equations simultaneously gives the equilibrium mark-up and number of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21d18ea83045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9ab3794fb84815" /><Relationship Type="http://schemas.openxmlformats.org/officeDocument/2006/relationships/slideLayout" Target="/ppt/slideLayouts/slideLayout1.xml" Id="Rc37e0843cd1b4a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7e0843cd1b4a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977c7b394405a" /><Relationship Type="http://schemas.openxmlformats.org/officeDocument/2006/relationships/image" Target="/ppt/media/image.jpeg" Id="Rb52877ec862a4970" /><Relationship Type="http://schemas.openxmlformats.org/officeDocument/2006/relationships/notesSlide" Target="/ppt/notesSlides/notesSlide1.xml" Id="Refdc018075364d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fb63811974b27" /><Relationship Type="http://schemas.openxmlformats.org/officeDocument/2006/relationships/image" Target="/ppt/media/image2.jpeg" Id="Rd531a364d621492a" /><Relationship Type="http://schemas.openxmlformats.org/officeDocument/2006/relationships/notesSlide" Target="/ppt/notesSlides/notesSlide2.xml" Id="R67530e34a3134d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31a52dffe4d5a" /><Relationship Type="http://schemas.openxmlformats.org/officeDocument/2006/relationships/image" Target="/ppt/media/image3.jpeg" Id="Rcc79efded9784ee1" /><Relationship Type="http://schemas.openxmlformats.org/officeDocument/2006/relationships/notesSlide" Target="/ppt/notesSlides/notesSlide3.xml" Id="Rcf6d60a9e27249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9f0e1e37542c5" /><Relationship Type="http://schemas.openxmlformats.org/officeDocument/2006/relationships/image" Target="/ppt/media/image4.jpeg" Id="Re7f4af0c0947451f" /><Relationship Type="http://schemas.openxmlformats.org/officeDocument/2006/relationships/notesSlide" Target="/ppt/notesSlides/notesSlide4.xml" Id="R0001b5abac0948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01a42bc814b3b" /><Relationship Type="http://schemas.openxmlformats.org/officeDocument/2006/relationships/image" Target="/ppt/media/image5.jpeg" Id="R2bf90f8a66bf4879" /><Relationship Type="http://schemas.openxmlformats.org/officeDocument/2006/relationships/notesSlide" Target="/ppt/notesSlides/notesSlide5.xml" Id="Re58bd31e2f6d45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b1af0602342d1" /><Relationship Type="http://schemas.openxmlformats.org/officeDocument/2006/relationships/image" Target="/ppt/media/image6.jpeg" Id="R2644fcff93404ed9" /><Relationship Type="http://schemas.openxmlformats.org/officeDocument/2006/relationships/notesSlide" Target="/ppt/notesSlides/notesSlide6.xml" Id="R5763c54b7f574a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3d3a21c314c51" /><Relationship Type="http://schemas.openxmlformats.org/officeDocument/2006/relationships/image" Target="/ppt/media/image7.jpeg" Id="R956fd7c4ec974eed" /><Relationship Type="http://schemas.openxmlformats.org/officeDocument/2006/relationships/notesSlide" Target="/ppt/notesSlides/notesSlide7.xml" Id="R3a89f73ad33f43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5ca0e46ae42b7" /><Relationship Type="http://schemas.openxmlformats.org/officeDocument/2006/relationships/image" Target="/ppt/media/image8.jpeg" Id="R7379fb8b65084cde" /><Relationship Type="http://schemas.openxmlformats.org/officeDocument/2006/relationships/notesSlide" Target="/ppt/notesSlides/notesSlide8.xml" Id="R89ec02215d5345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241381110451a" /><Relationship Type="http://schemas.openxmlformats.org/officeDocument/2006/relationships/image" Target="/ppt/media/image9.jpeg" Id="R222329d731074af2" /><Relationship Type="http://schemas.openxmlformats.org/officeDocument/2006/relationships/notesSlide" Target="/ppt/notesSlides/notesSlide9.xml" Id="R2de19ce31d5748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64b1878744e75" /><Relationship Type="http://schemas.openxmlformats.org/officeDocument/2006/relationships/image" Target="/ppt/media/image10.jpeg" Id="R591bdaec027a4719" /><Relationship Type="http://schemas.openxmlformats.org/officeDocument/2006/relationships/notesSlide" Target="/ppt/notesSlides/notesSlide10.xml" Id="Rdb959e6432404d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7286d13f04089" /><Relationship Type="http://schemas.openxmlformats.org/officeDocument/2006/relationships/image" Target="/ppt/media/image11.jpeg" Id="Ref6e87b0f4134ec4" /><Relationship Type="http://schemas.openxmlformats.org/officeDocument/2006/relationships/notesSlide" Target="/ppt/notesSlides/notesSlide11.xml" Id="R33b11057dfe849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c6e8365eb48ac" /><Relationship Type="http://schemas.openxmlformats.org/officeDocument/2006/relationships/image" Target="/ppt/media/image12.jpeg" Id="R78d229a9a2a645ca" /><Relationship Type="http://schemas.openxmlformats.org/officeDocument/2006/relationships/notesSlide" Target="/ppt/notesSlides/notesSlide12.xml" Id="R39248108f8614e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8cd75b41c46d4" /><Relationship Type="http://schemas.openxmlformats.org/officeDocument/2006/relationships/image" Target="/ppt/media/image13.jpeg" Id="Rb32fd6375bc84b8c" /><Relationship Type="http://schemas.openxmlformats.org/officeDocument/2006/relationships/notesSlide" Target="/ppt/notesSlides/notesSlide13.xml" Id="R4c4d6ccc1b39479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0e50ae4724430" /><Relationship Type="http://schemas.openxmlformats.org/officeDocument/2006/relationships/image" Target="/ppt/media/image14.jpeg" Id="R90928f246a094786" /><Relationship Type="http://schemas.openxmlformats.org/officeDocument/2006/relationships/notesSlide" Target="/ppt/notesSlides/notesSlide14.xml" Id="Rffd20395eef940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b72ac503c4614" /><Relationship Type="http://schemas.openxmlformats.org/officeDocument/2006/relationships/image" Target="/ppt/media/image15.jpeg" Id="R2b3978d00e014c61" /><Relationship Type="http://schemas.openxmlformats.org/officeDocument/2006/relationships/notesSlide" Target="/ppt/notesSlides/notesSlide15.xml" Id="Rf8f69ba3a8e24c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1660074f741fc" /><Relationship Type="http://schemas.openxmlformats.org/officeDocument/2006/relationships/image" Target="/ppt/media/image16.jpeg" Id="R38022e04d652425e" /><Relationship Type="http://schemas.openxmlformats.org/officeDocument/2006/relationships/notesSlide" Target="/ppt/notesSlides/notesSlide16.xml" Id="R4ee1e7cd6dea4e8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e9f1551294253" /><Relationship Type="http://schemas.openxmlformats.org/officeDocument/2006/relationships/image" Target="/ppt/media/image17.jpeg" Id="R6e227a2908cd4ed0" /><Relationship Type="http://schemas.openxmlformats.org/officeDocument/2006/relationships/notesSlide" Target="/ppt/notesSlides/notesSlide17.xml" Id="R5f0ceeef55f149d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9ae985905497b" /><Relationship Type="http://schemas.openxmlformats.org/officeDocument/2006/relationships/image" Target="/ppt/media/image18.jpeg" Id="R238907262cc14b08" /><Relationship Type="http://schemas.openxmlformats.org/officeDocument/2006/relationships/notesSlide" Target="/ppt/notesSlides/notesSlide18.xml" Id="R4ed861a9170e4b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9d644fd154d64" /><Relationship Type="http://schemas.openxmlformats.org/officeDocument/2006/relationships/image" Target="/ppt/media/image19.jpeg" Id="R470329dc294e41aa" /><Relationship Type="http://schemas.openxmlformats.org/officeDocument/2006/relationships/notesSlide" Target="/ppt/notesSlides/notesSlide19.xml" Id="Rf986c1973217402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786558ce44713" /><Relationship Type="http://schemas.openxmlformats.org/officeDocument/2006/relationships/image" Target="/ppt/media/image20.jpeg" Id="R4373be3dffc84309" /><Relationship Type="http://schemas.openxmlformats.org/officeDocument/2006/relationships/notesSlide" Target="/ppt/notesSlides/notesSlide20.xml" Id="R9becb026394f4a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5b2fb1e7b4410" /><Relationship Type="http://schemas.openxmlformats.org/officeDocument/2006/relationships/image" Target="/ppt/media/image21.jpeg" Id="R36c0b37bcd63450f" /><Relationship Type="http://schemas.openxmlformats.org/officeDocument/2006/relationships/notesSlide" Target="/ppt/notesSlides/notesSlide21.xml" Id="Rf6508ad0bfa14a2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e1ba153164be9" /><Relationship Type="http://schemas.openxmlformats.org/officeDocument/2006/relationships/image" Target="/ppt/media/image22.jpeg" Id="R9358140831bf4127" /><Relationship Type="http://schemas.openxmlformats.org/officeDocument/2006/relationships/notesSlide" Target="/ppt/notesSlides/notesSlide22.xml" Id="Rd8b415b2465147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a8a39ad08486e" /><Relationship Type="http://schemas.openxmlformats.org/officeDocument/2006/relationships/image" Target="/ppt/media/image23.jpeg" Id="R5a87e78bf18549c6" /><Relationship Type="http://schemas.openxmlformats.org/officeDocument/2006/relationships/notesSlide" Target="/ppt/notesSlides/notesSlide23.xml" Id="R27e99e048742421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244e2a4564921" /><Relationship Type="http://schemas.openxmlformats.org/officeDocument/2006/relationships/image" Target="/ppt/media/image24.jpeg" Id="R5ff9800f401e4f7b" /><Relationship Type="http://schemas.openxmlformats.org/officeDocument/2006/relationships/notesSlide" Target="/ppt/notesSlides/notesSlide24.xml" Id="Re7472853272642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53b9bc4d24e46" /><Relationship Type="http://schemas.openxmlformats.org/officeDocument/2006/relationships/image" Target="/ppt/media/image25.jpeg" Id="Ra7270d45f4374608" /><Relationship Type="http://schemas.openxmlformats.org/officeDocument/2006/relationships/notesSlide" Target="/ppt/notesSlides/notesSlide25.xml" Id="R5f84b8132cda459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ef53d350a485e" /><Relationship Type="http://schemas.openxmlformats.org/officeDocument/2006/relationships/image" Target="/ppt/media/image26.jpeg" Id="Rf3644d9c940941b3" /><Relationship Type="http://schemas.openxmlformats.org/officeDocument/2006/relationships/notesSlide" Target="/ppt/notesSlides/notesSlide26.xml" Id="R4160c37ce54c40d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9e5ccab574d22" /><Relationship Type="http://schemas.openxmlformats.org/officeDocument/2006/relationships/image" Target="/ppt/media/image27.jpeg" Id="Rba5c82da91a94cfb" /><Relationship Type="http://schemas.openxmlformats.org/officeDocument/2006/relationships/notesSlide" Target="/ppt/notesSlides/notesSlide27.xml" Id="Rd3822b07c2b34c2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27d00568f4bfd" /><Relationship Type="http://schemas.openxmlformats.org/officeDocument/2006/relationships/image" Target="/ppt/media/image28.jpeg" Id="R99abb037d4b94486" /><Relationship Type="http://schemas.openxmlformats.org/officeDocument/2006/relationships/notesSlide" Target="/ppt/notesSlides/notesSlide28.xml" Id="Ra86bafebec4a426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7d0c8fe6e4693" /><Relationship Type="http://schemas.openxmlformats.org/officeDocument/2006/relationships/image" Target="/ppt/media/image29.jpeg" Id="R0161a5b3c9774f5f" /><Relationship Type="http://schemas.openxmlformats.org/officeDocument/2006/relationships/notesSlide" Target="/ppt/notesSlides/notesSlide29.xml" Id="R405ff56a1494438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ad924707f4cc1" /><Relationship Type="http://schemas.openxmlformats.org/officeDocument/2006/relationships/image" Target="/ppt/media/image30.jpeg" Id="R4d170cb84b5f43c1" /><Relationship Type="http://schemas.openxmlformats.org/officeDocument/2006/relationships/notesSlide" Target="/ppt/notesSlides/notesSlide30.xml" Id="Ra0fc16710319499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db17885284472" /><Relationship Type="http://schemas.openxmlformats.org/officeDocument/2006/relationships/image" Target="/ppt/media/image31.jpeg" Id="R0303ac40424447e8" /><Relationship Type="http://schemas.openxmlformats.org/officeDocument/2006/relationships/notesSlide" Target="/ppt/notesSlides/notesSlide31.xml" Id="R882f904371934c0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b67d7ead1446e" /><Relationship Type="http://schemas.openxmlformats.org/officeDocument/2006/relationships/image" Target="/ppt/media/image32.jpeg" Id="R4fe71a0298a84fe3" /><Relationship Type="http://schemas.openxmlformats.org/officeDocument/2006/relationships/notesSlide" Target="/ppt/notesSlides/notesSlide32.xml" Id="Rbb3b7448f60e4c0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8dbafaa2e49b3" /><Relationship Type="http://schemas.openxmlformats.org/officeDocument/2006/relationships/image" Target="/ppt/media/image33.jpeg" Id="Re6612d885b524dd0" /><Relationship Type="http://schemas.openxmlformats.org/officeDocument/2006/relationships/notesSlide" Target="/ppt/notesSlides/notesSlide33.xml" Id="R591e0d7e2f324a9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877ec862a49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012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1a364d621492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2939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9efded9784ee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193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4af0c0947451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698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90f8a66bf487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4495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fcff93404ed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822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fd7c4ec974ee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73578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9fb8b65084cd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3256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329d731074af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9220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bdaec027a471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07513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e87b0f4134ec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4827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229a9a2a645c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56221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fd6375bc84b8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73585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28f246a0947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72963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978d00e014c6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02285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22e04d652425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63487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27a2908cd4ed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9062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907262cc14b0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53035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329dc294e41a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576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3be3dffc8430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99015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0b37bcd63450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49853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8140831bf412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12960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7e78bf18549c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77963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9800f401e4f7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9914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70d45f437460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910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44d9c940941b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506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c82da91a94cf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23287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bb037d4b944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7667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1a5b3c9774f5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81890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70cb84b5f43c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7803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3ac40424447e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8030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71a0298a84fe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57743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12d885b524dd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969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2026-10-05T09:23:08.2220000Z</dcterms:created>
  <dcterms:modified xsi:type="dcterms:W3CDTF">2026-10-05T09:23:08.2220000Z</dcterms:modified>
</coreProperties>
</file>