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463fd8adaf4725" /><Relationship Type="http://schemas.openxmlformats.org/officeDocument/2006/relationships/extended-properties" Target="/docProps/app.xml" Id="R444c9a3e5dde4d79" /><Relationship Type="http://schemas.openxmlformats.org/officeDocument/2006/relationships/officeDocument" Target="/ppt/presentation.xml" Id="R9e95d03edc434e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394840d08243b6"/>
  </p:sldMasterIdLst>
  <p:notesMasterIdLst>
    <p:notesMasterId xmlns:r="http://schemas.openxmlformats.org/officeDocument/2006/relationships" r:id="R890a109a0008498d"/>
  </p:notesMasterIdLst>
  <p:sldIdLst>
    <p:sldId xmlns:r="http://schemas.openxmlformats.org/officeDocument/2006/relationships" id="256" r:id="Rd798f5338c0d4ef2"/>
    <p:sldId xmlns:r="http://schemas.openxmlformats.org/officeDocument/2006/relationships" id="257" r:id="R6972485783a245aa"/>
    <p:sldId xmlns:r="http://schemas.openxmlformats.org/officeDocument/2006/relationships" id="258" r:id="R33c7d5d41e65445c"/>
    <p:sldId xmlns:r="http://schemas.openxmlformats.org/officeDocument/2006/relationships" id="259" r:id="R8d0571c088b547cc"/>
    <p:sldId xmlns:r="http://schemas.openxmlformats.org/officeDocument/2006/relationships" id="260" r:id="R81044cc727a14b9c"/>
    <p:sldId xmlns:r="http://schemas.openxmlformats.org/officeDocument/2006/relationships" id="261" r:id="R17f88dc88f284105"/>
    <p:sldId xmlns:r="http://schemas.openxmlformats.org/officeDocument/2006/relationships" id="262" r:id="R2a3b214399fe4871"/>
    <p:sldId xmlns:r="http://schemas.openxmlformats.org/officeDocument/2006/relationships" id="263" r:id="R791cc6f2f3dc4716"/>
    <p:sldId xmlns:r="http://schemas.openxmlformats.org/officeDocument/2006/relationships" id="264" r:id="Re171ff6a82ba4613"/>
    <p:sldId xmlns:r="http://schemas.openxmlformats.org/officeDocument/2006/relationships" id="265" r:id="Rf817574a0b4d422a"/>
    <p:sldId xmlns:r="http://schemas.openxmlformats.org/officeDocument/2006/relationships" id="266" r:id="R83e9879e983941b5"/>
    <p:sldId xmlns:r="http://schemas.openxmlformats.org/officeDocument/2006/relationships" id="267" r:id="Rc8890926911e4643"/>
    <p:sldId xmlns:r="http://schemas.openxmlformats.org/officeDocument/2006/relationships" id="268" r:id="R8b3d5e46b4fa483e"/>
    <p:sldId xmlns:r="http://schemas.openxmlformats.org/officeDocument/2006/relationships" id="269" r:id="R6b8c9c40f6864b20"/>
    <p:sldId xmlns:r="http://schemas.openxmlformats.org/officeDocument/2006/relationships" id="270" r:id="Rd17b15e622ed4359"/>
    <p:sldId xmlns:r="http://schemas.openxmlformats.org/officeDocument/2006/relationships" id="271" r:id="Rd0c705b157e64fb2"/>
    <p:sldId xmlns:r="http://schemas.openxmlformats.org/officeDocument/2006/relationships" id="272" r:id="R4220ea6ef6ef4a08"/>
    <p:sldId xmlns:r="http://schemas.openxmlformats.org/officeDocument/2006/relationships" id="273" r:id="Rdca18f9b7af6459b"/>
    <p:sldId xmlns:r="http://schemas.openxmlformats.org/officeDocument/2006/relationships" id="274" r:id="Rcdf81b754aac4b03"/>
    <p:sldId xmlns:r="http://schemas.openxmlformats.org/officeDocument/2006/relationships" id="275" r:id="R4bba6ac556de4698"/>
    <p:sldId xmlns:r="http://schemas.openxmlformats.org/officeDocument/2006/relationships" id="276" r:id="Rb8f080a1d54c4710"/>
    <p:sldId xmlns:r="http://schemas.openxmlformats.org/officeDocument/2006/relationships" id="277" r:id="R0edd0e3794614a68"/>
    <p:sldId xmlns:r="http://schemas.openxmlformats.org/officeDocument/2006/relationships" id="278" r:id="Rd8a5b299f3dc43f1"/>
    <p:sldId xmlns:r="http://schemas.openxmlformats.org/officeDocument/2006/relationships" id="279" r:id="R024e5eab2d9d4034"/>
    <p:sldId xmlns:r="http://schemas.openxmlformats.org/officeDocument/2006/relationships" id="280" r:id="R1daf1960ac1b42c8"/>
    <p:sldId xmlns:r="http://schemas.openxmlformats.org/officeDocument/2006/relationships" id="281" r:id="R94fc9cc4eccb4f2a"/>
    <p:sldId xmlns:r="http://schemas.openxmlformats.org/officeDocument/2006/relationships" id="282" r:id="R1ae9585fc91c4c63"/>
    <p:sldId xmlns:r="http://schemas.openxmlformats.org/officeDocument/2006/relationships" id="283" r:id="R4de1b93936c249b5"/>
    <p:sldId xmlns:r="http://schemas.openxmlformats.org/officeDocument/2006/relationships" id="284" r:id="R3e295440e7be476c"/>
    <p:sldId xmlns:r="http://schemas.openxmlformats.org/officeDocument/2006/relationships" id="285" r:id="R34df2dad114440a2"/>
    <p:sldId xmlns:r="http://schemas.openxmlformats.org/officeDocument/2006/relationships" id="286" r:id="R240fc0d87df247ae"/>
    <p:sldId xmlns:r="http://schemas.openxmlformats.org/officeDocument/2006/relationships" id="287" r:id="R18c8f50b92ca48e3"/>
    <p:sldId xmlns:r="http://schemas.openxmlformats.org/officeDocument/2006/relationships" id="288" r:id="Rbcf86aaca4f643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4dc7728eb54ad5" /><Relationship Type="http://schemas.openxmlformats.org/officeDocument/2006/relationships/slideMaster" Target="/ppt/slideMasters/slideMaster1.xml" Id="R41394840d08243b6" /><Relationship Type="http://schemas.openxmlformats.org/officeDocument/2006/relationships/notesMaster" Target="/ppt/notesMasters/notesMaster1.xml" Id="R890a109a0008498d" /><Relationship Type="http://schemas.openxmlformats.org/officeDocument/2006/relationships/presProps" Target="/ppt/presProps.xml" Id="R67fd946916bc4795" /><Relationship Type="http://schemas.openxmlformats.org/officeDocument/2006/relationships/tableStyles" Target="/ppt/tableStyles.xml" Id="Rbafc519737744007" /><Relationship Type="http://schemas.openxmlformats.org/officeDocument/2006/relationships/slide" Target="/ppt/slides/slide1.xml" Id="Rd798f5338c0d4ef2" /><Relationship Type="http://schemas.openxmlformats.org/officeDocument/2006/relationships/slide" Target="/ppt/slides/slide2.xml" Id="R6972485783a245aa" /><Relationship Type="http://schemas.openxmlformats.org/officeDocument/2006/relationships/slide" Target="/ppt/slides/slide3.xml" Id="R33c7d5d41e65445c" /><Relationship Type="http://schemas.openxmlformats.org/officeDocument/2006/relationships/slide" Target="/ppt/slides/slide4.xml" Id="R8d0571c088b547cc" /><Relationship Type="http://schemas.openxmlformats.org/officeDocument/2006/relationships/slide" Target="/ppt/slides/slide5.xml" Id="R81044cc727a14b9c" /><Relationship Type="http://schemas.openxmlformats.org/officeDocument/2006/relationships/slide" Target="/ppt/slides/slide6.xml" Id="R17f88dc88f284105" /><Relationship Type="http://schemas.openxmlformats.org/officeDocument/2006/relationships/slide" Target="/ppt/slides/slide7.xml" Id="R2a3b214399fe4871" /><Relationship Type="http://schemas.openxmlformats.org/officeDocument/2006/relationships/slide" Target="/ppt/slides/slide8.xml" Id="R791cc6f2f3dc4716" /><Relationship Type="http://schemas.openxmlformats.org/officeDocument/2006/relationships/slide" Target="/ppt/slides/slide9.xml" Id="Re171ff6a82ba4613" /><Relationship Type="http://schemas.openxmlformats.org/officeDocument/2006/relationships/slide" Target="/ppt/slides/slide10.xml" Id="Rf817574a0b4d422a" /><Relationship Type="http://schemas.openxmlformats.org/officeDocument/2006/relationships/slide" Target="/ppt/slides/slide11.xml" Id="R83e9879e983941b5" /><Relationship Type="http://schemas.openxmlformats.org/officeDocument/2006/relationships/slide" Target="/ppt/slides/slide12.xml" Id="Rc8890926911e4643" /><Relationship Type="http://schemas.openxmlformats.org/officeDocument/2006/relationships/slide" Target="/ppt/slides/slide13.xml" Id="R8b3d5e46b4fa483e" /><Relationship Type="http://schemas.openxmlformats.org/officeDocument/2006/relationships/slide" Target="/ppt/slides/slide14.xml" Id="R6b8c9c40f6864b20" /><Relationship Type="http://schemas.openxmlformats.org/officeDocument/2006/relationships/slide" Target="/ppt/slides/slide15.xml" Id="Rd17b15e622ed4359" /><Relationship Type="http://schemas.openxmlformats.org/officeDocument/2006/relationships/slide" Target="/ppt/slides/slide16.xml" Id="Rd0c705b157e64fb2" /><Relationship Type="http://schemas.openxmlformats.org/officeDocument/2006/relationships/slide" Target="/ppt/slides/slide17.xml" Id="R4220ea6ef6ef4a08" /><Relationship Type="http://schemas.openxmlformats.org/officeDocument/2006/relationships/slide" Target="/ppt/slides/slide18.xml" Id="Rdca18f9b7af6459b" /><Relationship Type="http://schemas.openxmlformats.org/officeDocument/2006/relationships/slide" Target="/ppt/slides/slide19.xml" Id="Rcdf81b754aac4b03" /><Relationship Type="http://schemas.openxmlformats.org/officeDocument/2006/relationships/slide" Target="/ppt/slides/slide20.xml" Id="R4bba6ac556de4698" /><Relationship Type="http://schemas.openxmlformats.org/officeDocument/2006/relationships/slide" Target="/ppt/slides/slide21.xml" Id="Rb8f080a1d54c4710" /><Relationship Type="http://schemas.openxmlformats.org/officeDocument/2006/relationships/slide" Target="/ppt/slides/slide22.xml" Id="R0edd0e3794614a68" /><Relationship Type="http://schemas.openxmlformats.org/officeDocument/2006/relationships/slide" Target="/ppt/slides/slide23.xml" Id="Rd8a5b299f3dc43f1" /><Relationship Type="http://schemas.openxmlformats.org/officeDocument/2006/relationships/slide" Target="/ppt/slides/slide24.xml" Id="R024e5eab2d9d4034" /><Relationship Type="http://schemas.openxmlformats.org/officeDocument/2006/relationships/slide" Target="/ppt/slides/slide25.xml" Id="R1daf1960ac1b42c8" /><Relationship Type="http://schemas.openxmlformats.org/officeDocument/2006/relationships/slide" Target="/ppt/slides/slide26.xml" Id="R94fc9cc4eccb4f2a" /><Relationship Type="http://schemas.openxmlformats.org/officeDocument/2006/relationships/slide" Target="/ppt/slides/slide27.xml" Id="R1ae9585fc91c4c63" /><Relationship Type="http://schemas.openxmlformats.org/officeDocument/2006/relationships/slide" Target="/ppt/slides/slide28.xml" Id="R4de1b93936c249b5" /><Relationship Type="http://schemas.openxmlformats.org/officeDocument/2006/relationships/slide" Target="/ppt/slides/slide29.xml" Id="R3e295440e7be476c" /><Relationship Type="http://schemas.openxmlformats.org/officeDocument/2006/relationships/slide" Target="/ppt/slides/slide30.xml" Id="R34df2dad114440a2" /><Relationship Type="http://schemas.openxmlformats.org/officeDocument/2006/relationships/slide" Target="/ppt/slides/slide31.xml" Id="R240fc0d87df247ae" /><Relationship Type="http://schemas.openxmlformats.org/officeDocument/2006/relationships/slide" Target="/ppt/slides/slide32.xml" Id="R18c8f50b92ca48e3" /><Relationship Type="http://schemas.openxmlformats.org/officeDocument/2006/relationships/slide" Target="/ppt/slides/slide33.xml" Id="Rbcf86aaca4f643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a10727ad274c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4d9748718040ba" /><Relationship Type="http://schemas.openxmlformats.org/officeDocument/2006/relationships/notesMaster" Target="/ppt/notesMasters/notesMaster1.xml" Id="Rcf5d590410a24a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fdeb87a67d4074" /><Relationship Type="http://schemas.openxmlformats.org/officeDocument/2006/relationships/notesMaster" Target="/ppt/notesMasters/notesMaster1.xml" Id="R7aedf14e4a1c43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bc9447d0b54966" /><Relationship Type="http://schemas.openxmlformats.org/officeDocument/2006/relationships/notesMaster" Target="/ppt/notesMasters/notesMaster1.xml" Id="R641ef66c24284b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e06647e6214867" /><Relationship Type="http://schemas.openxmlformats.org/officeDocument/2006/relationships/notesMaster" Target="/ppt/notesMasters/notesMaster1.xml" Id="Rae63a0a959944d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365ec14b6a473e" /><Relationship Type="http://schemas.openxmlformats.org/officeDocument/2006/relationships/notesMaster" Target="/ppt/notesMasters/notesMaster1.xml" Id="Rc60006870fb041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8ee566c7284b11" /><Relationship Type="http://schemas.openxmlformats.org/officeDocument/2006/relationships/notesMaster" Target="/ppt/notesMasters/notesMaster1.xml" Id="R741bfb864b6f41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b4bec66c974bbe" /><Relationship Type="http://schemas.openxmlformats.org/officeDocument/2006/relationships/notesMaster" Target="/ppt/notesMasters/notesMaster1.xml" Id="Re35e6ce636374e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35edfa490b4ce9" /><Relationship Type="http://schemas.openxmlformats.org/officeDocument/2006/relationships/notesMaster" Target="/ppt/notesMasters/notesMaster1.xml" Id="Re4bb1234c0bd4d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196c009cc54c59" /><Relationship Type="http://schemas.openxmlformats.org/officeDocument/2006/relationships/notesMaster" Target="/ppt/notesMasters/notesMaster1.xml" Id="Rcd737c7d31d346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e1e63c69996426a" /><Relationship Type="http://schemas.openxmlformats.org/officeDocument/2006/relationships/notesMaster" Target="/ppt/notesMasters/notesMaster1.xml" Id="R2a2e72a8f8af413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6ca590d9f94ac0" /><Relationship Type="http://schemas.openxmlformats.org/officeDocument/2006/relationships/notesMaster" Target="/ppt/notesMasters/notesMaster1.xml" Id="R58f6fe9aefbc40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084bbac328432a" /><Relationship Type="http://schemas.openxmlformats.org/officeDocument/2006/relationships/notesMaster" Target="/ppt/notesMasters/notesMaster1.xml" Id="Ra1e2ec185f8442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2e90d98f634d25" /><Relationship Type="http://schemas.openxmlformats.org/officeDocument/2006/relationships/notesMaster" Target="/ppt/notesMasters/notesMaster1.xml" Id="Ra440743f9d0a43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10a15604811422c" /><Relationship Type="http://schemas.openxmlformats.org/officeDocument/2006/relationships/notesMaster" Target="/ppt/notesMasters/notesMaster1.xml" Id="Rfbbf96909e4244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e656fde46454c11" /><Relationship Type="http://schemas.openxmlformats.org/officeDocument/2006/relationships/notesMaster" Target="/ppt/notesMasters/notesMaster1.xml" Id="Rfd03e9243ff048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91c4dde8dd5414f" /><Relationship Type="http://schemas.openxmlformats.org/officeDocument/2006/relationships/notesMaster" Target="/ppt/notesMasters/notesMaster1.xml" Id="R9010e83a1eb64ec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98ad5ccab14a55" /><Relationship Type="http://schemas.openxmlformats.org/officeDocument/2006/relationships/notesMaster" Target="/ppt/notesMasters/notesMaster1.xml" Id="Rfe6d14c49b454b4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2b51a55f8fb4b30" /><Relationship Type="http://schemas.openxmlformats.org/officeDocument/2006/relationships/notesMaster" Target="/ppt/notesMasters/notesMaster1.xml" Id="Rf61102fbb4af4b3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20dac45676a4e25" /><Relationship Type="http://schemas.openxmlformats.org/officeDocument/2006/relationships/notesMaster" Target="/ppt/notesMasters/notesMaster1.xml" Id="Re9622d162c644de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275ea5c46446a0" /><Relationship Type="http://schemas.openxmlformats.org/officeDocument/2006/relationships/notesMaster" Target="/ppt/notesMasters/notesMaster1.xml" Id="R37fb307b511344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32a895390c449c3" /><Relationship Type="http://schemas.openxmlformats.org/officeDocument/2006/relationships/notesMaster" Target="/ppt/notesMasters/notesMaster1.xml" Id="Ra4cb1349a88340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47d6701164b42cc" /><Relationship Type="http://schemas.openxmlformats.org/officeDocument/2006/relationships/notesMaster" Target="/ppt/notesMasters/notesMaster1.xml" Id="Re46386f05bcb442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0afdb02210a4552" /><Relationship Type="http://schemas.openxmlformats.org/officeDocument/2006/relationships/notesMaster" Target="/ppt/notesMasters/notesMaster1.xml" Id="R4d245d0e26e44ac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66ccd9c0544413b" /><Relationship Type="http://schemas.openxmlformats.org/officeDocument/2006/relationships/notesMaster" Target="/ppt/notesMasters/notesMaster1.xml" Id="R489f93789667486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86cdc0124a34245" /><Relationship Type="http://schemas.openxmlformats.org/officeDocument/2006/relationships/notesMaster" Target="/ppt/notesMasters/notesMaster1.xml" Id="Rcec51ba78b734ec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2641528ca9a46ba" /><Relationship Type="http://schemas.openxmlformats.org/officeDocument/2006/relationships/notesMaster" Target="/ppt/notesMasters/notesMaster1.xml" Id="R2730e340ec0b449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1d51ccec04c4c79" /><Relationship Type="http://schemas.openxmlformats.org/officeDocument/2006/relationships/notesMaster" Target="/ppt/notesMasters/notesMaster1.xml" Id="Rca8abe505a8e49d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59bf18ea36f466e" /><Relationship Type="http://schemas.openxmlformats.org/officeDocument/2006/relationships/notesMaster" Target="/ppt/notesMasters/notesMaster1.xml" Id="R2778dff16cdb4fa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a0a06ffff824b27" /><Relationship Type="http://schemas.openxmlformats.org/officeDocument/2006/relationships/notesMaster" Target="/ppt/notesMasters/notesMaster1.xml" Id="Rb435c37044ae443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dcdc589914f43f9" /><Relationship Type="http://schemas.openxmlformats.org/officeDocument/2006/relationships/notesMaster" Target="/ppt/notesMasters/notesMaster1.xml" Id="R6f1e4837334643c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5e27e6517754ce4" /><Relationship Type="http://schemas.openxmlformats.org/officeDocument/2006/relationships/notesMaster" Target="/ppt/notesMasters/notesMaster1.xml" Id="Rd15b39a10833407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b6b191272394b08" /><Relationship Type="http://schemas.openxmlformats.org/officeDocument/2006/relationships/notesMaster" Target="/ppt/notesMasters/notesMaster1.xml" Id="R0ab8ed3a1634478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108abd89e574d87" /><Relationship Type="http://schemas.openxmlformats.org/officeDocument/2006/relationships/notesMaster" Target="/ppt/notesMasters/notesMaster1.xml" Id="R40afda4e71e443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3: The Single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 of the main benefits of the Single Market is that firms have access to a bigger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larger market means more competition between firms, lower prices and increased consumer welfare.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http://ec.europa.eu/growth/single-market/index_en.htm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 the end of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Analyse how increased market size affects:</a:t>
            </a:r>
          </a:p>
          <a:p xmlns:a="http://schemas.openxmlformats.org/drawingml/2006/main">
            <a:r>
              <a:t>Competitiveness: the pro-competitive effect.</a:t>
            </a:r>
          </a:p>
          <a:p xmlns:a="http://schemas.openxmlformats.org/drawingml/2006/main">
            <a:r>
              <a:t>The scale of firms: industrial restructuring.</a:t>
            </a:r>
          </a:p>
          <a:p xmlns:a="http://schemas.openxmlformats.org/drawingml/2006/main">
            <a:r>
              <a:t>Welfare.</a:t>
            </a:r>
          </a:p>
          <a:p xmlns:a="http://schemas.openxmlformats.org/drawingml/2006/main">
            <a:r>
              <a:t>Discuss the empirical evidence on the effects of the Single Market Act on European price-cost margins.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Analytical framework</a:t>
            </a:r>
          </a:p>
          <a:p xmlns:a="http://schemas.openxmlformats.org/drawingml/2006/main">
            <a:r>
              <a:t>Brander and Krugman (1983)</a:t>
            </a:r>
          </a:p>
          <a:p xmlns:a="http://schemas.openxmlformats.org/drawingml/2006/main">
            <a:r>
              <a:t>One good.</a:t>
            </a:r>
          </a:p>
          <a:p xmlns:a="http://schemas.openxmlformats.org/drawingml/2006/main">
            <a:r>
              <a:t>Two countries: Home and Foreign.</a:t>
            </a:r>
          </a:p>
          <a:p xmlns:a="http://schemas.openxmlformats.org/drawingml/2006/main">
            <a:r>
              <a:t>A fixed entry cost and constant marginal cost: increasing returns to scale.</a:t>
            </a:r>
          </a:p>
          <a:p xmlns:a="http://schemas.openxmlformats.org/drawingml/2006/main">
            <a:r>
              <a:t>Linear demand.</a:t>
            </a:r>
          </a:p>
          <a:p xmlns:a="http://schemas.openxmlformats.org/drawingml/2006/main">
            <a:r>
              <a:t>Two versions</a:t>
            </a:r>
          </a:p>
          <a:p xmlns:a="http://schemas.openxmlformats.org/drawingml/2006/main">
            <a:r>
              <a:t>Fixed number of firms: one per country.</a:t>
            </a:r>
          </a:p>
          <a:p xmlns:a="http://schemas.openxmlformats.org/drawingml/2006/main">
            <a:r>
              <a:t>Autarky: two monopolists.</a:t>
            </a:r>
          </a:p>
          <a:p xmlns:a="http://schemas.openxmlformats.org/drawingml/2006/main">
            <a:r>
              <a:t>Open economy: Cournot competition.</a:t>
            </a:r>
          </a:p>
          <a:p xmlns:a="http://schemas.openxmlformats.org/drawingml/2006/main">
            <a:r>
              <a:t>Free entry: the number of firms is determined endogenously.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 monopolistic markets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Monopolist’s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𝑀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Monopoly diagram: marginal revenue crosses marginal cost at monopoly output. Demand determines monopoly price. Average cost lies below price at that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two markets integrate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can sell in both markets. Demand in each country is met by the domestic or foreign firm: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(Home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(Foreign demand)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Here,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Home-firm sales;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are Foreign-firm 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“Iceberg” transport costs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marginal cost of exporting is 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, where 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≤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the Home firm’s problem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subject 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Substitute the demand functions into the profit function and calculate the two first-order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first-order conditions</a:t>
            </a:r>
          </a:p>
          <a:p xmlns:a="http://schemas.openxmlformats.org/drawingml/2006/main">
            <a:r>
              <a:t>Home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Foreign firm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: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Foreign firm’s conditions follow from its corresponding maximisation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Oligopoly: reaction functions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problem is symmetric, so focus on the Home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Rewrite (1) and (3) to obtain the two firms’ reaction functions: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/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 in the Home market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Notice that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By symmetry,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𝑦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a larger share of its domestic market because it faces no transport costs there.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Home-market reaction functions for the two firms. The downward-sloping reactions intersect at equilibrium, with the domestic firm selling more than the foreign firm when transport costs are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“Reciprocal dumping”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Define Home’s mark-up in each country: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Proposition: with positive transport costs, the domestic mark-up is higher than the foreign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Proof: the countries are identical, so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𝑇</a:t>
            </a:r>
          </a:p>
          <a:p xmlns:a="http://schemas.openxmlformats.org/drawingml/2006/main">
            <a:r>
              <a:t>. Since </a:t>
            </a:r>
          </a:p>
          <a:p xmlns:a="http://schemas.openxmlformats.org/drawingml/2006/main">
            <a:r>
              <a:t>𝑔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, it follows that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&gt;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*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Consequences of international trade</a:t>
            </a:r>
          </a:p>
          <a:p xmlns:a="http://schemas.openxmlformats.org/drawingml/2006/main">
            <a:r>
              <a:t>Question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Is there a pro-competitive effect?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Question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so, does it increase welfare in all countries?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consumer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𝑆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Consumers can consume a larger quantity at a lower price under free trade: the pro-competitive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Consumer-surplus gain from integration. Price falls from the monopoly price to the free-trade price and consumption rises. The gain comprises areas A and 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producer surplus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 in the mark-up on monopoly sales: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Further fall in the mark-up on monopoly sales now made in the foreign market: 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Additional mark-up on new sales: 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Producer-surplus decomposition under integration. Domestic mark-ups fall, exports incur transport costs, and new sales generate additional margin. The diagram labels the losses A and C and gain 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 effects: aggregate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Overall welfare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𝐵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𝐷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if there are no transport costs?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Aggregate welfare diagram. Consumer and producer effects combine to B plus D minus C, with C representing a cost associated with transporting exports.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Questions</a:t>
            </a:r>
          </a:p>
          <a:p xmlns:a="http://schemas.openxmlformats.org/drawingml/2006/main">
            <a:r>
              <a:t>What is the effect of an increased market size on the industry itself?</a:t>
            </a:r>
          </a:p>
          <a:p xmlns:a="http://schemas.openxmlformats.org/drawingml/2006/main">
            <a:r>
              <a:t>Can some firms leave the market because of the increased competition?</a:t>
            </a:r>
          </a:p>
          <a:p xmlns:a="http://schemas.openxmlformats.org/drawingml/2006/main">
            <a:r>
              <a:t>If so, is this beneficial for the countries involved?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Market size and industrial restructuring</a:t>
            </a:r>
          </a:p>
          <a:p xmlns:a="http://schemas.openxmlformats.org/drawingml/2006/main">
            <a:r>
              <a:t>Brander and Krugman’s model (1983) with free entry provides an answer.</a:t>
            </a:r>
          </a:p>
          <a:p xmlns:a="http://schemas.openxmlformats.org/drawingml/2006/main">
            <a:r>
              <a:t>The free entry condition allows us to pin down the number of firms in the market and therefore to understand the effect of trade on the number of firms.</a:t>
            </a:r>
          </a:p>
          <a:p xmlns:a="http://schemas.openxmlformats.org/drawingml/2006/main">
            <a:r>
              <a:t>First, we look at the closed economy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firm takes the number of firms in the market as given.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profit-maximisation problem shows that the more firms there are, the less each firm produces (see the appendix).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negative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BE curve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Free entry implies zero profits in the long run: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rises,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 falls. A firm therefore needs a higher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to cover 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is a positive relationship between the number of firms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 and the break-even mark-up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appendix for a derivation.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downward-sloping COMP curve and upward-sloping BE curve intersect at equilibrium firm count n prime and mark-up mu prime.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linked panels before integration: firm average and marginal cost, market demand, and the BE-COMP equilibrium. Dashed guides connect equilibrium firm output, price, sales and mark-up.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market integration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same three panels after integration. The initial increase in competing firms lowers the mark-up; exit and restructuring then raise output per surviving firm. The new equilibrium differs from the short-run point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EU: a bigger market</a:t>
            </a:r>
          </a:p>
          <a:p xmlns:a="http://schemas.openxmlformats.org/drawingml/2006/main">
            <a:r>
              <a:t>Pro-competitive effect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falls and output rises because twice as many firms compete in the market.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Industrial restructuring</a:t>
            </a:r>
          </a:p>
          <a:p xmlns:a="http://schemas.openxmlformats.org/drawingml/2006/main">
            <a:r>
              <a:t>Some firms exit because point A is not feasible: </a:t>
            </a:r>
          </a:p>
          <a:p xmlns:a="http://schemas.openxmlformats.org/drawingml/2006/main">
            <a:r>
              <a:t>𝑃</a:t>
            </a:r>
          </a:p>
          <a:p xmlns:a="http://schemas.openxmlformats.org/drawingml/2006/main">
            <a:r>
              <a:t>&lt;</a:t>
            </a:r>
          </a:p>
          <a:p xmlns:a="http://schemas.openxmlformats.org/drawingml/2006/main">
            <a:r>
              <a:t>𝐴</a:t>
            </a:r>
          </a:p>
          <a:p xmlns:a="http://schemas.openxmlformats.org/drawingml/2006/main">
            <a:r>
              <a:t>𝐶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>The remaining firms are larger and exploit increasing returns to scale more effectively.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always welfare-improving with free entry in this model. Why?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Empirical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Price-cost margins for French industry, 1986–2004.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Baldwin and Wyplosz (2012).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of French industrial price-cost margins, 1986 to 2004. Margins fluctuate but are lower at the end of the period than at the beginning. Source: Baldwin and Wyplosz, 2012.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Controversies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Trade liberalisation is beneficial for consumers, but not necessarily for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Profits normally fall.</a:t>
            </a:r>
          </a:p>
          <a:p xmlns:a="http://schemas.openxmlformats.org/drawingml/2006/main">
            <a:r>
              <a:t>Some firms exit the market (job losses).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a result: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incentives to collude can increase as the remaining firms are bigger.</a:t>
            </a:r>
          </a:p>
          <a:p xmlns:a="http://schemas.openxmlformats.org/drawingml/2006/main">
            <a:r>
              <a:t>Governments might be tempted to provide subsidies to national firms.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</a:t>
            </a:r>
          </a:p>
          <a:p xmlns:a="http://schemas.openxmlformats.org/drawingml/2006/main">
            <a:r>
              <a:t>Free mobility of goods is beneficial as consumers benefit from the higher competition triggered by the increased market size.</a:t>
            </a:r>
          </a:p>
          <a:p xmlns:a="http://schemas.openxmlformats.org/drawingml/2006/main">
            <a:r>
              <a:t>Market integration also leads to a process of industrial restructuring (job losses if labour mobility across sectors and countries is not perfect).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 lecture</a:t>
            </a:r>
          </a:p>
          <a:p xmlns:a="http://schemas.openxmlformats.org/drawingml/2006/main">
            <a:r>
              <a:t>We will talk about migration.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R. and Wyplosz C. (2022), The Economics of European Integration, Chapter 6</a:t>
            </a:r>
          </a:p>
          <a:p xmlns:a="http://schemas.openxmlformats.org/drawingml/2006/main">
            <a:r>
              <a:t>Brander J., and Krugman P. (1983), A ‘reciprocal dumping’ model of international trade, Journal of International Economics, 15, 313-321.</a:t>
            </a:r>
          </a:p>
          <a:p xmlns:a="http://schemas.openxmlformats.org/drawingml/2006/main">
            <a:r>
              <a:t>Further reading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ECON2271 Talis reading list, also available through Blackboard.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https://durham.rl.talis.com/lists/d85d1ad3-e9ac-4daf-aa66-e3ddfcf902d7.html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firm’s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Firm 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 faces the following maximisation problem: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𝜋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Substituting the demand function gives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max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[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]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first-order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∑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≠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symmetric firms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Assume symmetric firms: 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𝑗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. Then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𝑖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Using the demand function and </a:t>
            </a:r>
          </a:p>
          <a:p xmlns:a="http://schemas.openxmlformats.org/drawingml/2006/main">
            <a:r>
              <a:t>𝑍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, the market price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COMP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for a given number of firms gives the COMP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≡</a:t>
            </a:r>
          </a:p>
          <a:p xmlns:a="http://schemas.openxmlformats.org/drawingml/2006/main">
            <a:r>
              <a:t>𝑝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mark-up decreases with the number of firms. It approaches zero as the number of firms tends to infinity, as under perfect competition: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>∞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the BE equation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free-entry condition 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firm’s optimal quantity satisfies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𝑥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Substitution gives the BE equation: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(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+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https://davidchivers.co.uk/teaching/macro-applications/lecture_3.html#/l3-s33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Appendix: equilibrium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 have two equations in two unknowns: </a:t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 and </a:t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Solving the BE and COMP equations simultaneously gives the equilibrium mark-up and number of firms: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𝜇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,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𝑛</a:t>
            </a:r>
          </a:p>
          <a:p xmlns:a="http://schemas.openxmlformats.org/drawingml/2006/main">
            <a:r>
              <a:t>′</a:t>
            </a:r>
          </a:p>
          <a:p xmlns:a="http://schemas.openxmlformats.org/drawingml/2006/main">
            <a:r>
              <a:t>=</a:t>
            </a:r>
          </a:p>
          <a:p xmlns:a="http://schemas.openxmlformats.org/drawingml/2006/main">
            <a:r>
              <a:t>𝑎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𝑐</a:t>
            </a:r>
          </a:p>
          <a:p xmlns:a="http://schemas.openxmlformats.org/drawingml/2006/main">
            <a:r>
              <a:t>𝐹</a:t>
            </a:r>
          </a:p>
          <a:p xmlns:a="http://schemas.openxmlformats.org/drawingml/2006/main">
            <a:r>
              <a:t>𝑏</a:t>
            </a:r>
          </a:p>
          <a:p xmlns:a="http://schemas.openxmlformats.org/drawingml/2006/main">
            <a:r>
              <a:t>−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89d61dbf542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7d485c6e7d4471" /><Relationship Type="http://schemas.openxmlformats.org/officeDocument/2006/relationships/slideLayout" Target="/ppt/slideLayouts/slideLayout1.xml" Id="R75792c08f3f64e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792c08f3f64e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59e4683324645" /><Relationship Type="http://schemas.openxmlformats.org/officeDocument/2006/relationships/image" Target="/ppt/media/image.jpeg" Id="Rba56e97a7a4d41b5" /><Relationship Type="http://schemas.openxmlformats.org/officeDocument/2006/relationships/notesSlide" Target="/ppt/notesSlides/notesSlide1.xml" Id="R2705728d54cd49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23a0eff954bc4" /><Relationship Type="http://schemas.openxmlformats.org/officeDocument/2006/relationships/image" Target="/ppt/media/image2.jpeg" Id="Rebbce6b88bc84748" /><Relationship Type="http://schemas.openxmlformats.org/officeDocument/2006/relationships/notesSlide" Target="/ppt/notesSlides/notesSlide2.xml" Id="R654b36ff2dea47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df2e659d44f92" /><Relationship Type="http://schemas.openxmlformats.org/officeDocument/2006/relationships/image" Target="/ppt/media/image3.jpeg" Id="R925afe37d28c425d" /><Relationship Type="http://schemas.openxmlformats.org/officeDocument/2006/relationships/notesSlide" Target="/ppt/notesSlides/notesSlide3.xml" Id="Rb36cfbca92974c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4d266107344fb" /><Relationship Type="http://schemas.openxmlformats.org/officeDocument/2006/relationships/image" Target="/ppt/media/image4.jpeg" Id="Ref51de5c966b47dd" /><Relationship Type="http://schemas.openxmlformats.org/officeDocument/2006/relationships/notesSlide" Target="/ppt/notesSlides/notesSlide4.xml" Id="Ra8943a2571414b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fd1d97ea140e4" /><Relationship Type="http://schemas.openxmlformats.org/officeDocument/2006/relationships/image" Target="/ppt/media/image5.jpeg" Id="Rcface79e0b0a44d7" /><Relationship Type="http://schemas.openxmlformats.org/officeDocument/2006/relationships/notesSlide" Target="/ppt/notesSlides/notesSlide5.xml" Id="R84d759e7708f4a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f6d827b0b4382" /><Relationship Type="http://schemas.openxmlformats.org/officeDocument/2006/relationships/image" Target="/ppt/media/image6.jpeg" Id="R221bf198a37f41ed" /><Relationship Type="http://schemas.openxmlformats.org/officeDocument/2006/relationships/notesSlide" Target="/ppt/notesSlides/notesSlide6.xml" Id="Rb749eced34594e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8b54735d24716" /><Relationship Type="http://schemas.openxmlformats.org/officeDocument/2006/relationships/image" Target="/ppt/media/image7.jpeg" Id="Re81b706db7d14706" /><Relationship Type="http://schemas.openxmlformats.org/officeDocument/2006/relationships/notesSlide" Target="/ppt/notesSlides/notesSlide7.xml" Id="R33e232e31e7146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018a8a09b49d0" /><Relationship Type="http://schemas.openxmlformats.org/officeDocument/2006/relationships/image" Target="/ppt/media/image8.jpeg" Id="R1d76561ec415462b" /><Relationship Type="http://schemas.openxmlformats.org/officeDocument/2006/relationships/notesSlide" Target="/ppt/notesSlides/notesSlide8.xml" Id="Reb47e6df2b5f4f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16a67eb684920" /><Relationship Type="http://schemas.openxmlformats.org/officeDocument/2006/relationships/image" Target="/ppt/media/image9.jpeg" Id="R72f1b6fd92e344f6" /><Relationship Type="http://schemas.openxmlformats.org/officeDocument/2006/relationships/notesSlide" Target="/ppt/notesSlides/notesSlide9.xml" Id="R0d8f5a48ed294f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acce8c0ff4f67" /><Relationship Type="http://schemas.openxmlformats.org/officeDocument/2006/relationships/image" Target="/ppt/media/image10.jpeg" Id="R06f30ab5644f43ac" /><Relationship Type="http://schemas.openxmlformats.org/officeDocument/2006/relationships/notesSlide" Target="/ppt/notesSlides/notesSlide10.xml" Id="Rf2a4299e208d48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6eaf294534fdf" /><Relationship Type="http://schemas.openxmlformats.org/officeDocument/2006/relationships/image" Target="/ppt/media/image11.jpeg" Id="Ra2e42f6a77b44468" /><Relationship Type="http://schemas.openxmlformats.org/officeDocument/2006/relationships/notesSlide" Target="/ppt/notesSlides/notesSlide11.xml" Id="Re1f3b6fc936548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0fb3fd27e4faf" /><Relationship Type="http://schemas.openxmlformats.org/officeDocument/2006/relationships/image" Target="/ppt/media/image12.jpeg" Id="Rbfb8227ffae34fe9" /><Relationship Type="http://schemas.openxmlformats.org/officeDocument/2006/relationships/notesSlide" Target="/ppt/notesSlides/notesSlide12.xml" Id="Rdb34a731b11541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5ff0386904a77" /><Relationship Type="http://schemas.openxmlformats.org/officeDocument/2006/relationships/image" Target="/ppt/media/image13.jpeg" Id="R16e8af2b240b492d" /><Relationship Type="http://schemas.openxmlformats.org/officeDocument/2006/relationships/notesSlide" Target="/ppt/notesSlides/notesSlide13.xml" Id="R3821b17aa5cc475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e229d0fa447ee" /><Relationship Type="http://schemas.openxmlformats.org/officeDocument/2006/relationships/image" Target="/ppt/media/image14.jpeg" Id="R8dc91b2997c94e0b" /><Relationship Type="http://schemas.openxmlformats.org/officeDocument/2006/relationships/notesSlide" Target="/ppt/notesSlides/notesSlide14.xml" Id="Re2ac874fe8c74f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39ef0184f4621" /><Relationship Type="http://schemas.openxmlformats.org/officeDocument/2006/relationships/image" Target="/ppt/media/image15.jpeg" Id="R39eb5bb2c1584304" /><Relationship Type="http://schemas.openxmlformats.org/officeDocument/2006/relationships/notesSlide" Target="/ppt/notesSlides/notesSlide15.xml" Id="R40bc401e7bbd4c5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e0e42aa0f4aaf" /><Relationship Type="http://schemas.openxmlformats.org/officeDocument/2006/relationships/image" Target="/ppt/media/image16.jpeg" Id="R4cef3f121a154ee3" /><Relationship Type="http://schemas.openxmlformats.org/officeDocument/2006/relationships/notesSlide" Target="/ppt/notesSlides/notesSlide16.xml" Id="R432b20390cd246c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eecf568d74847" /><Relationship Type="http://schemas.openxmlformats.org/officeDocument/2006/relationships/image" Target="/ppt/media/image17.jpeg" Id="Rd58df68026304ff3" /><Relationship Type="http://schemas.openxmlformats.org/officeDocument/2006/relationships/notesSlide" Target="/ppt/notesSlides/notesSlide17.xml" Id="R998d62a3082f4c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af37bc85a4e30" /><Relationship Type="http://schemas.openxmlformats.org/officeDocument/2006/relationships/image" Target="/ppt/media/image18.jpeg" Id="R0db5a94067a84aa3" /><Relationship Type="http://schemas.openxmlformats.org/officeDocument/2006/relationships/notesSlide" Target="/ppt/notesSlides/notesSlide18.xml" Id="Re2d009a913254c9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6478dfb1d429a" /><Relationship Type="http://schemas.openxmlformats.org/officeDocument/2006/relationships/image" Target="/ppt/media/image19.jpeg" Id="Rbca616a603814522" /><Relationship Type="http://schemas.openxmlformats.org/officeDocument/2006/relationships/notesSlide" Target="/ppt/notesSlides/notesSlide19.xml" Id="R8ed3f441d3c84d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3c09784ef4ec0" /><Relationship Type="http://schemas.openxmlformats.org/officeDocument/2006/relationships/image" Target="/ppt/media/image20.jpeg" Id="R49131bdf42fc4dd1" /><Relationship Type="http://schemas.openxmlformats.org/officeDocument/2006/relationships/notesSlide" Target="/ppt/notesSlides/notesSlide20.xml" Id="R79b1c206b29a490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00a6c422f4664" /><Relationship Type="http://schemas.openxmlformats.org/officeDocument/2006/relationships/image" Target="/ppt/media/image21.jpeg" Id="Rcde70aa956c64f19" /><Relationship Type="http://schemas.openxmlformats.org/officeDocument/2006/relationships/notesSlide" Target="/ppt/notesSlides/notesSlide21.xml" Id="Rf709feb522ea48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31da32e7c43c3" /><Relationship Type="http://schemas.openxmlformats.org/officeDocument/2006/relationships/image" Target="/ppt/media/image22.jpeg" Id="R79baf655a5bc4118" /><Relationship Type="http://schemas.openxmlformats.org/officeDocument/2006/relationships/notesSlide" Target="/ppt/notesSlides/notesSlide22.xml" Id="R7d6721da4930409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dc6e38ba248d6" /><Relationship Type="http://schemas.openxmlformats.org/officeDocument/2006/relationships/image" Target="/ppt/media/image23.jpeg" Id="Rce1734cf33754457" /><Relationship Type="http://schemas.openxmlformats.org/officeDocument/2006/relationships/notesSlide" Target="/ppt/notesSlides/notesSlide23.xml" Id="R34a82966b825442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013467735409c" /><Relationship Type="http://schemas.openxmlformats.org/officeDocument/2006/relationships/image" Target="/ppt/media/image24.jpeg" Id="R6f40e0832e804b70" /><Relationship Type="http://schemas.openxmlformats.org/officeDocument/2006/relationships/notesSlide" Target="/ppt/notesSlides/notesSlide24.xml" Id="Ra9c56872a8b94b7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97a79977c4911" /><Relationship Type="http://schemas.openxmlformats.org/officeDocument/2006/relationships/image" Target="/ppt/media/image25.jpeg" Id="R5c6ae395fc7542b0" /><Relationship Type="http://schemas.openxmlformats.org/officeDocument/2006/relationships/notesSlide" Target="/ppt/notesSlides/notesSlide25.xml" Id="R7948f5bcfe11412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5543c9876436e" /><Relationship Type="http://schemas.openxmlformats.org/officeDocument/2006/relationships/image" Target="/ppt/media/image26.jpeg" Id="R066fa1d7a6e8412f" /><Relationship Type="http://schemas.openxmlformats.org/officeDocument/2006/relationships/notesSlide" Target="/ppt/notesSlides/notesSlide26.xml" Id="R248ef42cabc9422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3774e6c024f25" /><Relationship Type="http://schemas.openxmlformats.org/officeDocument/2006/relationships/image" Target="/ppt/media/image27.jpeg" Id="Rc7b0377c09d94017" /><Relationship Type="http://schemas.openxmlformats.org/officeDocument/2006/relationships/notesSlide" Target="/ppt/notesSlides/notesSlide27.xml" Id="Rffa7cc11f42a4d6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352f9e58f4e80" /><Relationship Type="http://schemas.openxmlformats.org/officeDocument/2006/relationships/image" Target="/ppt/media/image.png" Id="Rd6c0358b128b4195" /><Relationship Type="http://schemas.openxmlformats.org/officeDocument/2006/relationships/notesSlide" Target="/ppt/notesSlides/notesSlide28.xml" Id="Reb1c3865da5c478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3c9a92f8a43bf" /><Relationship Type="http://schemas.openxmlformats.org/officeDocument/2006/relationships/image" Target="/ppt/media/image28.jpeg" Id="Rd2bb7881c7ef44a7" /><Relationship Type="http://schemas.openxmlformats.org/officeDocument/2006/relationships/notesSlide" Target="/ppt/notesSlides/notesSlide29.xml" Id="Rfd4813a0d2a543a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774c5f3ff41cf" /><Relationship Type="http://schemas.openxmlformats.org/officeDocument/2006/relationships/image" Target="/ppt/media/image29.jpeg" Id="Ra3c8f3113610424a" /><Relationship Type="http://schemas.openxmlformats.org/officeDocument/2006/relationships/notesSlide" Target="/ppt/notesSlides/notesSlide30.xml" Id="Ra23ae6fa8c974f9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976ba4f894dd5" /><Relationship Type="http://schemas.openxmlformats.org/officeDocument/2006/relationships/image" Target="/ppt/media/image30.jpeg" Id="R1515cdee89de4118" /><Relationship Type="http://schemas.openxmlformats.org/officeDocument/2006/relationships/notesSlide" Target="/ppt/notesSlides/notesSlide31.xml" Id="R88f01b0f30934b7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b572062f1400e" /><Relationship Type="http://schemas.openxmlformats.org/officeDocument/2006/relationships/image" Target="/ppt/media/image31.jpeg" Id="Ra45e6ce6ead74b0d" /><Relationship Type="http://schemas.openxmlformats.org/officeDocument/2006/relationships/notesSlide" Target="/ppt/notesSlides/notesSlide32.xml" Id="R0f03cff327fe465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9e1bb6dc345c9" /><Relationship Type="http://schemas.openxmlformats.org/officeDocument/2006/relationships/image" Target="/ppt/media/image32.jpeg" Id="Rfd300bf223d34f18" /><Relationship Type="http://schemas.openxmlformats.org/officeDocument/2006/relationships/notesSlide" Target="/ppt/notesSlides/notesSlide33.xml" Id="R5073c644c8c54b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6e97a7a4d41b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8909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ce6b88bc8474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865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afe37d28c425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025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1de5c966b47d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8772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ce79e0b0a44d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42794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bf198a37f41e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9686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b706db7d1470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3270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6561ec415462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7273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1b6fd92e344f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82206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30ab5644f43a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51743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42f6a77b4446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21232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8227ffae34fe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62854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af2b240b492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1410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91b2997c94e0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73004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b5bb2c158430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56143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f3f121a154ee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13384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df68026304ff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44546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5a94067a84aa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179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616a60381452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784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31bdf42fc4dd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65314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e70aa956c64f1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56264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af655a5bc41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54239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734cf3375445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63292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0e0832e804b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3097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ae395fc7542b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7507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fa1d7a6e8412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95062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0377c09d9401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871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0358b128b419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4433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b7881c7ef44a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26247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8f3113610424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87002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15cdee89de41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3261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6ce6ead74b0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539078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00bf223d34f1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8600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2026-10-06T15:03:59.3430000Z</dcterms:created>
  <dcterms:modified xsi:type="dcterms:W3CDTF">2026-10-06T15:03:59.3430000Z</dcterms:modified>
</coreProperties>
</file>