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27eec6a6d3c4b06" /><Relationship Type="http://schemas.openxmlformats.org/officeDocument/2006/relationships/extended-properties" Target="/docProps/app.xml" Id="Rc05ef700abc34aae" /><Relationship Type="http://schemas.openxmlformats.org/officeDocument/2006/relationships/officeDocument" Target="/ppt/presentation.xml" Id="Ra1c74c0e7e12465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98232f67b5a4fee"/>
  </p:sldMasterIdLst>
  <p:notesMasterIdLst>
    <p:notesMasterId xmlns:r="http://schemas.openxmlformats.org/officeDocument/2006/relationships" r:id="R772ce03ba44a446b"/>
  </p:notesMasterIdLst>
  <p:sldIdLst>
    <p:sldId xmlns:r="http://schemas.openxmlformats.org/officeDocument/2006/relationships" id="256" r:id="Ra7bcbe3873cf48ff"/>
    <p:sldId xmlns:r="http://schemas.openxmlformats.org/officeDocument/2006/relationships" id="257" r:id="R9c785f422d2240cd"/>
    <p:sldId xmlns:r="http://schemas.openxmlformats.org/officeDocument/2006/relationships" id="258" r:id="R3e2604ab521d45c4"/>
    <p:sldId xmlns:r="http://schemas.openxmlformats.org/officeDocument/2006/relationships" id="259" r:id="Rc3641e7322364f1e"/>
    <p:sldId xmlns:r="http://schemas.openxmlformats.org/officeDocument/2006/relationships" id="260" r:id="R0e53958ffdc84263"/>
    <p:sldId xmlns:r="http://schemas.openxmlformats.org/officeDocument/2006/relationships" id="261" r:id="R2203c02bf4434289"/>
    <p:sldId xmlns:r="http://schemas.openxmlformats.org/officeDocument/2006/relationships" id="262" r:id="R5188b31f1b6847b7"/>
    <p:sldId xmlns:r="http://schemas.openxmlformats.org/officeDocument/2006/relationships" id="263" r:id="R3d844ca62923464b"/>
    <p:sldId xmlns:r="http://schemas.openxmlformats.org/officeDocument/2006/relationships" id="264" r:id="R1ccf0fb36bb24d32"/>
    <p:sldId xmlns:r="http://schemas.openxmlformats.org/officeDocument/2006/relationships" id="265" r:id="R5cb98b0ef722402d"/>
    <p:sldId xmlns:r="http://schemas.openxmlformats.org/officeDocument/2006/relationships" id="266" r:id="R10e098c4789f489c"/>
    <p:sldId xmlns:r="http://schemas.openxmlformats.org/officeDocument/2006/relationships" id="267" r:id="R3c20177853e74fdb"/>
    <p:sldId xmlns:r="http://schemas.openxmlformats.org/officeDocument/2006/relationships" id="268" r:id="R01735856be1048ea"/>
    <p:sldId xmlns:r="http://schemas.openxmlformats.org/officeDocument/2006/relationships" id="269" r:id="Race25002089a48bf"/>
    <p:sldId xmlns:r="http://schemas.openxmlformats.org/officeDocument/2006/relationships" id="270" r:id="R031d452c39ba4723"/>
    <p:sldId xmlns:r="http://schemas.openxmlformats.org/officeDocument/2006/relationships" id="271" r:id="R2bacc72a56f44b4c"/>
    <p:sldId xmlns:r="http://schemas.openxmlformats.org/officeDocument/2006/relationships" id="272" r:id="R1fc8895513b841ea"/>
    <p:sldId xmlns:r="http://schemas.openxmlformats.org/officeDocument/2006/relationships" id="273" r:id="Refa80e35d49249e6"/>
    <p:sldId xmlns:r="http://schemas.openxmlformats.org/officeDocument/2006/relationships" id="274" r:id="Rf59087923e2e4496"/>
    <p:sldId xmlns:r="http://schemas.openxmlformats.org/officeDocument/2006/relationships" id="275" r:id="Rdef9de1983584c0b"/>
    <p:sldId xmlns:r="http://schemas.openxmlformats.org/officeDocument/2006/relationships" id="276" r:id="R274c709c08e14cac"/>
    <p:sldId xmlns:r="http://schemas.openxmlformats.org/officeDocument/2006/relationships" id="277" r:id="Rc6d4e57868ce460f"/>
    <p:sldId xmlns:r="http://schemas.openxmlformats.org/officeDocument/2006/relationships" id="278" r:id="R67c72004cf16421c"/>
    <p:sldId xmlns:r="http://schemas.openxmlformats.org/officeDocument/2006/relationships" id="279" r:id="R4604764df41d4765"/>
    <p:sldId xmlns:r="http://schemas.openxmlformats.org/officeDocument/2006/relationships" id="280" r:id="Rb8b97f205f044130"/>
    <p:sldId xmlns:r="http://schemas.openxmlformats.org/officeDocument/2006/relationships" id="281" r:id="R1b463a12bc3b4f19"/>
    <p:sldId xmlns:r="http://schemas.openxmlformats.org/officeDocument/2006/relationships" id="282" r:id="R52e5d521ad474f4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046f05532bf4911" /><Relationship Type="http://schemas.openxmlformats.org/officeDocument/2006/relationships/slideMaster" Target="/ppt/slideMasters/slideMaster1.xml" Id="R598232f67b5a4fee" /><Relationship Type="http://schemas.openxmlformats.org/officeDocument/2006/relationships/notesMaster" Target="/ppt/notesMasters/notesMaster1.xml" Id="R772ce03ba44a446b" /><Relationship Type="http://schemas.openxmlformats.org/officeDocument/2006/relationships/presProps" Target="/ppt/presProps.xml" Id="Rc180d07564d04bca" /><Relationship Type="http://schemas.openxmlformats.org/officeDocument/2006/relationships/tableStyles" Target="/ppt/tableStyles.xml" Id="Raa52b1db84144af0" /><Relationship Type="http://schemas.openxmlformats.org/officeDocument/2006/relationships/slide" Target="/ppt/slides/slide1.xml" Id="Ra7bcbe3873cf48ff" /><Relationship Type="http://schemas.openxmlformats.org/officeDocument/2006/relationships/slide" Target="/ppt/slides/slide2.xml" Id="R9c785f422d2240cd" /><Relationship Type="http://schemas.openxmlformats.org/officeDocument/2006/relationships/slide" Target="/ppt/slides/slide3.xml" Id="R3e2604ab521d45c4" /><Relationship Type="http://schemas.openxmlformats.org/officeDocument/2006/relationships/slide" Target="/ppt/slides/slide4.xml" Id="Rc3641e7322364f1e" /><Relationship Type="http://schemas.openxmlformats.org/officeDocument/2006/relationships/slide" Target="/ppt/slides/slide5.xml" Id="R0e53958ffdc84263" /><Relationship Type="http://schemas.openxmlformats.org/officeDocument/2006/relationships/slide" Target="/ppt/slides/slide6.xml" Id="R2203c02bf4434289" /><Relationship Type="http://schemas.openxmlformats.org/officeDocument/2006/relationships/slide" Target="/ppt/slides/slide7.xml" Id="R5188b31f1b6847b7" /><Relationship Type="http://schemas.openxmlformats.org/officeDocument/2006/relationships/slide" Target="/ppt/slides/slide8.xml" Id="R3d844ca62923464b" /><Relationship Type="http://schemas.openxmlformats.org/officeDocument/2006/relationships/slide" Target="/ppt/slides/slide9.xml" Id="R1ccf0fb36bb24d32" /><Relationship Type="http://schemas.openxmlformats.org/officeDocument/2006/relationships/slide" Target="/ppt/slides/slide10.xml" Id="R5cb98b0ef722402d" /><Relationship Type="http://schemas.openxmlformats.org/officeDocument/2006/relationships/slide" Target="/ppt/slides/slide11.xml" Id="R10e098c4789f489c" /><Relationship Type="http://schemas.openxmlformats.org/officeDocument/2006/relationships/slide" Target="/ppt/slides/slide12.xml" Id="R3c20177853e74fdb" /><Relationship Type="http://schemas.openxmlformats.org/officeDocument/2006/relationships/slide" Target="/ppt/slides/slide13.xml" Id="R01735856be1048ea" /><Relationship Type="http://schemas.openxmlformats.org/officeDocument/2006/relationships/slide" Target="/ppt/slides/slide14.xml" Id="Race25002089a48bf" /><Relationship Type="http://schemas.openxmlformats.org/officeDocument/2006/relationships/slide" Target="/ppt/slides/slide15.xml" Id="R031d452c39ba4723" /><Relationship Type="http://schemas.openxmlformats.org/officeDocument/2006/relationships/slide" Target="/ppt/slides/slide16.xml" Id="R2bacc72a56f44b4c" /><Relationship Type="http://schemas.openxmlformats.org/officeDocument/2006/relationships/slide" Target="/ppt/slides/slide17.xml" Id="R1fc8895513b841ea" /><Relationship Type="http://schemas.openxmlformats.org/officeDocument/2006/relationships/slide" Target="/ppt/slides/slide18.xml" Id="Refa80e35d49249e6" /><Relationship Type="http://schemas.openxmlformats.org/officeDocument/2006/relationships/slide" Target="/ppt/slides/slide19.xml" Id="Rf59087923e2e4496" /><Relationship Type="http://schemas.openxmlformats.org/officeDocument/2006/relationships/slide" Target="/ppt/slides/slide20.xml" Id="Rdef9de1983584c0b" /><Relationship Type="http://schemas.openxmlformats.org/officeDocument/2006/relationships/slide" Target="/ppt/slides/slide21.xml" Id="R274c709c08e14cac" /><Relationship Type="http://schemas.openxmlformats.org/officeDocument/2006/relationships/slide" Target="/ppt/slides/slide22.xml" Id="Rc6d4e57868ce460f" /><Relationship Type="http://schemas.openxmlformats.org/officeDocument/2006/relationships/slide" Target="/ppt/slides/slide23.xml" Id="R67c72004cf16421c" /><Relationship Type="http://schemas.openxmlformats.org/officeDocument/2006/relationships/slide" Target="/ppt/slides/slide24.xml" Id="R4604764df41d4765" /><Relationship Type="http://schemas.openxmlformats.org/officeDocument/2006/relationships/slide" Target="/ppt/slides/slide25.xml" Id="Rb8b97f205f044130" /><Relationship Type="http://schemas.openxmlformats.org/officeDocument/2006/relationships/slide" Target="/ppt/slides/slide26.xml" Id="R1b463a12bc3b4f19" /><Relationship Type="http://schemas.openxmlformats.org/officeDocument/2006/relationships/slide" Target="/ppt/slides/slide27.xml" Id="R52e5d521ad474f4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1b83089189345a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10a302b72d7436b" /><Relationship Type="http://schemas.openxmlformats.org/officeDocument/2006/relationships/notesMaster" Target="/ppt/notesMasters/notesMaster1.xml" Id="Rcd1175dc0808407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473c86dce7f4d2b" /><Relationship Type="http://schemas.openxmlformats.org/officeDocument/2006/relationships/notesMaster" Target="/ppt/notesMasters/notesMaster1.xml" Id="R761ec5b2d04b42b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f7351bec63945ef" /><Relationship Type="http://schemas.openxmlformats.org/officeDocument/2006/relationships/notesMaster" Target="/ppt/notesMasters/notesMaster1.xml" Id="R2568eba5bd9a47f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91096ae16994a76" /><Relationship Type="http://schemas.openxmlformats.org/officeDocument/2006/relationships/notesMaster" Target="/ppt/notesMasters/notesMaster1.xml" Id="R9562854c40b044e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500dce71cca483c" /><Relationship Type="http://schemas.openxmlformats.org/officeDocument/2006/relationships/notesMaster" Target="/ppt/notesMasters/notesMaster1.xml" Id="Rd4a62590961d460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5a3f24859134a71" /><Relationship Type="http://schemas.openxmlformats.org/officeDocument/2006/relationships/notesMaster" Target="/ppt/notesMasters/notesMaster1.xml" Id="R3cef9f5a7c02466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047422cf146464d" /><Relationship Type="http://schemas.openxmlformats.org/officeDocument/2006/relationships/notesMaster" Target="/ppt/notesMasters/notesMaster1.xml" Id="R23ccd83f6dd64dd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49d2cc743034132" /><Relationship Type="http://schemas.openxmlformats.org/officeDocument/2006/relationships/notesMaster" Target="/ppt/notesMasters/notesMaster1.xml" Id="R59b7a943cbce434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ba422b27c1a4ca7" /><Relationship Type="http://schemas.openxmlformats.org/officeDocument/2006/relationships/notesMaster" Target="/ppt/notesMasters/notesMaster1.xml" Id="R3f421864f62b42a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b0254c1194d4026" /><Relationship Type="http://schemas.openxmlformats.org/officeDocument/2006/relationships/notesMaster" Target="/ppt/notesMasters/notesMaster1.xml" Id="R1562e195838b492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d04ad103f4e4567" /><Relationship Type="http://schemas.openxmlformats.org/officeDocument/2006/relationships/notesMaster" Target="/ppt/notesMasters/notesMaster1.xml" Id="R30b666e26ed245b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df8804e81fa431b" /><Relationship Type="http://schemas.openxmlformats.org/officeDocument/2006/relationships/notesMaster" Target="/ppt/notesMasters/notesMaster1.xml" Id="R1e8fc05055794de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f24e333cb6140f4" /><Relationship Type="http://schemas.openxmlformats.org/officeDocument/2006/relationships/notesMaster" Target="/ppt/notesMasters/notesMaster1.xml" Id="Rf9abef8cac87438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2300318e0e742ee" /><Relationship Type="http://schemas.openxmlformats.org/officeDocument/2006/relationships/notesMaster" Target="/ppt/notesMasters/notesMaster1.xml" Id="R26a8000ea5634bf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c34a28a71b44e3f" /><Relationship Type="http://schemas.openxmlformats.org/officeDocument/2006/relationships/notesMaster" Target="/ppt/notesMasters/notesMaster1.xml" Id="R85f767843c2944a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1f20f6916ac64b31" /><Relationship Type="http://schemas.openxmlformats.org/officeDocument/2006/relationships/notesMaster" Target="/ppt/notesMasters/notesMaster1.xml" Id="R11c4cc970ff84d6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b039a4511211414c" /><Relationship Type="http://schemas.openxmlformats.org/officeDocument/2006/relationships/notesMaster" Target="/ppt/notesMasters/notesMaster1.xml" Id="R968fec06ce0641c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14ddf2459464f2c" /><Relationship Type="http://schemas.openxmlformats.org/officeDocument/2006/relationships/notesMaster" Target="/ppt/notesMasters/notesMaster1.xml" Id="R5eade2001bc649c9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adbde9f0a6b479a" /><Relationship Type="http://schemas.openxmlformats.org/officeDocument/2006/relationships/notesMaster" Target="/ppt/notesMasters/notesMaster1.xml" Id="Rc31e0b71bd004fa4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695a385f88d1471a" /><Relationship Type="http://schemas.openxmlformats.org/officeDocument/2006/relationships/notesMaster" Target="/ppt/notesMasters/notesMaster1.xml" Id="R3a97752c52ab435f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5740cd1917024cba" /><Relationship Type="http://schemas.openxmlformats.org/officeDocument/2006/relationships/notesMaster" Target="/ppt/notesMasters/notesMaster1.xml" Id="R3792666cd2ec42c1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5e8a4060f0804462" /><Relationship Type="http://schemas.openxmlformats.org/officeDocument/2006/relationships/notesMaster" Target="/ppt/notesMasters/notesMaster1.xml" Id="Rf5ee263c8d074efd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64a32aeec78b4ce8" /><Relationship Type="http://schemas.openxmlformats.org/officeDocument/2006/relationships/notesMaster" Target="/ppt/notesMasters/notesMaster1.xml" Id="Rb7f0a9776034451b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18ea25a4124b4960" /><Relationship Type="http://schemas.openxmlformats.org/officeDocument/2006/relationships/notesMaster" Target="/ppt/notesMasters/notesMaster1.xml" Id="R3fef97fd3fb246da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9a632e5fa5904dc8" /><Relationship Type="http://schemas.openxmlformats.org/officeDocument/2006/relationships/notesMaster" Target="/ppt/notesMasters/notesMaster1.xml" Id="R09a1aaf0e9ad458a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69fed791b984498e" /><Relationship Type="http://schemas.openxmlformats.org/officeDocument/2006/relationships/notesMaster" Target="/ppt/notesMasters/notesMaster1.xml" Id="Rc5147a3486d54ff0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cb6ba0cf7e8a459e" /><Relationship Type="http://schemas.openxmlformats.org/officeDocument/2006/relationships/notesMaster" Target="/ppt/notesMasters/notesMaster1.xml" Id="R331b2460e6e34c6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https://davidchivers.co.uk/teaching/macro-applications/lecture_4.html#/title-slide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Economics of Brexit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 4: Migration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Dr David Chivers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Macroeconomic Applications and Policy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https://davidchivers.co.uk/teaching/macro-applications/lecture_4.html#/l4-s02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Context</a:t>
            </a:r>
          </a:p>
          <a:p xmlns:a="http://schemas.openxmlformats.org/drawingml/2006/main">
            <a:r>
              <a:t>“Free movement of workers is a fundamental principle” … “enshrined in Article 45 of the Treaty on the Functioning of the European Union and developed by EU secondary legislation”.</a:t>
            </a:r>
          </a:p>
          <a:p xmlns:a="http://schemas.openxmlformats.org/drawingml/2006/main">
            <a:r>
              <a:t>“Free movement of workers also applies, in general terms, to the countries in the European Economic Area: Iceland, Liechtenstein and Norway”.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European Commission: free movement of workers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http://ec.europa.eu/social/main.jsp?catId=457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https://davidchivers.co.uk/teaching/macro-applications/lecture_4.html#/l4-s03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Brexit and free movement of people</a:t>
            </a:r>
          </a:p>
          <a:p xmlns:a="http://schemas.openxmlformats.org/drawingml/2006/main">
            <a:r>
              <a:t>Theresa May · 2 October 2016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“I want it to give British companies the maximum freedom to trade with and operate in the Single Market – and let European businesses do the same here.”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“But let me be clear. We are not leaving the European Union only to give up control of immigration again.”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Angela Merkel · 6 October 2016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“Brexit negotiations won’t be easy. If we don’t say full access to the internal market is linked to full freedom of movement, then a movement will spread in Europe where everyone just does whatever they want.”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http://www.independent.co.uk/news/uk/politics/theresa-may-hard-brexit-soft-article-free-movement-deal-single-market-access-a7341886.html</a:t>
            </a:r>
          </a:p>
          <a:p xmlns:a="http://schemas.openxmlformats.org/drawingml/2006/main">
            <a:r>
              <a:t>http://www.bbc.co.uk/news/world-europe-37632305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https://davidchivers.co.uk/teaching/macro-applications/lecture_4.html#/l4-s04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Learning objectives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After this topic, you will be able to: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Discuss the evidence on the migration flows in Europe.</a:t>
            </a:r>
          </a:p>
          <a:p xmlns:a="http://schemas.openxmlformats.org/drawingml/2006/main">
            <a:r>
              <a:t>Analyse the economic effects of migration.</a:t>
            </a:r>
          </a:p>
          <a:p xmlns:a="http://schemas.openxmlformats.org/drawingml/2006/main">
            <a:r>
              <a:t>direct effects (wages, unemployment)</a:t>
            </a:r>
          </a:p>
          <a:p xmlns:a="http://schemas.openxmlformats.org/drawingml/2006/main">
            <a:r>
              <a:t>indirect effects (welfare state, innovation)</a:t>
            </a:r>
          </a:p>
          <a:p xmlns:a="http://schemas.openxmlformats.org/drawingml/2006/main">
            <a:r>
              <a:t>Analyse the effects of free trade in goods and services on domestic labour markets (e.g. wages, unemployment).</a:t>
            </a:r>
          </a:p>
          <a:p xmlns:a="http://schemas.openxmlformats.org/drawingml/2006/main">
            <a:r>
              <a:t>Analyse the interplay between free mobility of goods and people.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https://davidchivers.co.uk/teaching/macro-applications/lecture_4.html#/l4-s05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EU enlargement towards the East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OECD (2012)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OECD bar chart showing the stock of EU8 and EU2 nationals in EU15 countries increasing from the late 1990s to 2010, with faster growth after the 2004 enlargement.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https://davidchivers.co.uk/teaching/macro-applications/lecture_4.html#/l4-s06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Behind the migration flows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OECD (2012)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OECD scatter plot relating post-accession emigration rates to relative GDP per capita for accession countries. The points show the cross-country relationship rather than a causal estimate.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https://davidchivers.co.uk/teaching/macro-applications/lecture_4.html#/l4-s07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Intra-EU labour mobility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OECD (2012)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OECD bars showing EU immigrants living in EU15 countries as a percentage of the working-age population in 2009, separating EU12 from other EU15 origins.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https://davidchivers.co.uk/teaching/macro-applications/lecture_4.html#/l4-s08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EU and the rest of the world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Net migration rates in EU27 countries for 1998 and 2009. Countries differ in sign and magnitude; Luxembourg has a particularly high positive rate.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Immigration in the UK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OECD, International migration database and other data. Own calculations.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Line chart showing the stock of foreign population in the UK as a share of working-age population, rising from roughly 4 percent in 2003 to more than 7 percent in 2013.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Immigration in the UK: by country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Stock of foreign nationals in the UK as a percentage of the working-age population, by country, 2003–2013. Source: OECD International Migration Database and other data. Own calculations.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UK foreign-national population shares by origin, 2003 to 2013. Polish nationals show the largest increase; German, Portuguese, Irish and Indian series are also shown.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https://davidchivers.co.uk/teaching/macro-applications/lecture_4.html#/l4-s11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Facts</a:t>
            </a:r>
          </a:p>
          <a:p xmlns:a="http://schemas.openxmlformats.org/drawingml/2006/main">
            <a:r>
              <a:t>Data show that the migration from the EU12 to the EU15 accelerated after the 2004 enlargement.</a:t>
            </a:r>
          </a:p>
          <a:p xmlns:a="http://schemas.openxmlformats.org/drawingml/2006/main">
            <a:r>
              <a:t>The stock of foreign EU citizens as a percentage of the working population was less than 5% in most EU15 countries in 2009.</a:t>
            </a:r>
          </a:p>
          <a:p xmlns:a="http://schemas.openxmlformats.org/drawingml/2006/main">
            <a:r>
              <a:t>Although most countries in the EU experience positive net migration from the RoW, net migration rates are less than 0.8% in all EU15 countries (Luxembourg is an exception).</a:t>
            </a:r>
          </a:p>
          <a:p xmlns:a="http://schemas.openxmlformats.org/drawingml/2006/main">
            <a:r>
              <a:t>In the UK, immigration has risen over time.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https://davidchivers.co.uk/teaching/macro-applications/lecture_4.html#/l4-s12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Migration with flexible wages</a:t>
            </a:r>
          </a:p>
          <a:p xmlns:a="http://schemas.openxmlformats.org/drawingml/2006/main">
            <a:r>
              <a:t>Two countries</a:t>
            </a:r>
          </a:p>
          <a:p xmlns:a="http://schemas.openxmlformats.org/drawingml/2006/main">
            <a:r>
              <a:t>Two factors of production (capital and labour).</a:t>
            </a:r>
          </a:p>
          <a:p xmlns:a="http://schemas.openxmlformats.org/drawingml/2006/main">
            <a:r>
              <a:t>Capital cannot be adjusted.</a:t>
            </a:r>
          </a:p>
          <a:p xmlns:a="http://schemas.openxmlformats.org/drawingml/2006/main">
            <a:r>
              <a:t>Labour supply is perfectly inelastic.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Countries have different wages to start with: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Heterogeneous productivities</a:t>
            </a:r>
          </a:p>
          <a:p xmlns:a="http://schemas.openxmlformats.org/drawingml/2006/main">
            <a:r>
              <a:t>Heterogeneous country size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https://davidchivers.co.uk/teaching/macro-applications/lecture_4.html#/l4-s13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Closed economies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Two-country labour allocation with fixed capital. Marginal product of labour falls as employment rises in each country. Initially the high-wage country has wage w and the low-wage country wage w star.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https://davidchivers.co.uk/teaching/macro-applications/lecture_4.html#/l4-s14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Migration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Migration reallocates labour from the low-wage country to the high-wage country. Employment moves from L to L prime, lowering the high wage and raising the low wage towards a common wage.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https://davidchivers.co.uk/teaching/macro-applications/lecture_4.html#/l4-s15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Division of income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Division of income under the marginal-product curve. The wage times employment rectangle goes to labour; the area above the wage and below marginal product goes to capital.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https://davidchivers.co.uk/teaching/macro-applications/lecture_4.html#/l4-s16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Welfare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Two-country migration welfare diagram with areas A to J. The high-wage country’s net gain is C and the low-wage country’s net gain is D, although workers and capital owners are affected differently.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https://davidchivers.co.uk/teaching/macro-applications/lecture_4.html#/l4-s17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Welfare</a:t>
            </a:r>
          </a:p>
          <a:p xmlns:a="http://schemas.openxmlformats.org/drawingml/2006/main">
            <a:r>
              <a:t>In the high-wage (low-wage) country, domestic workers lose (gain) while capitalists gain (lose).</a:t>
            </a:r>
          </a:p>
          <a:p xmlns:a="http://schemas.openxmlformats.org/drawingml/2006/main">
            <a:r>
              <a:t>Manacorda et al. (2012) have empirically shown that migration had no significant effect on the wages of UK natives.</a:t>
            </a:r>
          </a:p>
          <a:p xmlns:a="http://schemas.openxmlformats.org/drawingml/2006/main">
            <a:r>
              <a:t>However, both countries gain from migration overall.</a:t>
            </a:r>
          </a:p>
          <a:p xmlns:a="http://schemas.openxmlformats.org/drawingml/2006/main">
            <a:r>
              <a:t>Governments can address the uneven effects of migration using side payments.</a:t>
            </a:r>
          </a:p>
          <a:p xmlns:a="http://schemas.openxmlformats.org/drawingml/2006/main">
            <a:r>
              <a:t>If migrants to the high-wage country are fiscal residents there, they will pay their taxes to the local government.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https://davidchivers.co.uk/teaching/macro-applications/lecture_4.html#/l4-s18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Skilled and unskilled migration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What about “skilled” and “unskilled” immigration?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https://davidchivers.co.uk/teaching/macro-applications/lecture_4.html#/l4-s19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Heckscher-Ohlin theory of international trade</a:t>
            </a:r>
          </a:p>
          <a:p xmlns:a="http://schemas.openxmlformats.org/drawingml/2006/main">
            <a:r>
              <a:t>Countries specialise in the sector that is intensive in the abundant factor (partial specialisation).</a:t>
            </a:r>
          </a:p>
          <a:p xmlns:a="http://schemas.openxmlformats.org/drawingml/2006/main">
            <a:r>
              <a:t>The skilled-abundant country specialises in the skilled-intensive sector.</a:t>
            </a:r>
          </a:p>
          <a:p xmlns:a="http://schemas.openxmlformats.org/drawingml/2006/main">
            <a:r>
              <a:t>The unskilled-abundant country specialises in the unskilled-intensive sector.</a:t>
            </a:r>
          </a:p>
          <a:p xmlns:a="http://schemas.openxmlformats.org/drawingml/2006/main">
            <a:r>
              <a:t>This has an impact on the countries’ labour markets.</a:t>
            </a:r>
          </a:p>
          <a:p xmlns:a="http://schemas.openxmlformats.org/drawingml/2006/main">
            <a:r>
              <a:t>The demand for skilled (unskilled) workers in the skilled-abundant country increases (decreases).</a:t>
            </a:r>
          </a:p>
          <a:p xmlns:a="http://schemas.openxmlformats.org/drawingml/2006/main">
            <a:r>
              <a:t>The demand for unskilled (skilled) workers in the unskilled-abundant country increases (decreases).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https://davidchivers.co.uk/teaching/macro-applications/lecture_4.html#/l4-s20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Migration under free trade</a:t>
            </a:r>
          </a:p>
          <a:p xmlns:a="http://schemas.openxmlformats.org/drawingml/2006/main">
            <a:r>
              <a:t>Migration offsets some of the effects of international trade.</a:t>
            </a:r>
          </a:p>
          <a:p xmlns:a="http://schemas.openxmlformats.org/drawingml/2006/main">
            <a:r>
              <a:t>Unskilled workers in the skilled-abundant country could move to the other country where the wage is higher, reducing unemployment at home.</a:t>
            </a:r>
          </a:p>
          <a:p xmlns:a="http://schemas.openxmlformats.org/drawingml/2006/main">
            <a:r>
              <a:t>Skilled workers in the unskilled-abundant country could move to the other country to offset the negative impact of trade on their wage.</a:t>
            </a:r>
          </a:p>
          <a:p xmlns:a="http://schemas.openxmlformats.org/drawingml/2006/main">
            <a:r>
              <a:t>The effects of international trade on unemployment depend on the model’s assumptions (Ricardian vs. Heckscher-Ohlin).</a:t>
            </a:r>
          </a:p>
          <a:p xmlns:a="http://schemas.openxmlformats.org/drawingml/2006/main">
            <a:r>
              <a:t>Empirically, Dutt et al. (2009) show that trade openness and unemployment are negatively related in the long run.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https://davidchivers.co.uk/teaching/macro-applications/lecture_4.html#/l4-s21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Migration</a:t>
            </a:r>
          </a:p>
          <a:p xmlns:a="http://schemas.openxmlformats.org/drawingml/2006/main">
            <a:r>
              <a:t>Key question: are migration rates in EU too small or too big?</a:t>
            </a:r>
          </a:p>
          <a:p xmlns:a="http://schemas.openxmlformats.org/drawingml/2006/main">
            <a:r>
              <a:t>Answer: if labour markets are sufficiently open, then wage differentials should be neutralised.</a:t>
            </a:r>
          </a:p>
          <a:p xmlns:a="http://schemas.openxmlformats.org/drawingml/2006/main">
            <a:r>
              <a:t>Have wages converged across Europe?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https://davidchivers.co.uk/teaching/macro-applications/lecture_4.html#/l4-s22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Wage differentials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Eurostat. Gross annual earnings in euros, before income tax and employee social security contributions. Full-time employees in enterprises with more than 10 employees. Years: 2009 and 2011.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Eurostat chart comparing average gross annual earnings in industry and services across European countries in 2009 and 2011. Substantial cross-country wage differences remain.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https://davidchivers.co.uk/teaching/macro-applications/lecture_4.html#/l4-s23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Barriers to intra-EU labour mobility</a:t>
            </a:r>
          </a:p>
          <a:p xmlns:a="http://schemas.openxmlformats.org/drawingml/2006/main">
            <a:r>
              <a:t>Lack of pension transferability.</a:t>
            </a:r>
          </a:p>
          <a:p xmlns:a="http://schemas.openxmlformats.org/drawingml/2006/main">
            <a:r>
              <a:t>Cross-country information about job vacancies remains scarce.</a:t>
            </a:r>
          </a:p>
          <a:p xmlns:a="http://schemas.openxmlformats.org/drawingml/2006/main">
            <a:r>
              <a:t>Recognition of professional qualifications is problematic.</a:t>
            </a:r>
          </a:p>
          <a:p xmlns:a="http://schemas.openxmlformats.org/drawingml/2006/main">
            <a:r>
              <a:t>Public sector jobs are mostly closed to non-nationals.</a:t>
            </a:r>
          </a:p>
          <a:p xmlns:a="http://schemas.openxmlformats.org/drawingml/2006/main">
            <a:r>
              <a:t>Housing market policies.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OECD (2012)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https://davidchivers.co.uk/teaching/macro-applications/lecture_4.html#/l4-s24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Summing up the theory</a:t>
            </a:r>
          </a:p>
          <a:p xmlns:a="http://schemas.openxmlformats.org/drawingml/2006/main">
            <a:r>
              <a:t>Migration implies a net increase in welfare for all the countries involved, although governments would need to compensate workers (capitalists) in high-wage (low-wage) countries.</a:t>
            </a:r>
          </a:p>
          <a:p xmlns:a="http://schemas.openxmlformats.org/drawingml/2006/main">
            <a:r>
              <a:t>Wage differentials in the EU are big as the costs of migrating are high due to institutional differences across countries.</a:t>
            </a:r>
          </a:p>
          <a:p xmlns:a="http://schemas.openxmlformats.org/drawingml/2006/main">
            <a:r>
              <a:t>There is no evidence of a negative impact of migration on wages in the UK.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https://davidchivers.co.uk/teaching/macro-applications/lecture_4.html#/l4-s25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Summing up the evidence</a:t>
            </a:r>
          </a:p>
          <a:p xmlns:a="http://schemas.openxmlformats.org/drawingml/2006/main">
            <a:r>
              <a:t>Empirical evidence suggests that international trade is associated with lower overall unemployment in countries.</a:t>
            </a:r>
          </a:p>
          <a:p xmlns:a="http://schemas.openxmlformats.org/drawingml/2006/main">
            <a:r>
              <a:t>There is little evidence on the impact of migration on unemployment.</a:t>
            </a:r>
          </a:p>
          <a:p xmlns:a="http://schemas.openxmlformats.org/drawingml/2006/main">
            <a:r>
              <a:t>In seminar 2, we will talk about the indirect effects of migration (welfare state and innovation).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https://davidchivers.co.uk/teaching/macro-applications/lecture_4.html#/l4-s26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Essential reading</a:t>
            </a:r>
          </a:p>
          <a:p xmlns:a="http://schemas.openxmlformats.org/drawingml/2006/main">
            <a:r>
              <a:t>Baldwin R., Wyplosz C. (2019), Chapter 8.</a:t>
            </a:r>
          </a:p>
          <a:p xmlns:a="http://schemas.openxmlformats.org/drawingml/2006/main">
            <a:r>
              <a:t>Bosetti V., Cattaneo C., Verdolini E. (2015), Migration of skilled workers and innovation: A European Perspective, Journal of International Economics, 96, 311-322.</a:t>
            </a:r>
          </a:p>
          <a:p xmlns:a="http://schemas.openxmlformats.org/drawingml/2006/main">
            <a:r>
              <a:t>Dustmann C., Frattini T., Halls C. (2010), Assessing the Fiscal Costs and Benefits of A8 Migration to the UK, Fiscal Studies, 31 (1), pp. 1-41.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https://davidchivers.co.uk/teaching/macro-applications/lecture_4.html#/l4-s27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Additional references</a:t>
            </a:r>
          </a:p>
          <a:p xmlns:a="http://schemas.openxmlformats.org/drawingml/2006/main">
            <a:r>
              <a:t>Additional references</a:t>
            </a:r>
          </a:p>
          <a:p xmlns:a="http://schemas.openxmlformats.org/drawingml/2006/main">
            <a:r>
              <a:t>Dutta P., Mitra D., Ranjian P. (2009) International trade and unemployment: Theory and cross-national evidence, Journal of International Economics, 78, 32-44.</a:t>
            </a:r>
          </a:p>
          <a:p xmlns:a="http://schemas.openxmlformats.org/drawingml/2006/main">
            <a:r>
              <a:t>Manacorda M., Manning A., Wadsworth J. (2012), The impact of immigration on the structure of wages: theory and evidence from Britain, Journal of the European Economic Association, 10 (1), 152–197.</a:t>
            </a:r>
          </a:p>
          <a:p xmlns:a="http://schemas.openxmlformats.org/drawingml/2006/main">
            <a:r>
              <a:t>OECD (2012), Mobility and migration in Europe, in OECD Economic Surveys: European Union 2012, OECD Publishing.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79fe763d2b428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06165b2012249eb" /><Relationship Type="http://schemas.openxmlformats.org/officeDocument/2006/relationships/slideLayout" Target="/ppt/slideLayouts/slideLayout1.xml" Id="Rba86dfd3e827463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a86dfd3e827463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668c5c8747473a" /><Relationship Type="http://schemas.openxmlformats.org/officeDocument/2006/relationships/image" Target="/ppt/media/image.jpeg" Id="R5d15618b7e034905" /><Relationship Type="http://schemas.openxmlformats.org/officeDocument/2006/relationships/notesSlide" Target="/ppt/notesSlides/notesSlide1.xml" Id="Rff6e9f28ed2a478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001aad43bf4c97" /><Relationship Type="http://schemas.openxmlformats.org/officeDocument/2006/relationships/image" Target="/ppt/media/image2.jpeg" Id="R12929dacdf414d9d" /><Relationship Type="http://schemas.openxmlformats.org/officeDocument/2006/relationships/notesSlide" Target="/ppt/notesSlides/notesSlide2.xml" Id="R08071ddd8b3c4d3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cb82432e24402c" /><Relationship Type="http://schemas.openxmlformats.org/officeDocument/2006/relationships/image" Target="/ppt/media/image3.jpeg" Id="R71a9d68828224c39" /><Relationship Type="http://schemas.openxmlformats.org/officeDocument/2006/relationships/notesSlide" Target="/ppt/notesSlides/notesSlide3.xml" Id="R93532226ff14411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61a15f55d44c27" /><Relationship Type="http://schemas.openxmlformats.org/officeDocument/2006/relationships/image" Target="/ppt/media/image4.jpeg" Id="R4552aa1393824036" /><Relationship Type="http://schemas.openxmlformats.org/officeDocument/2006/relationships/notesSlide" Target="/ppt/notesSlides/notesSlide4.xml" Id="Ra0394b79cede4ae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a06791a7e74f86" /><Relationship Type="http://schemas.openxmlformats.org/officeDocument/2006/relationships/image" Target="/ppt/media/image5.jpeg" Id="R77caad9463eb4227" /><Relationship Type="http://schemas.openxmlformats.org/officeDocument/2006/relationships/notesSlide" Target="/ppt/notesSlides/notesSlide5.xml" Id="R4a984442111943f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29c57e83ee47d6" /><Relationship Type="http://schemas.openxmlformats.org/officeDocument/2006/relationships/image" Target="/ppt/media/image6.jpeg" Id="R171a4dd62ea04982" /><Relationship Type="http://schemas.openxmlformats.org/officeDocument/2006/relationships/notesSlide" Target="/ppt/notesSlides/notesSlide6.xml" Id="R465dc211964f4ee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688c3729ae4991" /><Relationship Type="http://schemas.openxmlformats.org/officeDocument/2006/relationships/image" Target="/ppt/media/image7.jpeg" Id="Rf208091efc1b442a" /><Relationship Type="http://schemas.openxmlformats.org/officeDocument/2006/relationships/notesSlide" Target="/ppt/notesSlides/notesSlide7.xml" Id="R80b4ff4a081f4f7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ee86e98f8c468e" /><Relationship Type="http://schemas.openxmlformats.org/officeDocument/2006/relationships/image" Target="/ppt/media/image8.jpeg" Id="R29a6ba66a23c490a" /><Relationship Type="http://schemas.openxmlformats.org/officeDocument/2006/relationships/notesSlide" Target="/ppt/notesSlides/notesSlide8.xml" Id="R51ec21a9f7ae428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903baf31854386" /><Relationship Type="http://schemas.openxmlformats.org/officeDocument/2006/relationships/image" Target="/ppt/media/image9.jpeg" Id="R2d5dd05ac859461c" /><Relationship Type="http://schemas.openxmlformats.org/officeDocument/2006/relationships/notesSlide" Target="/ppt/notesSlides/notesSlide9.xml" Id="R7c5cabede24d4d6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20acca10034d0f" /><Relationship Type="http://schemas.openxmlformats.org/officeDocument/2006/relationships/image" Target="/ppt/media/image10.jpeg" Id="R977e092a47e64f24" /><Relationship Type="http://schemas.openxmlformats.org/officeDocument/2006/relationships/notesSlide" Target="/ppt/notesSlides/notesSlide10.xml" Id="R438c1dae114c4ee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aff83aa3714712" /><Relationship Type="http://schemas.openxmlformats.org/officeDocument/2006/relationships/image" Target="/ppt/media/image11.jpeg" Id="Rb78ad248229f4463" /><Relationship Type="http://schemas.openxmlformats.org/officeDocument/2006/relationships/notesSlide" Target="/ppt/notesSlides/notesSlide11.xml" Id="Rd70e2417e50c433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07353a7ba942f2" /><Relationship Type="http://schemas.openxmlformats.org/officeDocument/2006/relationships/image" Target="/ppt/media/image12.jpeg" Id="R6758b3a464914b9d" /><Relationship Type="http://schemas.openxmlformats.org/officeDocument/2006/relationships/notesSlide" Target="/ppt/notesSlides/notesSlide12.xml" Id="Re557e51da32b47e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9eef21a0074b03" /><Relationship Type="http://schemas.openxmlformats.org/officeDocument/2006/relationships/image" Target="/ppt/media/image13.jpeg" Id="Re43db9d49aeb444a" /><Relationship Type="http://schemas.openxmlformats.org/officeDocument/2006/relationships/notesSlide" Target="/ppt/notesSlides/notesSlide13.xml" Id="Raf956ca2af3e4aa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9d25869da04dc3" /><Relationship Type="http://schemas.openxmlformats.org/officeDocument/2006/relationships/image" Target="/ppt/media/image14.jpeg" Id="Rb9c74d286d3e42fd" /><Relationship Type="http://schemas.openxmlformats.org/officeDocument/2006/relationships/notesSlide" Target="/ppt/notesSlides/notesSlide14.xml" Id="R0c75ee26f824412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84467bd3014080" /><Relationship Type="http://schemas.openxmlformats.org/officeDocument/2006/relationships/image" Target="/ppt/media/image15.jpeg" Id="Rb462ff0afebb4319" /><Relationship Type="http://schemas.openxmlformats.org/officeDocument/2006/relationships/notesSlide" Target="/ppt/notesSlides/notesSlide15.xml" Id="R237825c1e5fd4ed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07090670554f3d" /><Relationship Type="http://schemas.openxmlformats.org/officeDocument/2006/relationships/image" Target="/ppt/media/image16.jpeg" Id="R783eae417ed148cb" /><Relationship Type="http://schemas.openxmlformats.org/officeDocument/2006/relationships/notesSlide" Target="/ppt/notesSlides/notesSlide16.xml" Id="Rd79b36a5e3504a99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0083ffafef4b17" /><Relationship Type="http://schemas.openxmlformats.org/officeDocument/2006/relationships/image" Target="/ppt/media/image17.jpeg" Id="Rd3d69f5583544322" /><Relationship Type="http://schemas.openxmlformats.org/officeDocument/2006/relationships/notesSlide" Target="/ppt/notesSlides/notesSlide17.xml" Id="Rd5bac98f9ee1420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824148d51843a4" /><Relationship Type="http://schemas.openxmlformats.org/officeDocument/2006/relationships/image" Target="/ppt/media/image18.jpeg" Id="Rc9aa5fc74dd04524" /><Relationship Type="http://schemas.openxmlformats.org/officeDocument/2006/relationships/notesSlide" Target="/ppt/notesSlides/notesSlide18.xml" Id="R82f7ba39e691453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295cb03f774e16" /><Relationship Type="http://schemas.openxmlformats.org/officeDocument/2006/relationships/image" Target="/ppt/media/image19.jpeg" Id="Rb0ba8dfe7b254530" /><Relationship Type="http://schemas.openxmlformats.org/officeDocument/2006/relationships/notesSlide" Target="/ppt/notesSlides/notesSlide19.xml" Id="Rd9e50c2058cb46dd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299df18bd049ad" /><Relationship Type="http://schemas.openxmlformats.org/officeDocument/2006/relationships/image" Target="/ppt/media/image20.jpeg" Id="Rf7b9b1bed27242dd" /><Relationship Type="http://schemas.openxmlformats.org/officeDocument/2006/relationships/notesSlide" Target="/ppt/notesSlides/notesSlide20.xml" Id="Rc395a9e9c2634467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922a02266a4b39" /><Relationship Type="http://schemas.openxmlformats.org/officeDocument/2006/relationships/image" Target="/ppt/media/image21.jpeg" Id="R0059f31d767e476a" /><Relationship Type="http://schemas.openxmlformats.org/officeDocument/2006/relationships/notesSlide" Target="/ppt/notesSlides/notesSlide21.xml" Id="R309498b27bfa4d01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a0b65b9fe34e2e" /><Relationship Type="http://schemas.openxmlformats.org/officeDocument/2006/relationships/image" Target="/ppt/media/image22.jpeg" Id="R881886dde9e1464c" /><Relationship Type="http://schemas.openxmlformats.org/officeDocument/2006/relationships/notesSlide" Target="/ppt/notesSlides/notesSlide22.xml" Id="R3cba61d50e0e4fe5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723e2563134cc9" /><Relationship Type="http://schemas.openxmlformats.org/officeDocument/2006/relationships/image" Target="/ppt/media/image23.jpeg" Id="Ra9a441e4c03540a2" /><Relationship Type="http://schemas.openxmlformats.org/officeDocument/2006/relationships/notesSlide" Target="/ppt/notesSlides/notesSlide23.xml" Id="Rf95fbdd3fe334452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2cf96aa2f14062" /><Relationship Type="http://schemas.openxmlformats.org/officeDocument/2006/relationships/image" Target="/ppt/media/image24.jpeg" Id="Rc8b4f0c118fe4633" /><Relationship Type="http://schemas.openxmlformats.org/officeDocument/2006/relationships/notesSlide" Target="/ppt/notesSlides/notesSlide24.xml" Id="R9638997b627c48b0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09f6ae002e4f69" /><Relationship Type="http://schemas.openxmlformats.org/officeDocument/2006/relationships/image" Target="/ppt/media/image25.jpeg" Id="Rdff071d115394686" /><Relationship Type="http://schemas.openxmlformats.org/officeDocument/2006/relationships/notesSlide" Target="/ppt/notesSlides/notesSlide25.xml" Id="Rbbe507806a1d449c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107eb245af4a32" /><Relationship Type="http://schemas.openxmlformats.org/officeDocument/2006/relationships/image" Target="/ppt/media/image26.jpeg" Id="R6e3fdbbb786444ce" /><Relationship Type="http://schemas.openxmlformats.org/officeDocument/2006/relationships/notesSlide" Target="/ppt/notesSlides/notesSlide26.xml" Id="R9bd9fb5abe6c4ee2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29fe03de554539" /><Relationship Type="http://schemas.openxmlformats.org/officeDocument/2006/relationships/image" Target="/ppt/media/image27.jpeg" Id="Rb222612d54b046ab" /><Relationship Type="http://schemas.openxmlformats.org/officeDocument/2006/relationships/notesSlide" Target="/ppt/notesSlides/notesSlide27.xml" Id="R5c8344dfcb1c446a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15618b7e034905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669899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929dacdf414d9d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21042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a9d68828224c39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503403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52aa1393824036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181024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caad9463eb4227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800477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1a4dd62ea04982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0166527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08091efc1b442a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173521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a6ba66a23c490a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22676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5dd05ac859461c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542952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7e092a47e64f24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215337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8ad248229f4463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013498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58b3a464914b9d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962780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3db9d49aeb444a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9873885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c74d286d3e42fd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1443424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62ff0afebb4319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600027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3eae417ed148cb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5895504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d69f5583544322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354455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aa5fc74dd04524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6922443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ba8dfe7b254530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645875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b9b1bed27242dd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7376872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59f31d767e476a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398432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1886dde9e1464c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5729755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a441e4c03540a2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7573393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b4f0c118fe4633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2901997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f071d115394686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194880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3fdbbb786444ce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045796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22612d54b046ab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754571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2026-10-05T09:23:15.0830000Z</dcterms:created>
  <dcterms:modified xsi:type="dcterms:W3CDTF">2026-10-05T09:23:15.0830000Z</dcterms:modified>
</coreProperties>
</file>