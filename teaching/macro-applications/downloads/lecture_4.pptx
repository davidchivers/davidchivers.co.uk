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a5268fea974361" /><Relationship Type="http://schemas.openxmlformats.org/officeDocument/2006/relationships/extended-properties" Target="/docProps/app.xml" Id="Rb1cfed2c88fa4269" /><Relationship Type="http://schemas.openxmlformats.org/officeDocument/2006/relationships/officeDocument" Target="/ppt/presentation.xml" Id="R0010d7eec93b49c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c30e9a190fd4249"/>
  </p:sldMasterIdLst>
  <p:notesMasterIdLst>
    <p:notesMasterId xmlns:r="http://schemas.openxmlformats.org/officeDocument/2006/relationships" r:id="R1c79527fe4d9439b"/>
  </p:notesMasterIdLst>
  <p:sldIdLst>
    <p:sldId xmlns:r="http://schemas.openxmlformats.org/officeDocument/2006/relationships" id="256" r:id="R64fa42d8036544b6"/>
    <p:sldId xmlns:r="http://schemas.openxmlformats.org/officeDocument/2006/relationships" id="257" r:id="R61e090178110438e"/>
    <p:sldId xmlns:r="http://schemas.openxmlformats.org/officeDocument/2006/relationships" id="258" r:id="R36cd072ed70146e6"/>
    <p:sldId xmlns:r="http://schemas.openxmlformats.org/officeDocument/2006/relationships" id="259" r:id="R547fa3768ee5411e"/>
    <p:sldId xmlns:r="http://schemas.openxmlformats.org/officeDocument/2006/relationships" id="260" r:id="R791d0c751cc74eaf"/>
    <p:sldId xmlns:r="http://schemas.openxmlformats.org/officeDocument/2006/relationships" id="261" r:id="R64ab5c7c92e44341"/>
    <p:sldId xmlns:r="http://schemas.openxmlformats.org/officeDocument/2006/relationships" id="262" r:id="Ra0267bad12da4acb"/>
    <p:sldId xmlns:r="http://schemas.openxmlformats.org/officeDocument/2006/relationships" id="263" r:id="R8dd754d6c2074d92"/>
    <p:sldId xmlns:r="http://schemas.openxmlformats.org/officeDocument/2006/relationships" id="264" r:id="Rd202b05f3cfd4370"/>
    <p:sldId xmlns:r="http://schemas.openxmlformats.org/officeDocument/2006/relationships" id="265" r:id="R38e4923b4c8c4a32"/>
    <p:sldId xmlns:r="http://schemas.openxmlformats.org/officeDocument/2006/relationships" id="266" r:id="Rce1a2c45e3d74d42"/>
    <p:sldId xmlns:r="http://schemas.openxmlformats.org/officeDocument/2006/relationships" id="267" r:id="Rd2a32e8fb9f34262"/>
    <p:sldId xmlns:r="http://schemas.openxmlformats.org/officeDocument/2006/relationships" id="268" r:id="R745a7e497023456a"/>
    <p:sldId xmlns:r="http://schemas.openxmlformats.org/officeDocument/2006/relationships" id="269" r:id="Rd8c1738de2d84d3f"/>
    <p:sldId xmlns:r="http://schemas.openxmlformats.org/officeDocument/2006/relationships" id="270" r:id="R723fcb59bc0b4478"/>
    <p:sldId xmlns:r="http://schemas.openxmlformats.org/officeDocument/2006/relationships" id="271" r:id="R64b09016419d444c"/>
    <p:sldId xmlns:r="http://schemas.openxmlformats.org/officeDocument/2006/relationships" id="272" r:id="R001bbdfc78fb4593"/>
    <p:sldId xmlns:r="http://schemas.openxmlformats.org/officeDocument/2006/relationships" id="273" r:id="R2376596866394c5d"/>
    <p:sldId xmlns:r="http://schemas.openxmlformats.org/officeDocument/2006/relationships" id="274" r:id="R650b02edb5cc4aa5"/>
    <p:sldId xmlns:r="http://schemas.openxmlformats.org/officeDocument/2006/relationships" id="275" r:id="R50277dcaffcd4ce7"/>
    <p:sldId xmlns:r="http://schemas.openxmlformats.org/officeDocument/2006/relationships" id="276" r:id="Reb64dfb9be164969"/>
    <p:sldId xmlns:r="http://schemas.openxmlformats.org/officeDocument/2006/relationships" id="277" r:id="R126442bb28eb4eba"/>
    <p:sldId xmlns:r="http://schemas.openxmlformats.org/officeDocument/2006/relationships" id="278" r:id="Rcfe61bd148714e7f"/>
    <p:sldId xmlns:r="http://schemas.openxmlformats.org/officeDocument/2006/relationships" id="279" r:id="R78da434c4b7d4073"/>
    <p:sldId xmlns:r="http://schemas.openxmlformats.org/officeDocument/2006/relationships" id="280" r:id="Rc3db238b7a7544a9"/>
    <p:sldId xmlns:r="http://schemas.openxmlformats.org/officeDocument/2006/relationships" id="281" r:id="R4c2a643ce8d3478b"/>
    <p:sldId xmlns:r="http://schemas.openxmlformats.org/officeDocument/2006/relationships" id="282" r:id="R96936f913363416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22dd235bc0487e" /><Relationship Type="http://schemas.openxmlformats.org/officeDocument/2006/relationships/slideMaster" Target="/ppt/slideMasters/slideMaster1.xml" Id="R4c30e9a190fd4249" /><Relationship Type="http://schemas.openxmlformats.org/officeDocument/2006/relationships/notesMaster" Target="/ppt/notesMasters/notesMaster1.xml" Id="R1c79527fe4d9439b" /><Relationship Type="http://schemas.openxmlformats.org/officeDocument/2006/relationships/presProps" Target="/ppt/presProps.xml" Id="R6764bd6de8c94a6f" /><Relationship Type="http://schemas.openxmlformats.org/officeDocument/2006/relationships/tableStyles" Target="/ppt/tableStyles.xml" Id="R41d73e6693c2417c" /><Relationship Type="http://schemas.openxmlformats.org/officeDocument/2006/relationships/slide" Target="/ppt/slides/slide1.xml" Id="R64fa42d8036544b6" /><Relationship Type="http://schemas.openxmlformats.org/officeDocument/2006/relationships/slide" Target="/ppt/slides/slide2.xml" Id="R61e090178110438e" /><Relationship Type="http://schemas.openxmlformats.org/officeDocument/2006/relationships/slide" Target="/ppt/slides/slide3.xml" Id="R36cd072ed70146e6" /><Relationship Type="http://schemas.openxmlformats.org/officeDocument/2006/relationships/slide" Target="/ppt/slides/slide4.xml" Id="R547fa3768ee5411e" /><Relationship Type="http://schemas.openxmlformats.org/officeDocument/2006/relationships/slide" Target="/ppt/slides/slide5.xml" Id="R791d0c751cc74eaf" /><Relationship Type="http://schemas.openxmlformats.org/officeDocument/2006/relationships/slide" Target="/ppt/slides/slide6.xml" Id="R64ab5c7c92e44341" /><Relationship Type="http://schemas.openxmlformats.org/officeDocument/2006/relationships/slide" Target="/ppt/slides/slide7.xml" Id="Ra0267bad12da4acb" /><Relationship Type="http://schemas.openxmlformats.org/officeDocument/2006/relationships/slide" Target="/ppt/slides/slide8.xml" Id="R8dd754d6c2074d92" /><Relationship Type="http://schemas.openxmlformats.org/officeDocument/2006/relationships/slide" Target="/ppt/slides/slide9.xml" Id="Rd202b05f3cfd4370" /><Relationship Type="http://schemas.openxmlformats.org/officeDocument/2006/relationships/slide" Target="/ppt/slides/slide10.xml" Id="R38e4923b4c8c4a32" /><Relationship Type="http://schemas.openxmlformats.org/officeDocument/2006/relationships/slide" Target="/ppt/slides/slide11.xml" Id="Rce1a2c45e3d74d42" /><Relationship Type="http://schemas.openxmlformats.org/officeDocument/2006/relationships/slide" Target="/ppt/slides/slide12.xml" Id="Rd2a32e8fb9f34262" /><Relationship Type="http://schemas.openxmlformats.org/officeDocument/2006/relationships/slide" Target="/ppt/slides/slide13.xml" Id="R745a7e497023456a" /><Relationship Type="http://schemas.openxmlformats.org/officeDocument/2006/relationships/slide" Target="/ppt/slides/slide14.xml" Id="Rd8c1738de2d84d3f" /><Relationship Type="http://schemas.openxmlformats.org/officeDocument/2006/relationships/slide" Target="/ppt/slides/slide15.xml" Id="R723fcb59bc0b4478" /><Relationship Type="http://schemas.openxmlformats.org/officeDocument/2006/relationships/slide" Target="/ppt/slides/slide16.xml" Id="R64b09016419d444c" /><Relationship Type="http://schemas.openxmlformats.org/officeDocument/2006/relationships/slide" Target="/ppt/slides/slide17.xml" Id="R001bbdfc78fb4593" /><Relationship Type="http://schemas.openxmlformats.org/officeDocument/2006/relationships/slide" Target="/ppt/slides/slide18.xml" Id="R2376596866394c5d" /><Relationship Type="http://schemas.openxmlformats.org/officeDocument/2006/relationships/slide" Target="/ppt/slides/slide19.xml" Id="R650b02edb5cc4aa5" /><Relationship Type="http://schemas.openxmlformats.org/officeDocument/2006/relationships/slide" Target="/ppt/slides/slide20.xml" Id="R50277dcaffcd4ce7" /><Relationship Type="http://schemas.openxmlformats.org/officeDocument/2006/relationships/slide" Target="/ppt/slides/slide21.xml" Id="Reb64dfb9be164969" /><Relationship Type="http://schemas.openxmlformats.org/officeDocument/2006/relationships/slide" Target="/ppt/slides/slide22.xml" Id="R126442bb28eb4eba" /><Relationship Type="http://schemas.openxmlformats.org/officeDocument/2006/relationships/slide" Target="/ppt/slides/slide23.xml" Id="Rcfe61bd148714e7f" /><Relationship Type="http://schemas.openxmlformats.org/officeDocument/2006/relationships/slide" Target="/ppt/slides/slide24.xml" Id="R78da434c4b7d4073" /><Relationship Type="http://schemas.openxmlformats.org/officeDocument/2006/relationships/slide" Target="/ppt/slides/slide25.xml" Id="Rc3db238b7a7544a9" /><Relationship Type="http://schemas.openxmlformats.org/officeDocument/2006/relationships/slide" Target="/ppt/slides/slide26.xml" Id="R4c2a643ce8d3478b" /><Relationship Type="http://schemas.openxmlformats.org/officeDocument/2006/relationships/slide" Target="/ppt/slides/slide27.xml" Id="R96936f913363416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ee14558d4a41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5601f250cc4268" /><Relationship Type="http://schemas.openxmlformats.org/officeDocument/2006/relationships/notesMaster" Target="/ppt/notesMasters/notesMaster1.xml" Id="R7779a540a78b4bb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8f2a0dddc548ef" /><Relationship Type="http://schemas.openxmlformats.org/officeDocument/2006/relationships/notesMaster" Target="/ppt/notesMasters/notesMaster1.xml" Id="R77de2ea628c04f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c7ec72f268e43c0" /><Relationship Type="http://schemas.openxmlformats.org/officeDocument/2006/relationships/notesMaster" Target="/ppt/notesMasters/notesMaster1.xml" Id="R4b021583971e41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931f8d25c949c6" /><Relationship Type="http://schemas.openxmlformats.org/officeDocument/2006/relationships/notesMaster" Target="/ppt/notesMasters/notesMaster1.xml" Id="Ra5b61688f6d8487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cfd5ff1bc64a06" /><Relationship Type="http://schemas.openxmlformats.org/officeDocument/2006/relationships/notesMaster" Target="/ppt/notesMasters/notesMaster1.xml" Id="Rcb57a20e920e4b7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f55e1410d3478a" /><Relationship Type="http://schemas.openxmlformats.org/officeDocument/2006/relationships/notesMaster" Target="/ppt/notesMasters/notesMaster1.xml" Id="R9a2014e3845a4dd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11f91a2e5f4dda" /><Relationship Type="http://schemas.openxmlformats.org/officeDocument/2006/relationships/notesMaster" Target="/ppt/notesMasters/notesMaster1.xml" Id="Rd2cc6daa8cbf45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e41e613642442bb" /><Relationship Type="http://schemas.openxmlformats.org/officeDocument/2006/relationships/notesMaster" Target="/ppt/notesMasters/notesMaster1.xml" Id="R361752c52dbf4e9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21bedcb0d8f4344" /><Relationship Type="http://schemas.openxmlformats.org/officeDocument/2006/relationships/notesMaster" Target="/ppt/notesMasters/notesMaster1.xml" Id="Rafb21961d0ba4e5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eea560acf224f6e" /><Relationship Type="http://schemas.openxmlformats.org/officeDocument/2006/relationships/notesMaster" Target="/ppt/notesMasters/notesMaster1.xml" Id="R11463186af704ba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6437757d3b84aa5" /><Relationship Type="http://schemas.openxmlformats.org/officeDocument/2006/relationships/notesMaster" Target="/ppt/notesMasters/notesMaster1.xml" Id="Reb0561b94710473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24699cceb4746c1" /><Relationship Type="http://schemas.openxmlformats.org/officeDocument/2006/relationships/notesMaster" Target="/ppt/notesMasters/notesMaster1.xml" Id="Ree37c036ef4e4c6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e6238e8ede14f30" /><Relationship Type="http://schemas.openxmlformats.org/officeDocument/2006/relationships/notesMaster" Target="/ppt/notesMasters/notesMaster1.xml" Id="R18c180722edd4ee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e07f8368d9d471e" /><Relationship Type="http://schemas.openxmlformats.org/officeDocument/2006/relationships/notesMaster" Target="/ppt/notesMasters/notesMaster1.xml" Id="R45fde1c9653041f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3eda4c9495f4770" /><Relationship Type="http://schemas.openxmlformats.org/officeDocument/2006/relationships/notesMaster" Target="/ppt/notesMasters/notesMaster1.xml" Id="Rf93cbb0c3ed6410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a898ad51f7244e8" /><Relationship Type="http://schemas.openxmlformats.org/officeDocument/2006/relationships/notesMaster" Target="/ppt/notesMasters/notesMaster1.xml" Id="R73da2792df22419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df63a759d384041" /><Relationship Type="http://schemas.openxmlformats.org/officeDocument/2006/relationships/notesMaster" Target="/ppt/notesMasters/notesMaster1.xml" Id="R14822ffd052e4f1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686b27bf8624b60" /><Relationship Type="http://schemas.openxmlformats.org/officeDocument/2006/relationships/notesMaster" Target="/ppt/notesMasters/notesMaster1.xml" Id="Raf7a3caa1de240a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38bf918829d4f6b" /><Relationship Type="http://schemas.openxmlformats.org/officeDocument/2006/relationships/notesMaster" Target="/ppt/notesMasters/notesMaster1.xml" Id="Rdcc585babbda4e0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fe239d548924dd7" /><Relationship Type="http://schemas.openxmlformats.org/officeDocument/2006/relationships/notesMaster" Target="/ppt/notesMasters/notesMaster1.xml" Id="Rb8f4bbd0055d44c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b27523406624382" /><Relationship Type="http://schemas.openxmlformats.org/officeDocument/2006/relationships/notesMaster" Target="/ppt/notesMasters/notesMaster1.xml" Id="R1078d04a6281423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3d1c24d1f064b3d" /><Relationship Type="http://schemas.openxmlformats.org/officeDocument/2006/relationships/notesMaster" Target="/ppt/notesMasters/notesMaster1.xml" Id="R7819cda7dfd0498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c7914e3fe7b4c2f" /><Relationship Type="http://schemas.openxmlformats.org/officeDocument/2006/relationships/notesMaster" Target="/ppt/notesMasters/notesMaster1.xml" Id="R6a6c8795d11c4f4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6e19774f6f64abe" /><Relationship Type="http://schemas.openxmlformats.org/officeDocument/2006/relationships/notesMaster" Target="/ppt/notesMasters/notesMaster1.xml" Id="R003866b643694b4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68a5539e7204a14" /><Relationship Type="http://schemas.openxmlformats.org/officeDocument/2006/relationships/notesMaster" Target="/ppt/notesMasters/notesMaster1.xml" Id="R6da25d307271461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5d82379707144fe" /><Relationship Type="http://schemas.openxmlformats.org/officeDocument/2006/relationships/notesMaster" Target="/ppt/notesMasters/notesMaster1.xml" Id="Rd2ad6d7698d24c8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71a0838060642f4" /><Relationship Type="http://schemas.openxmlformats.org/officeDocument/2006/relationships/notesMaster" Target="/ppt/notesMasters/notesMaster1.xml" Id="R941b9f33ab954c3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https://davidchivers.co.uk/teaching/macro-applications/lecture_4.html#/title-slide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Economics of Brexit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 4: Migration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Dr David Chivers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Macroeconomic Applications and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Context</a:t>
            </a:r>
          </a:p>
          <a:p xmlns:a="http://schemas.openxmlformats.org/drawingml/2006/main">
            <a:r>
              <a:t>“Free movement of workers is a fundamental principle” … “enshrined in Article 45 of the Treaty on the Functioning of the European Union and developed by EU secondary legislation”.</a:t>
            </a:r>
          </a:p>
          <a:p xmlns:a="http://schemas.openxmlformats.org/drawingml/2006/main">
            <a:r>
              <a:t>“Free movement of workers also applies, in general terms, to the countries in the European Economic Area: Iceland, Liechtenstein and Norway”.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European Commission: free movement of workers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http://ec.europa.eu/social/main.jsp?catId=457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Brexit and free movement of people</a:t>
            </a:r>
          </a:p>
          <a:p xmlns:a="http://schemas.openxmlformats.org/drawingml/2006/main">
            <a:r>
              <a:t>Theresa May · 2 October 2016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“I want it to give British companies the maximum freedom to trade with and operate in the Single Market – and let European businesses do the same here.”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“But let me be clear. We are not leaving the European Union only to give up control of immigration again.”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Angela Merkel · 6 October 2016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“Brexit negotiations won’t be easy. If we don’t say full access to the internal market is linked to full freedom of movement, then a movement will spread in Europe where everyone just does whatever they want.”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http://www.independent.co.uk/news/uk/politics/theresa-may-hard-brexit-soft-article-free-movement-deal-single-market-access-a7341886.html</a:t>
            </a:r>
          </a:p>
          <a:p xmlns:a="http://schemas.openxmlformats.org/drawingml/2006/main">
            <a:r>
              <a:t>http://www.bbc.co.uk/news/world-europe-37632305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Learning objectives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After this topic, you will be able to: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Discuss the evidence on the migration flows in Europe.</a:t>
            </a:r>
          </a:p>
          <a:p xmlns:a="http://schemas.openxmlformats.org/drawingml/2006/main">
            <a:r>
              <a:t>Analyse the economic effects of migration.</a:t>
            </a:r>
          </a:p>
          <a:p xmlns:a="http://schemas.openxmlformats.org/drawingml/2006/main">
            <a:r>
              <a:t>direct effects (wages, unemployment)</a:t>
            </a:r>
          </a:p>
          <a:p xmlns:a="http://schemas.openxmlformats.org/drawingml/2006/main">
            <a:r>
              <a:t>indirect effects (welfare state, innovation)</a:t>
            </a:r>
          </a:p>
          <a:p xmlns:a="http://schemas.openxmlformats.org/drawingml/2006/main">
            <a:r>
              <a:t>Analyse the effects of free trade in goods and services on domestic labour markets (e.g. wages, unemployment).</a:t>
            </a:r>
          </a:p>
          <a:p xmlns:a="http://schemas.openxmlformats.org/drawingml/2006/main">
            <a:r>
              <a:t>Analyse the interplay between free mobility of goods and people.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EU enlargement towards the East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OECD (2012)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OECD bar chart showing the stock of EU8 and EU2 nationals in EU15 countries increasing from the late 1990s to 2010, with faster growth after the 2004 enlargement.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Behind the migration flows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OECD (2012)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OECD scatter plot relating post-accession emigration rates to relative GDP per capita for accession countries. The points show the cross-country relationship rather than a causal estimate.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Intra-EU labour mobility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OECD (2012)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OECD bars showing EU immigrants living in EU15 countries as a percentage of the working-age population in 2009, separating EU12 from other EU15 origins.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EU and the rest of the world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Net migration rates in EU27 countries for 1998 and 2009. Countries differ in sign and magnitude; Luxembourg has a particularly high positive rate.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Immigration in the UK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OECD, International migration database and other data. Own calculations.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Line chart showing the stock of foreign population in the UK as a share of working-age population, rising from roughly 4 percent in 2003 to more than 7 percent in 2013.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Immigration in the UK: by country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Stock of foreign nationals in the UK as a percentage of the working-age population, by country, 2003–2013. Source: OECD International Migration Database and other data. Own calculations.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UK foreign-national population shares by origin, 2003 to 2013. Polish nationals show the largest increase; German, Portuguese, Irish and Indian series are also shown.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Facts</a:t>
            </a:r>
          </a:p>
          <a:p xmlns:a="http://schemas.openxmlformats.org/drawingml/2006/main">
            <a:r>
              <a:t>Data show that the migration from the EU12 to the EU15 accelerated after the 2004 enlargement.</a:t>
            </a:r>
          </a:p>
          <a:p xmlns:a="http://schemas.openxmlformats.org/drawingml/2006/main">
            <a:r>
              <a:t>The stock of foreign EU citizens as a percentage of the working population was less than 5% in most EU15 countries in 2009.</a:t>
            </a:r>
          </a:p>
          <a:p xmlns:a="http://schemas.openxmlformats.org/drawingml/2006/main">
            <a:r>
              <a:t>Although most countries in the EU experience positive net migration from the RoW, net migration rates are less than 0.8% in all EU15 countries (Luxembourg is an exception).</a:t>
            </a:r>
          </a:p>
          <a:p xmlns:a="http://schemas.openxmlformats.org/drawingml/2006/main">
            <a:r>
              <a:t>In the UK, immigration has risen over 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Migration with flexible wages</a:t>
            </a:r>
          </a:p>
          <a:p xmlns:a="http://schemas.openxmlformats.org/drawingml/2006/main">
            <a:r>
              <a:t>Two countries</a:t>
            </a:r>
          </a:p>
          <a:p xmlns:a="http://schemas.openxmlformats.org/drawingml/2006/main">
            <a:r>
              <a:t>Two factors of production (capital and labour).</a:t>
            </a:r>
          </a:p>
          <a:p xmlns:a="http://schemas.openxmlformats.org/drawingml/2006/main">
            <a:r>
              <a:t>Capital cannot be adjusted.</a:t>
            </a:r>
          </a:p>
          <a:p xmlns:a="http://schemas.openxmlformats.org/drawingml/2006/main">
            <a:r>
              <a:t>Labour supply is perfectly inelastic.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Countries have different wages to start with: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Heterogeneous productivities</a:t>
            </a:r>
          </a:p>
          <a:p xmlns:a="http://schemas.openxmlformats.org/drawingml/2006/main">
            <a:r>
              <a:t>Heterogeneous country size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Closed economies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Two-country labour allocation with fixed capital. Marginal product of labour falls as employment rises in each country. Initially the high-wage country has wage w and the low-wage country wage w star.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Migration reallocates labour from the low-wage country to the high-wage country. Employment moves from L to L prime, lowering the high wage and raising the low wage towards a common wage.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Division of income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Division of income under the marginal-product curve. The wage times employment rectangle goes to labour; the area above the wage and below marginal product goes to capital.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Welfare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Two-country migration welfare diagram with areas A to J. The high-wage country’s net gain is C and the low-wage country’s net gain is D, although workers and capital owners are affected differently.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Welfare</a:t>
            </a:r>
          </a:p>
          <a:p xmlns:a="http://schemas.openxmlformats.org/drawingml/2006/main">
            <a:r>
              <a:t>In the high-wage (low-wage) country, domestic workers lose (gain) while capitalists gain (lose).</a:t>
            </a:r>
          </a:p>
          <a:p xmlns:a="http://schemas.openxmlformats.org/drawingml/2006/main">
            <a:r>
              <a:t>Manacorda et al. (2012) have empirically shown that migration had no significant effect on the wages of UK natives.</a:t>
            </a:r>
          </a:p>
          <a:p xmlns:a="http://schemas.openxmlformats.org/drawingml/2006/main">
            <a:r>
              <a:t>However, both countries gain from migration overall.</a:t>
            </a:r>
          </a:p>
          <a:p xmlns:a="http://schemas.openxmlformats.org/drawingml/2006/main">
            <a:r>
              <a:t>Governments can address the uneven effects of migration using side payments.</a:t>
            </a:r>
          </a:p>
          <a:p xmlns:a="http://schemas.openxmlformats.org/drawingml/2006/main">
            <a:r>
              <a:t>If migrants to the high-wage country are fiscal residents there, they will pay their taxes to the local government.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Skilled and unskilled migration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about “skilled” and “unskilled” immigration?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Heckscher-Ohlin theory of international trade</a:t>
            </a:r>
          </a:p>
          <a:p xmlns:a="http://schemas.openxmlformats.org/drawingml/2006/main">
            <a:r>
              <a:t>Countries specialise in the sector that is intensive in the abundant factor (partial specialisation).</a:t>
            </a:r>
          </a:p>
          <a:p xmlns:a="http://schemas.openxmlformats.org/drawingml/2006/main">
            <a:r>
              <a:t>The skilled-abundant country specialises in the skilled-intensive sector.</a:t>
            </a:r>
          </a:p>
          <a:p xmlns:a="http://schemas.openxmlformats.org/drawingml/2006/main">
            <a:r>
              <a:t>The unskilled-abundant country specialises in the unskilled-intensive sector.</a:t>
            </a:r>
          </a:p>
          <a:p xmlns:a="http://schemas.openxmlformats.org/drawingml/2006/main">
            <a:r>
              <a:t>This has an impact on the countries’ labour markets.</a:t>
            </a:r>
          </a:p>
          <a:p xmlns:a="http://schemas.openxmlformats.org/drawingml/2006/main">
            <a:r>
              <a:t>The demand for skilled (unskilled) workers in the skilled-abundant country increases (decreases).</a:t>
            </a:r>
          </a:p>
          <a:p xmlns:a="http://schemas.openxmlformats.org/drawingml/2006/main">
            <a:r>
              <a:t>The demand for unskilled (skilled) workers in the unskilled-abundant country increases (decreases).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Migration under free trade</a:t>
            </a:r>
          </a:p>
          <a:p xmlns:a="http://schemas.openxmlformats.org/drawingml/2006/main">
            <a:r>
              <a:t>Migration offsets some of the effects of international trade.</a:t>
            </a:r>
          </a:p>
          <a:p xmlns:a="http://schemas.openxmlformats.org/drawingml/2006/main">
            <a:r>
              <a:t>Unskilled workers in the skilled-abundant country could move to the other country where the wage is higher, reducing unemployment at home.</a:t>
            </a:r>
          </a:p>
          <a:p xmlns:a="http://schemas.openxmlformats.org/drawingml/2006/main">
            <a:r>
              <a:t>Skilled workers in the unskilled-abundant country could move to the other country to offset the negative impact of trade on their wage.</a:t>
            </a:r>
          </a:p>
          <a:p xmlns:a="http://schemas.openxmlformats.org/drawingml/2006/main">
            <a:r>
              <a:t>The effects of international trade on unemployment depend on the model’s assumptions (Ricardian vs. Heckscher-Ohlin).</a:t>
            </a:r>
          </a:p>
          <a:p xmlns:a="http://schemas.openxmlformats.org/drawingml/2006/main">
            <a:r>
              <a:t>Empirically, Dutt et al. (2009) show that trade openness and unemployment are negatively related in the long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Migration</a:t>
            </a:r>
          </a:p>
          <a:p xmlns:a="http://schemas.openxmlformats.org/drawingml/2006/main">
            <a:r>
              <a:t>Key question: are migration rates in EU too small or too big?</a:t>
            </a:r>
          </a:p>
          <a:p xmlns:a="http://schemas.openxmlformats.org/drawingml/2006/main">
            <a:r>
              <a:t>Answer: if labour markets are sufficiently open, then wage differentials should be neutralised.</a:t>
            </a:r>
          </a:p>
          <a:p xmlns:a="http://schemas.openxmlformats.org/drawingml/2006/main">
            <a:r>
              <a:t>Have wages converged across Europe?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Wage differentials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Eurostat. Gross annual earnings in euros, before income tax and employee social security contributions. Full-time employees in enterprises with more than 10 employees. Years: 2009 and 2011.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Eurostat chart comparing average gross annual earnings in industry and services across European countries in 2009 and 2011. Substantial cross-country wage differences remain.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Barriers to intra-EU labour mobility</a:t>
            </a:r>
          </a:p>
          <a:p xmlns:a="http://schemas.openxmlformats.org/drawingml/2006/main">
            <a:r>
              <a:t>Lack of pension transferability.</a:t>
            </a:r>
          </a:p>
          <a:p xmlns:a="http://schemas.openxmlformats.org/drawingml/2006/main">
            <a:r>
              <a:t>Cross-country information about job vacancies remains scarce.</a:t>
            </a:r>
          </a:p>
          <a:p xmlns:a="http://schemas.openxmlformats.org/drawingml/2006/main">
            <a:r>
              <a:t>Recognition of professional qualifications is problematic.</a:t>
            </a:r>
          </a:p>
          <a:p xmlns:a="http://schemas.openxmlformats.org/drawingml/2006/main">
            <a:r>
              <a:t>Public sector jobs are mostly closed to non-nationals.</a:t>
            </a:r>
          </a:p>
          <a:p xmlns:a="http://schemas.openxmlformats.org/drawingml/2006/main">
            <a:r>
              <a:t>Housing market policies.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OECD (2012)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Summing up the theory</a:t>
            </a:r>
          </a:p>
          <a:p xmlns:a="http://schemas.openxmlformats.org/drawingml/2006/main">
            <a:r>
              <a:t>Migration implies a net increase in welfare for all the countries involved, although governments would need to compensate workers (capitalists) in high-wage (low-wage) countries.</a:t>
            </a:r>
          </a:p>
          <a:p xmlns:a="http://schemas.openxmlformats.org/drawingml/2006/main">
            <a:r>
              <a:t>Wage differentials in the EU are big as the costs of migrating are high due to institutional differences across countries.</a:t>
            </a:r>
          </a:p>
          <a:p xmlns:a="http://schemas.openxmlformats.org/drawingml/2006/main">
            <a:r>
              <a:t>There is no evidence of a negative impact of migration on wages in the UK.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Summing up the evidence</a:t>
            </a:r>
          </a:p>
          <a:p xmlns:a="http://schemas.openxmlformats.org/drawingml/2006/main">
            <a:r>
              <a:t>Empirical evidence suggests that international trade is associated with lower overall unemployment in countries.</a:t>
            </a:r>
          </a:p>
          <a:p xmlns:a="http://schemas.openxmlformats.org/drawingml/2006/main">
            <a:r>
              <a:t>There is little evidence on the impact of migration on unemployment.</a:t>
            </a:r>
          </a:p>
          <a:p xmlns:a="http://schemas.openxmlformats.org/drawingml/2006/main">
            <a:r>
              <a:t>In seminar 2, we will talk about the indirect effects of migration (welfare state and innovation).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Essential reading</a:t>
            </a:r>
          </a:p>
          <a:p xmlns:a="http://schemas.openxmlformats.org/drawingml/2006/main">
            <a:r>
              <a:t>Baldwin R., Wyplosz C. (2019), Chapter 8.</a:t>
            </a:r>
          </a:p>
          <a:p xmlns:a="http://schemas.openxmlformats.org/drawingml/2006/main">
            <a:r>
              <a:t>Bosetti V., Cattaneo C., Verdolini E. (2015), Migration of skilled workers and innovation: A European Perspective, Journal of International Economics, 96, 311-322.</a:t>
            </a:r>
          </a:p>
          <a:p xmlns:a="http://schemas.openxmlformats.org/drawingml/2006/main">
            <a:r>
              <a:t>Dustmann C., Frattini T., Halls C. (2010), Assessing the Fiscal Costs and Benefits of A8 Migration to the UK, Fiscal Studies, 31 (1), pp. 1-41.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Static student copy of the current web slide. Slide artwork is flattened; add personal notes here. Interactive explanations, playback and accessible HTML are available at:</a:t>
            </a:r>
          </a:p>
          <a:p xmlns:a="http://schemas.openxmlformats.org/drawingml/2006/main">
            <a:r>
              <a:t>https://davidchivers.co.uk/teaching/macro-applications/lecture_4.html#/l4-s27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Further reading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See the ECON2271 Talis reading list, also available through Blackboard.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https://durham.rl.talis.com/lists/d85d1ad3-e9ac-4daf-aa66-e3ddfcf902d7.html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fcb7c7780d40e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d1d80c0760499d" /><Relationship Type="http://schemas.openxmlformats.org/officeDocument/2006/relationships/slideLayout" Target="/ppt/slideLayouts/slideLayout1.xml" Id="R6878169dfd9442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78169dfd9442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68877fd16f4b47" /><Relationship Type="http://schemas.openxmlformats.org/officeDocument/2006/relationships/image" Target="/ppt/media/image.jpeg" Id="R36ffe980038442f6" /><Relationship Type="http://schemas.openxmlformats.org/officeDocument/2006/relationships/notesSlide" Target="/ppt/notesSlides/notesSlide1.xml" Id="Rdf2ff266947641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db767cc1624f1e" /><Relationship Type="http://schemas.openxmlformats.org/officeDocument/2006/relationships/image" Target="/ppt/media/image2.jpeg" Id="R464959931a58410a" /><Relationship Type="http://schemas.openxmlformats.org/officeDocument/2006/relationships/notesSlide" Target="/ppt/notesSlides/notesSlide2.xml" Id="Rc6e3aeb5a40449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0c2bb40144423c" /><Relationship Type="http://schemas.openxmlformats.org/officeDocument/2006/relationships/image" Target="/ppt/media/image3.jpeg" Id="R1a57b6b1667f4738" /><Relationship Type="http://schemas.openxmlformats.org/officeDocument/2006/relationships/notesSlide" Target="/ppt/notesSlides/notesSlide3.xml" Id="R8ff30da8c28346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f5a306ef3445b8" /><Relationship Type="http://schemas.openxmlformats.org/officeDocument/2006/relationships/image" Target="/ppt/media/image4.jpeg" Id="Rbe8eb05f57074baf" /><Relationship Type="http://schemas.openxmlformats.org/officeDocument/2006/relationships/notesSlide" Target="/ppt/notesSlides/notesSlide4.xml" Id="R34ce81d53adc47a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fc2bf1157e43d0" /><Relationship Type="http://schemas.openxmlformats.org/officeDocument/2006/relationships/image" Target="/ppt/media/image5.jpeg" Id="Rb23e5fedbdb6428d" /><Relationship Type="http://schemas.openxmlformats.org/officeDocument/2006/relationships/notesSlide" Target="/ppt/notesSlides/notesSlide5.xml" Id="Rb0dd079712104b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a52d0ffc314e84" /><Relationship Type="http://schemas.openxmlformats.org/officeDocument/2006/relationships/image" Target="/ppt/media/image6.jpeg" Id="R274a0bd854b94228" /><Relationship Type="http://schemas.openxmlformats.org/officeDocument/2006/relationships/notesSlide" Target="/ppt/notesSlides/notesSlide6.xml" Id="R8cdf251190d340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abde929f0d4297" /><Relationship Type="http://schemas.openxmlformats.org/officeDocument/2006/relationships/image" Target="/ppt/media/image7.jpeg" Id="R58e821ed099348dd" /><Relationship Type="http://schemas.openxmlformats.org/officeDocument/2006/relationships/notesSlide" Target="/ppt/notesSlides/notesSlide7.xml" Id="R26a8f620acaa47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2729deb61f430a" /><Relationship Type="http://schemas.openxmlformats.org/officeDocument/2006/relationships/image" Target="/ppt/media/image8.jpeg" Id="R518006aa58bb43ed" /><Relationship Type="http://schemas.openxmlformats.org/officeDocument/2006/relationships/notesSlide" Target="/ppt/notesSlides/notesSlide8.xml" Id="R3b32cb51ee59429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9086f14455409c" /><Relationship Type="http://schemas.openxmlformats.org/officeDocument/2006/relationships/image" Target="/ppt/media/image9.jpeg" Id="R8e767e61713e4c8d" /><Relationship Type="http://schemas.openxmlformats.org/officeDocument/2006/relationships/notesSlide" Target="/ppt/notesSlides/notesSlide9.xml" Id="R4279b8271efa47b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19ac93d15b4e30" /><Relationship Type="http://schemas.openxmlformats.org/officeDocument/2006/relationships/image" Target="/ppt/media/image10.jpeg" Id="Rf5d7139c638243af" /><Relationship Type="http://schemas.openxmlformats.org/officeDocument/2006/relationships/notesSlide" Target="/ppt/notesSlides/notesSlide10.xml" Id="R8fc7b1d8d2e042b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d3381b580f4efb" /><Relationship Type="http://schemas.openxmlformats.org/officeDocument/2006/relationships/image" Target="/ppt/media/image11.jpeg" Id="Ra003c335d9b14fe3" /><Relationship Type="http://schemas.openxmlformats.org/officeDocument/2006/relationships/notesSlide" Target="/ppt/notesSlides/notesSlide11.xml" Id="R5bbe26a3052743e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89ac786b934912" /><Relationship Type="http://schemas.openxmlformats.org/officeDocument/2006/relationships/image" Target="/ppt/media/image12.jpeg" Id="Rcf38a299454a4da0" /><Relationship Type="http://schemas.openxmlformats.org/officeDocument/2006/relationships/notesSlide" Target="/ppt/notesSlides/notesSlide12.xml" Id="R0d017ecbd1994bb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67920d8acc44f6" /><Relationship Type="http://schemas.openxmlformats.org/officeDocument/2006/relationships/image" Target="/ppt/media/image13.jpeg" Id="Ra50191d5ce294d4d" /><Relationship Type="http://schemas.openxmlformats.org/officeDocument/2006/relationships/notesSlide" Target="/ppt/notesSlides/notesSlide13.xml" Id="Rfc83bd6a8756421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96721fc3b941c9" /><Relationship Type="http://schemas.openxmlformats.org/officeDocument/2006/relationships/image" Target="/ppt/media/image14.jpeg" Id="R90407f2a31b04ffc" /><Relationship Type="http://schemas.openxmlformats.org/officeDocument/2006/relationships/notesSlide" Target="/ppt/notesSlides/notesSlide14.xml" Id="R9a7a0ff34d2945c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71413bea6446aa" /><Relationship Type="http://schemas.openxmlformats.org/officeDocument/2006/relationships/image" Target="/ppt/media/image15.jpeg" Id="R70b73f07d16145c8" /><Relationship Type="http://schemas.openxmlformats.org/officeDocument/2006/relationships/notesSlide" Target="/ppt/notesSlides/notesSlide15.xml" Id="Ra3354fd713274fc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412b821044da2" /><Relationship Type="http://schemas.openxmlformats.org/officeDocument/2006/relationships/image" Target="/ppt/media/image16.jpeg" Id="R52453141a6cd42b1" /><Relationship Type="http://schemas.openxmlformats.org/officeDocument/2006/relationships/notesSlide" Target="/ppt/notesSlides/notesSlide16.xml" Id="R526604e9c225409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39b310a78f4784" /><Relationship Type="http://schemas.openxmlformats.org/officeDocument/2006/relationships/image" Target="/ppt/media/image17.jpeg" Id="R357146f26d5a46d7" /><Relationship Type="http://schemas.openxmlformats.org/officeDocument/2006/relationships/notesSlide" Target="/ppt/notesSlides/notesSlide17.xml" Id="Reb81805dfd154b4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fd64bff0024f76" /><Relationship Type="http://schemas.openxmlformats.org/officeDocument/2006/relationships/image" Target="/ppt/media/image18.jpeg" Id="R561e33c189de4ff2" /><Relationship Type="http://schemas.openxmlformats.org/officeDocument/2006/relationships/notesSlide" Target="/ppt/notesSlides/notesSlide18.xml" Id="Rbecb1791097040d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67bf23681e4eb8" /><Relationship Type="http://schemas.openxmlformats.org/officeDocument/2006/relationships/image" Target="/ppt/media/image19.jpeg" Id="Rd9b049cda3804b94" /><Relationship Type="http://schemas.openxmlformats.org/officeDocument/2006/relationships/notesSlide" Target="/ppt/notesSlides/notesSlide19.xml" Id="R685750e74f7f491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17d4954ab543f2" /><Relationship Type="http://schemas.openxmlformats.org/officeDocument/2006/relationships/image" Target="/ppt/media/image20.jpeg" Id="R9e042f346bd74a06" /><Relationship Type="http://schemas.openxmlformats.org/officeDocument/2006/relationships/notesSlide" Target="/ppt/notesSlides/notesSlide20.xml" Id="R240abe3cd5634e8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4eeb2532348f7" /><Relationship Type="http://schemas.openxmlformats.org/officeDocument/2006/relationships/image" Target="/ppt/media/image21.jpeg" Id="Rf6372bfefacf4b7e" /><Relationship Type="http://schemas.openxmlformats.org/officeDocument/2006/relationships/notesSlide" Target="/ppt/notesSlides/notesSlide21.xml" Id="Rbb0cd193c267468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d03ecf75514a49" /><Relationship Type="http://schemas.openxmlformats.org/officeDocument/2006/relationships/image" Target="/ppt/media/image22.jpeg" Id="Rbe2ee498dc214e94" /><Relationship Type="http://schemas.openxmlformats.org/officeDocument/2006/relationships/notesSlide" Target="/ppt/notesSlides/notesSlide22.xml" Id="Rdd544ca9b2f74e3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2ab5d9a3584e16" /><Relationship Type="http://schemas.openxmlformats.org/officeDocument/2006/relationships/image" Target="/ppt/media/image23.jpeg" Id="Rf29c34d08cda4f76" /><Relationship Type="http://schemas.openxmlformats.org/officeDocument/2006/relationships/notesSlide" Target="/ppt/notesSlides/notesSlide23.xml" Id="R0cd4e5b3544c43c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b9ebdc5fc34325" /><Relationship Type="http://schemas.openxmlformats.org/officeDocument/2006/relationships/image" Target="/ppt/media/image24.jpeg" Id="R04d8386e26c84f2f" /><Relationship Type="http://schemas.openxmlformats.org/officeDocument/2006/relationships/notesSlide" Target="/ppt/notesSlides/notesSlide24.xml" Id="R334e531eee13486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a93275311040a5" /><Relationship Type="http://schemas.openxmlformats.org/officeDocument/2006/relationships/image" Target="/ppt/media/image25.jpeg" Id="R2fe414fe531345ce" /><Relationship Type="http://schemas.openxmlformats.org/officeDocument/2006/relationships/notesSlide" Target="/ppt/notesSlides/notesSlide25.xml" Id="R97e8842501f749b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096ad47dd94df6" /><Relationship Type="http://schemas.openxmlformats.org/officeDocument/2006/relationships/image" Target="/ppt/media/image26.jpeg" Id="R339d6526c72748cd" /><Relationship Type="http://schemas.openxmlformats.org/officeDocument/2006/relationships/notesSlide" Target="/ppt/notesSlides/notesSlide26.xml" Id="R50b8da084ca448e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6d47f85c8644ff" /><Relationship Type="http://schemas.openxmlformats.org/officeDocument/2006/relationships/image" Target="/ppt/media/image.png" Id="R3299d3aa540545dc" /><Relationship Type="http://schemas.openxmlformats.org/officeDocument/2006/relationships/notesSlide" Target="/ppt/notesSlides/notesSlide27.xml" Id="R26d64a3917f1404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ffe980038442f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98235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4959931a58410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3212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57b6b1667f473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84499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8eb05f57074ba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4348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3e5fedbdb6428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6413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4a0bd854b9422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49081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e821ed099348d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2943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8006aa58bb43e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30511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767e61713e4c8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1372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d7139c638243a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03748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03c335d9b14fe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55252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38a299454a4da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7768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0191d5ce294d4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88704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407f2a31b04ff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4901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b73f07d16145c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51181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453141a6cd42b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39049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7146f26d5a46d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34568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1e33c189de4ff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311018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b049cda3804b9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89463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042f346bd74a0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820408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372bfefacf4b7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1792662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2ee498dc214e9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64396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9c34d08cda4f7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24332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8386e26c84f2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392122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e414fe531345c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70791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9d6526c72748c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613812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99d3aa540545d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576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2026-10-06T15:04:08.7240000Z</dcterms:created>
  <dcterms:modified xsi:type="dcterms:W3CDTF">2026-10-06T15:04:08.7240000Z</dcterms:modified>
</coreProperties>
</file>