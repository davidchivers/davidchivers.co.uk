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08014843c8b4516" /><Relationship Type="http://schemas.openxmlformats.org/officeDocument/2006/relationships/extended-properties" Target="/docProps/app.xml" Id="R0a318273e1e4425b" /><Relationship Type="http://schemas.openxmlformats.org/officeDocument/2006/relationships/officeDocument" Target="/ppt/presentation.xml" Id="Rdd398fce94a643ea" /></Relationships>
</file>

<file path=ppt/presentation.xml><?xml version="1.0" encoding="utf-8"?>
<p:presentation xmlns:p="http://schemas.openxmlformats.org/presentationml/2006/main">
  <p:sldMasterIdLst>
    <p:sldMasterId xmlns:r="http://schemas.openxmlformats.org/officeDocument/2006/relationships" id="2147483648" r:id="R27ab8260cbe64eba"/>
  </p:sldMasterIdLst>
  <p:notesMasterIdLst>
    <p:notesMasterId xmlns:r="http://schemas.openxmlformats.org/officeDocument/2006/relationships" r:id="R95fa727330a6412f"/>
  </p:notesMasterIdLst>
  <p:sldIdLst>
    <p:sldId xmlns:r="http://schemas.openxmlformats.org/officeDocument/2006/relationships" id="256" r:id="Re01c517dac6b4024"/>
    <p:sldId xmlns:r="http://schemas.openxmlformats.org/officeDocument/2006/relationships" id="257" r:id="R400ed7638d024ae7"/>
    <p:sldId xmlns:r="http://schemas.openxmlformats.org/officeDocument/2006/relationships" id="258" r:id="R001ae93eb88d499c"/>
    <p:sldId xmlns:r="http://schemas.openxmlformats.org/officeDocument/2006/relationships" id="259" r:id="Rabe2a3bf7c9a4775"/>
    <p:sldId xmlns:r="http://schemas.openxmlformats.org/officeDocument/2006/relationships" id="260" r:id="R99e50caeb6cd464a"/>
    <p:sldId xmlns:r="http://schemas.openxmlformats.org/officeDocument/2006/relationships" id="261" r:id="Re4c2033a6aa14208"/>
    <p:sldId xmlns:r="http://schemas.openxmlformats.org/officeDocument/2006/relationships" id="262" r:id="R61131aa2d83844c6"/>
    <p:sldId xmlns:r="http://schemas.openxmlformats.org/officeDocument/2006/relationships" id="263" r:id="R81da11680efb4d72"/>
    <p:sldId xmlns:r="http://schemas.openxmlformats.org/officeDocument/2006/relationships" id="264" r:id="R4047543d626c4f27"/>
    <p:sldId xmlns:r="http://schemas.openxmlformats.org/officeDocument/2006/relationships" id="265" r:id="R0402328278d64893"/>
    <p:sldId xmlns:r="http://schemas.openxmlformats.org/officeDocument/2006/relationships" id="266" r:id="R2ffc4f99b5fd481b"/>
    <p:sldId xmlns:r="http://schemas.openxmlformats.org/officeDocument/2006/relationships" id="267" r:id="Rbff38ddc754c427c"/>
    <p:sldId xmlns:r="http://schemas.openxmlformats.org/officeDocument/2006/relationships" id="268" r:id="R9c58e80ae1984b10"/>
    <p:sldId xmlns:r="http://schemas.openxmlformats.org/officeDocument/2006/relationships" id="269" r:id="R99c7ceb2bddf46d3"/>
    <p:sldId xmlns:r="http://schemas.openxmlformats.org/officeDocument/2006/relationships" id="270" r:id="Rdd699a25375248a0"/>
    <p:sldId xmlns:r="http://schemas.openxmlformats.org/officeDocument/2006/relationships" id="271" r:id="R44db9ac35a644131"/>
    <p:sldId xmlns:r="http://schemas.openxmlformats.org/officeDocument/2006/relationships" id="272" r:id="R9c02818682f147fc"/>
    <p:sldId xmlns:r="http://schemas.openxmlformats.org/officeDocument/2006/relationships" id="273" r:id="R45f73b0648114fbf"/>
    <p:sldId xmlns:r="http://schemas.openxmlformats.org/officeDocument/2006/relationships" id="274" r:id="Ra0d053d8ea6b4bfb"/>
    <p:sldId xmlns:r="http://schemas.openxmlformats.org/officeDocument/2006/relationships" id="275" r:id="Rd16cff41ad404c4a"/>
    <p:sldId xmlns:r="http://schemas.openxmlformats.org/officeDocument/2006/relationships" id="276" r:id="R99e2bd3368384301"/>
    <p:sldId xmlns:r="http://schemas.openxmlformats.org/officeDocument/2006/relationships" id="277" r:id="Re42bc800050d4f00"/>
    <p:sldId xmlns:r="http://schemas.openxmlformats.org/officeDocument/2006/relationships" id="278" r:id="Rcda0dac3e87946c8"/>
    <p:sldId xmlns:r="http://schemas.openxmlformats.org/officeDocument/2006/relationships" id="279" r:id="R19c18d8950914cae"/>
    <p:sldId xmlns:r="http://schemas.openxmlformats.org/officeDocument/2006/relationships" id="280" r:id="R21d3d6bdb4684941"/>
    <p:sldId xmlns:r="http://schemas.openxmlformats.org/officeDocument/2006/relationships" id="281" r:id="R20cd1dc6575b4aa9"/>
    <p:sldId xmlns:r="http://schemas.openxmlformats.org/officeDocument/2006/relationships" id="282" r:id="Rafaaf37248d645ce"/>
    <p:sldId xmlns:r="http://schemas.openxmlformats.org/officeDocument/2006/relationships" id="283" r:id="Rb7b00e4d38794c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45647a24720476a" /><Relationship Type="http://schemas.openxmlformats.org/officeDocument/2006/relationships/slideMaster" Target="/ppt/slideMasters/slideMaster1.xml" Id="R27ab8260cbe64eba" /><Relationship Type="http://schemas.openxmlformats.org/officeDocument/2006/relationships/notesMaster" Target="/ppt/notesMasters/notesMaster1.xml" Id="R95fa727330a6412f" /><Relationship Type="http://schemas.openxmlformats.org/officeDocument/2006/relationships/presProps" Target="/ppt/presProps.xml" Id="Rdac67a9863a24933" /><Relationship Type="http://schemas.openxmlformats.org/officeDocument/2006/relationships/tableStyles" Target="/ppt/tableStyles.xml" Id="Rf041a44826fc47b6" /><Relationship Type="http://schemas.openxmlformats.org/officeDocument/2006/relationships/slide" Target="/ppt/slides/slide1.xml" Id="Re01c517dac6b4024" /><Relationship Type="http://schemas.openxmlformats.org/officeDocument/2006/relationships/slide" Target="/ppt/slides/slide2.xml" Id="R400ed7638d024ae7" /><Relationship Type="http://schemas.openxmlformats.org/officeDocument/2006/relationships/slide" Target="/ppt/slides/slide3.xml" Id="R001ae93eb88d499c" /><Relationship Type="http://schemas.openxmlformats.org/officeDocument/2006/relationships/slide" Target="/ppt/slides/slide4.xml" Id="Rabe2a3bf7c9a4775" /><Relationship Type="http://schemas.openxmlformats.org/officeDocument/2006/relationships/slide" Target="/ppt/slides/slide5.xml" Id="R99e50caeb6cd464a" /><Relationship Type="http://schemas.openxmlformats.org/officeDocument/2006/relationships/slide" Target="/ppt/slides/slide6.xml" Id="Re4c2033a6aa14208" /><Relationship Type="http://schemas.openxmlformats.org/officeDocument/2006/relationships/slide" Target="/ppt/slides/slide7.xml" Id="R61131aa2d83844c6" /><Relationship Type="http://schemas.openxmlformats.org/officeDocument/2006/relationships/slide" Target="/ppt/slides/slide8.xml" Id="R81da11680efb4d72" /><Relationship Type="http://schemas.openxmlformats.org/officeDocument/2006/relationships/slide" Target="/ppt/slides/slide9.xml" Id="R4047543d626c4f27" /><Relationship Type="http://schemas.openxmlformats.org/officeDocument/2006/relationships/slide" Target="/ppt/slides/slide10.xml" Id="R0402328278d64893" /><Relationship Type="http://schemas.openxmlformats.org/officeDocument/2006/relationships/slide" Target="/ppt/slides/slide11.xml" Id="R2ffc4f99b5fd481b" /><Relationship Type="http://schemas.openxmlformats.org/officeDocument/2006/relationships/slide" Target="/ppt/slides/slide12.xml" Id="Rbff38ddc754c427c" /><Relationship Type="http://schemas.openxmlformats.org/officeDocument/2006/relationships/slide" Target="/ppt/slides/slide13.xml" Id="R9c58e80ae1984b10" /><Relationship Type="http://schemas.openxmlformats.org/officeDocument/2006/relationships/slide" Target="/ppt/slides/slide14.xml" Id="R99c7ceb2bddf46d3" /><Relationship Type="http://schemas.openxmlformats.org/officeDocument/2006/relationships/slide" Target="/ppt/slides/slide15.xml" Id="Rdd699a25375248a0" /><Relationship Type="http://schemas.openxmlformats.org/officeDocument/2006/relationships/slide" Target="/ppt/slides/slide16.xml" Id="R44db9ac35a644131" /><Relationship Type="http://schemas.openxmlformats.org/officeDocument/2006/relationships/slide" Target="/ppt/slides/slide17.xml" Id="R9c02818682f147fc" /><Relationship Type="http://schemas.openxmlformats.org/officeDocument/2006/relationships/slide" Target="/ppt/slides/slide18.xml" Id="R45f73b0648114fbf" /><Relationship Type="http://schemas.openxmlformats.org/officeDocument/2006/relationships/slide" Target="/ppt/slides/slide19.xml" Id="Ra0d053d8ea6b4bfb" /><Relationship Type="http://schemas.openxmlformats.org/officeDocument/2006/relationships/slide" Target="/ppt/slides/slide20.xml" Id="Rd16cff41ad404c4a" /><Relationship Type="http://schemas.openxmlformats.org/officeDocument/2006/relationships/slide" Target="/ppt/slides/slide21.xml" Id="R99e2bd3368384301" /><Relationship Type="http://schemas.openxmlformats.org/officeDocument/2006/relationships/slide" Target="/ppt/slides/slide22.xml" Id="Re42bc800050d4f00" /><Relationship Type="http://schemas.openxmlformats.org/officeDocument/2006/relationships/slide" Target="/ppt/slides/slide23.xml" Id="Rcda0dac3e87946c8" /><Relationship Type="http://schemas.openxmlformats.org/officeDocument/2006/relationships/slide" Target="/ppt/slides/slide24.xml" Id="R19c18d8950914cae" /><Relationship Type="http://schemas.openxmlformats.org/officeDocument/2006/relationships/slide" Target="/ppt/slides/slide25.xml" Id="R21d3d6bdb4684941" /><Relationship Type="http://schemas.openxmlformats.org/officeDocument/2006/relationships/slide" Target="/ppt/slides/slide26.xml" Id="R20cd1dc6575b4aa9" /><Relationship Type="http://schemas.openxmlformats.org/officeDocument/2006/relationships/slide" Target="/ppt/slides/slide27.xml" Id="Rafaaf37248d645ce" /><Relationship Type="http://schemas.openxmlformats.org/officeDocument/2006/relationships/slide" Target="/ppt/slides/slide28.xml" Id="Rb7b00e4d38794c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38cb0472e141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790819b2c474c05" /><Relationship Type="http://schemas.openxmlformats.org/officeDocument/2006/relationships/notesMaster" Target="/ppt/notesMasters/notesMaster1.xml" Id="R1e70eb186d214619" /></Relationships>
</file>

<file path=ppt/notesSlides/_rels/notesSlide2.xml.rels>&#65279;<?xml version="1.0" encoding="utf-8"?><Relationships xmlns="http://schemas.openxmlformats.org/package/2006/relationships"><Relationship Type="http://schemas.openxmlformats.org/officeDocument/2006/relationships/slide" Target="/ppt/slides/slide2.xml" Id="R2d34c9237f1a4529" /><Relationship Type="http://schemas.openxmlformats.org/officeDocument/2006/relationships/notesMaster" Target="/ppt/notesMasters/notesMaster1.xml" Id="Ra9d9f91db34a42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146f7fa0c144bf" /><Relationship Type="http://schemas.openxmlformats.org/officeDocument/2006/relationships/notesMaster" Target="/ppt/notesMasters/notesMaster1.xml" Id="R1f0a885bdaf74a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82bce9d6544e19" /><Relationship Type="http://schemas.openxmlformats.org/officeDocument/2006/relationships/notesMaster" Target="/ppt/notesMasters/notesMaster1.xml" Id="R5bc2f657d46b473b"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01ef9d3e244c4b" /><Relationship Type="http://schemas.openxmlformats.org/officeDocument/2006/relationships/notesMaster" Target="/ppt/notesMasters/notesMaster1.xml" Id="R8f9c88db02de42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3cac6f4c6041ec" /><Relationship Type="http://schemas.openxmlformats.org/officeDocument/2006/relationships/notesMaster" Target="/ppt/notesMasters/notesMaster1.xml" Id="R72beed268bc2424a" /></Relationships>
</file>

<file path=ppt/notesSlides/_rels/notesSlide7.xml.rels>&#65279;<?xml version="1.0" encoding="utf-8"?><Relationships xmlns="http://schemas.openxmlformats.org/package/2006/relationships"><Relationship Type="http://schemas.openxmlformats.org/officeDocument/2006/relationships/slide" Target="/ppt/slides/slide7.xml" Id="Rf06d72f1f87047ab" /><Relationship Type="http://schemas.openxmlformats.org/officeDocument/2006/relationships/notesMaster" Target="/ppt/notesMasters/notesMaster1.xml" Id="Rf2698a18d27742d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893107d24440c2" /><Relationship Type="http://schemas.openxmlformats.org/officeDocument/2006/relationships/notesMaster" Target="/ppt/notesMasters/notesMaster1.xml" Id="R1974f80259a845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8741f016a61a4d2c" /><Relationship Type="http://schemas.openxmlformats.org/officeDocument/2006/relationships/notesMaster" Target="/ppt/notesMasters/notesMaster1.xml" Id="R8a7fbb4043b34b0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d0ac11630004269" /><Relationship Type="http://schemas.openxmlformats.org/officeDocument/2006/relationships/notesMaster" Target="/ppt/notesMasters/notesMaster1.xml" Id="R59fe1d48b55546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0bb3930d944684" /><Relationship Type="http://schemas.openxmlformats.org/officeDocument/2006/relationships/notesMaster" Target="/ppt/notesMasters/notesMaster1.xml" Id="Rd6f8645b8942425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4fffc5aa2ba4d89" /><Relationship Type="http://schemas.openxmlformats.org/officeDocument/2006/relationships/notesMaster" Target="/ppt/notesMasters/notesMaster1.xml" Id="Rdbf100ac744f4a4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d0fd3a24b684e2f" /><Relationship Type="http://schemas.openxmlformats.org/officeDocument/2006/relationships/notesMaster" Target="/ppt/notesMasters/notesMaster1.xml" Id="Rd3593e70b4484b8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c59d6b905254d83" /><Relationship Type="http://schemas.openxmlformats.org/officeDocument/2006/relationships/notesMaster" Target="/ppt/notesMasters/notesMaster1.xml" Id="R91606aec41994c3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528f2769001460c" /><Relationship Type="http://schemas.openxmlformats.org/officeDocument/2006/relationships/notesMaster" Target="/ppt/notesMasters/notesMaster1.xml" Id="R4cd8a1e259274f0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1bbf36ac14543ed" /><Relationship Type="http://schemas.openxmlformats.org/officeDocument/2006/relationships/notesMaster" Target="/ppt/notesMasters/notesMaster1.xml" Id="R37b3134486114a4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31d54423f4c4393" /><Relationship Type="http://schemas.openxmlformats.org/officeDocument/2006/relationships/notesMaster" Target="/ppt/notesMasters/notesMaster1.xml" Id="R80af5737065145e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68eb35175f448a8" /><Relationship Type="http://schemas.openxmlformats.org/officeDocument/2006/relationships/notesMaster" Target="/ppt/notesMasters/notesMaster1.xml" Id="R2558f6e7e7d447d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add7a9b663244f1" /><Relationship Type="http://schemas.openxmlformats.org/officeDocument/2006/relationships/notesMaster" Target="/ppt/notesMasters/notesMaster1.xml" Id="Rdabe00f3ff85448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38a629d0c784387" /><Relationship Type="http://schemas.openxmlformats.org/officeDocument/2006/relationships/notesMaster" Target="/ppt/notesMasters/notesMaster1.xml" Id="R7530cb80d90b4f8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066b2e2bb1149b9" /><Relationship Type="http://schemas.openxmlformats.org/officeDocument/2006/relationships/notesMaster" Target="/ppt/notesMasters/notesMaster1.xml" Id="Rc4e93211d3594aa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e2f6dca4e444ca3" /><Relationship Type="http://schemas.openxmlformats.org/officeDocument/2006/relationships/notesMaster" Target="/ppt/notesMasters/notesMaster1.xml" Id="Rdb03259682684ce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c6db948aa594470" /><Relationship Type="http://schemas.openxmlformats.org/officeDocument/2006/relationships/notesMaster" Target="/ppt/notesMasters/notesMaster1.xml" Id="R5459ab71f50f467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209ffa5951f4006" /><Relationship Type="http://schemas.openxmlformats.org/officeDocument/2006/relationships/notesMaster" Target="/ppt/notesMasters/notesMaster1.xml" Id="Rd314e2185eaf42c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bea6f18ea574461" /><Relationship Type="http://schemas.openxmlformats.org/officeDocument/2006/relationships/notesMaster" Target="/ppt/notesMasters/notesMaster1.xml" Id="R651bd9edab014bf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ab19a6ed1d540f1" /><Relationship Type="http://schemas.openxmlformats.org/officeDocument/2006/relationships/notesMaster" Target="/ppt/notesMasters/notesMaster1.xml" Id="R2d633fcf0e8d4b3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37a164993ea40e6" /><Relationship Type="http://schemas.openxmlformats.org/officeDocument/2006/relationships/notesMaster" Target="/ppt/notesMasters/notesMaster1.xml" Id="Rcf37c65c2ae5465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4941c7a8ea1444c" /><Relationship Type="http://schemas.openxmlformats.org/officeDocument/2006/relationships/notesMaster" Target="/ppt/notesMasters/notesMaster1.xml" Id="R661599ec45894fe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https://davidchivers.co.uk/teaching/macro-applications/lecture_4.html#/title-slide</a:t>
            </a:r>
          </a:p>
          <a:p xmlns:a="http://schemas.openxmlformats.org/drawingml/2006/main">
            <a:r>
              <a:t/>
            </a:r>
          </a:p>
          <a:p xmlns:a="http://schemas.openxmlformats.org/drawingml/2006/main">
            <a:r>
              <a:t>The Economics of Brexit Lecture 4: Migration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https://davidchivers.co.uk/teaching/macro-applications/lecture_4.html#/l4-s02</a:t>
            </a:r>
          </a:p>
          <a:p xmlns:a="http://schemas.openxmlformats.org/drawingml/2006/main">
            <a:r>
              <a:t/>
            </a:r>
          </a:p>
          <a:p xmlns:a="http://schemas.openxmlformats.org/drawingml/2006/main">
            <a:r>
              <a:t>Context “Free movement of workers is a fundamental principle” … “enshrined in Article 45 of the Treaty on the Functioning of the European Union and developed by EU secondary legislation”. “Free movement of workers also applies, in general terms, to the countries in the European Economic Area: Iceland, Liechtenstein and Norway”. European Commission: free movement of workers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http://ec.europa.eu/social/main.jsp?catId=457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https://davidchivers.co.uk/teaching/macro-applications/lecture_4.html#/l4-s03</a:t>
            </a:r>
          </a:p>
          <a:p xmlns:a="http://schemas.openxmlformats.org/drawingml/2006/main">
            <a:r>
              <a:t/>
            </a:r>
          </a:p>
          <a:p xmlns:a="http://schemas.openxmlformats.org/drawingml/2006/main">
            <a:r>
              <a:t>Brexit and free movement of people Theresa May · 2 October 2016 “I want it to give British companies the maximum freedom to trade with and operate in the Single Market – and let European businesses do the same here.” “But let me be clear. We are not leaving the European Union only to give up control of immigration again.” Angela Merkel · 6 October 2016 “Brexit negotiations won’t be easy. If we don’t say full access to the internal market is linked to full freedom of movement, then a movement will spread in Europe where everyone just does whatever they want.”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http://www.independent.co.uk/news/uk/politics/theresa-may-hard-brexit-soft-article-free-movement-deal-single-market-access-a7341886.html</a:t>
            </a:r>
          </a:p>
          <a:p xmlns:a="http://schemas.openxmlformats.org/drawingml/2006/main">
            <a:r>
              <a:t>http://www.bbc.co.uk/news/world-europe-37632305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https://davidchivers.co.uk/teaching/macro-applications/lecture_4.html#/l4-s04</a:t>
            </a:r>
          </a:p>
          <a:p xmlns:a="http://schemas.openxmlformats.org/drawingml/2006/main">
            <a:r>
              <a:t/>
            </a:r>
          </a:p>
          <a:p xmlns:a="http://schemas.openxmlformats.org/drawingml/2006/main">
            <a:r>
              <a:t>Learning objectives After this topic, you will be able to: Discuss the evidence on the migration flows in Europe. Analyse the economic effects of migration. direct effects (wages, unemployment) indirect effects (welfare state, innovation) Analyse the effects of free trade in goods and services on domestic labour markets (e.g. wages, unemployment). Analyse the interplay between free mobility of goods and people.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https://davidchivers.co.uk/teaching/macro-applications/lecture_4.html#/l4-s05</a:t>
            </a:r>
          </a:p>
          <a:p xmlns:a="http://schemas.openxmlformats.org/drawingml/2006/main">
            <a:r>
              <a:t/>
            </a:r>
          </a:p>
          <a:p xmlns:a="http://schemas.openxmlformats.org/drawingml/2006/main">
            <a:r>
              <a:t>EU enlargement towards the East Source: OECD (2012)</a:t>
            </a:r>
          </a:p>
          <a:p xmlns:a="http://schemas.openxmlformats.org/drawingml/2006/main">
            <a:r>
              <a:t/>
            </a:r>
          </a:p>
          <a:p xmlns:a="http://schemas.openxmlformats.org/drawingml/2006/main">
            <a:r>
              <a:t>OECD bar chart showing the stock of EU8 and EU2 nationals in EU15 countries increasing from the late 1990s to 2010, with faster growth after the 2004 enlargement.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https://davidchivers.co.uk/teaching/macro-applications/lecture_4.html#/l4-s06</a:t>
            </a:r>
          </a:p>
          <a:p xmlns:a="http://schemas.openxmlformats.org/drawingml/2006/main">
            <a:r>
              <a:t/>
            </a:r>
          </a:p>
          <a:p xmlns:a="http://schemas.openxmlformats.org/drawingml/2006/main">
            <a:r>
              <a:t>Behind the migration flows Source: OECD (2012)</a:t>
            </a:r>
          </a:p>
          <a:p xmlns:a="http://schemas.openxmlformats.org/drawingml/2006/main">
            <a:r>
              <a:t/>
            </a:r>
          </a:p>
          <a:p xmlns:a="http://schemas.openxmlformats.org/drawingml/2006/main">
            <a:r>
              <a:t>OECD scatter plot relating post-accession emigration rates to relative GDP per capita for accession countries. The points show the cross-country relationship rather than a causal estimate.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https://davidchivers.co.uk/teaching/macro-applications/lecture_4.html#/l4-s07</a:t>
            </a:r>
          </a:p>
          <a:p xmlns:a="http://schemas.openxmlformats.org/drawingml/2006/main">
            <a:r>
              <a:t/>
            </a:r>
          </a:p>
          <a:p xmlns:a="http://schemas.openxmlformats.org/drawingml/2006/main">
            <a:r>
              <a:t>Intra-EU labour mobility Source: OECD (2012)</a:t>
            </a:r>
          </a:p>
          <a:p xmlns:a="http://schemas.openxmlformats.org/drawingml/2006/main">
            <a:r>
              <a:t/>
            </a:r>
          </a:p>
          <a:p xmlns:a="http://schemas.openxmlformats.org/drawingml/2006/main">
            <a:r>
              <a:t>OECD bars showing EU immigrants living in EU15 countries as a percentage of the working-age population in 2009, separating EU12 from other EU15 origins.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https://davidchivers.co.uk/teaching/macro-applications/lecture_4.html#/l4-s08</a:t>
            </a:r>
          </a:p>
          <a:p xmlns:a="http://schemas.openxmlformats.org/drawingml/2006/main">
            <a:r>
              <a:t/>
            </a:r>
          </a:p>
          <a:p xmlns:a="http://schemas.openxmlformats.org/drawingml/2006/main">
            <a:r>
              <a:t>EU and the rest of the world</a:t>
            </a:r>
          </a:p>
          <a:p xmlns:a="http://schemas.openxmlformats.org/drawingml/2006/main">
            <a:r>
              <a:t/>
            </a:r>
          </a:p>
          <a:p xmlns:a="http://schemas.openxmlformats.org/drawingml/2006/main">
            <a:r>
              <a:t>Net migration rates in EU27 countries for 1998 and 2009. Countries differ in sign and magnitude; Luxembourg has a particularly high positive rate.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https://davidchivers.co.uk/teaching/macro-applications/lecture_4.html#/l4-s09</a:t>
            </a:r>
          </a:p>
          <a:p xmlns:a="http://schemas.openxmlformats.org/drawingml/2006/main">
            <a:r>
              <a:t/>
            </a:r>
          </a:p>
          <a:p xmlns:a="http://schemas.openxmlformats.org/drawingml/2006/main">
            <a:r>
              <a:t>Immigration in the UK Source: OECD, International migration database and other data. Own calculations.</a:t>
            </a:r>
          </a:p>
          <a:p xmlns:a="http://schemas.openxmlformats.org/drawingml/2006/main">
            <a:r>
              <a:t/>
            </a:r>
          </a:p>
          <a:p xmlns:a="http://schemas.openxmlformats.org/drawingml/2006/main">
            <a:r>
              <a:t>Line chart showing the stock of foreign population in the UK as a share of working-age population, rising from roughly 4 percent in 2003 to more than 7 percent in 2013.</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https://davidchivers.co.uk/teaching/macro-applications/lecture_4.html#/l4-s10</a:t>
            </a:r>
          </a:p>
          <a:p xmlns:a="http://schemas.openxmlformats.org/drawingml/2006/main">
            <a:r>
              <a:t/>
            </a:r>
          </a:p>
          <a:p xmlns:a="http://schemas.openxmlformats.org/drawingml/2006/main">
            <a:r>
              <a:t>Immigration in the UK: by country Stock of foreign nationals in the UK as a percentage of the working-age population, by country, 2003–2013. Source: OECD International Migration Database and other data. Own calculations.</a:t>
            </a:r>
          </a:p>
          <a:p xmlns:a="http://schemas.openxmlformats.org/drawingml/2006/main">
            <a:r>
              <a:t/>
            </a:r>
          </a:p>
          <a:p xmlns:a="http://schemas.openxmlformats.org/drawingml/2006/main">
            <a:r>
              <a:t>UK foreign-national population shares by origin, 2003 to 2013. Polish nationals show the largest increase; German, Portuguese, Irish and Indian series are also shown.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https://davidchivers.co.uk/teaching/macro-applications/lecture_4.html#/l4-s11</a:t>
            </a:r>
          </a:p>
          <a:p xmlns:a="http://schemas.openxmlformats.org/drawingml/2006/main">
            <a:r>
              <a:t/>
            </a:r>
          </a:p>
          <a:p xmlns:a="http://schemas.openxmlformats.org/drawingml/2006/main">
            <a:r>
              <a:t>Facts Data show that the migration from the EU12 to the EU15 accelerated after the 2004 enlargement. The stock of foreign EU citizens as a percentage of the working population was less than 5% in most EU15 countries in 2009. Although most countries in the EU experience positive net migration from the RoW, net migration rates are less than 0.8% in all EU15 countries (Luxembourg is an exception). In the UK, immigration has risen over time.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https://davidchivers.co.uk/teaching/macro-applications/lecture_4.html#/l4-s12</a:t>
            </a:r>
          </a:p>
          <a:p xmlns:a="http://schemas.openxmlformats.org/drawingml/2006/main">
            <a:r>
              <a:t/>
            </a:r>
          </a:p>
          <a:p xmlns:a="http://schemas.openxmlformats.org/drawingml/2006/main">
            <a:r>
              <a:t>Migration with flexible wages Two countries Two factors of production (capital and labour). Capital cannot be adjusted. Labour supply is perfectly inelastic. Countries have different wages to start with: Heterogeneous productivities Heterogeneous country size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https://davidchivers.co.uk/teaching/macro-applications/lecture_4.html#/l4-s13</a:t>
            </a:r>
          </a:p>
          <a:p xmlns:a="http://schemas.openxmlformats.org/drawingml/2006/main">
            <a:r>
              <a:t/>
            </a:r>
          </a:p>
          <a:p xmlns:a="http://schemas.openxmlformats.org/drawingml/2006/main">
            <a:r>
              <a:t>Closed economies</a:t>
            </a:r>
          </a:p>
          <a:p xmlns:a="http://schemas.openxmlformats.org/drawingml/2006/main">
            <a:r>
              <a:t/>
            </a:r>
          </a:p>
          <a:p xmlns:a="http://schemas.openxmlformats.org/drawingml/2006/main">
            <a:r>
              <a:t>Two-country labour allocation with fixed capital. Marginal product of labour falls as employment rises in each country. Initially the high-wage country has wage w and the low-wage country wage w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https://davidchivers.co.uk/teaching/macro-applications/lecture_4.html#/l4-s14</a:t>
            </a:r>
          </a:p>
          <a:p xmlns:a="http://schemas.openxmlformats.org/drawingml/2006/main">
            <a:r>
              <a:t/>
            </a:r>
          </a:p>
          <a:p xmlns:a="http://schemas.openxmlformats.org/drawingml/2006/main">
            <a:r>
              <a:t>Migration</a:t>
            </a:r>
          </a:p>
          <a:p xmlns:a="http://schemas.openxmlformats.org/drawingml/2006/main">
            <a:r>
              <a:t/>
            </a:r>
          </a:p>
          <a:p xmlns:a="http://schemas.openxmlformats.org/drawingml/2006/main">
            <a:r>
              <a:t>Migration reallocates labour from the low-wage country to the high-wage country. Employment moves from L to L prime, lowering the high wage and raising the low wage towards a common wage.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https://davidchivers.co.uk/teaching/macro-applications/lecture_4.html#/l4-s15</a:t>
            </a:r>
          </a:p>
          <a:p xmlns:a="http://schemas.openxmlformats.org/drawingml/2006/main">
            <a:r>
              <a:t/>
            </a:r>
          </a:p>
          <a:p xmlns:a="http://schemas.openxmlformats.org/drawingml/2006/main">
            <a:r>
              <a:t>Division of income</a:t>
            </a:r>
          </a:p>
          <a:p xmlns:a="http://schemas.openxmlformats.org/drawingml/2006/main">
            <a:r>
              <a:t/>
            </a:r>
          </a:p>
          <a:p xmlns:a="http://schemas.openxmlformats.org/drawingml/2006/main">
            <a:r>
              <a:t>Division of income under the marginal-product curve. The wage times employment rectangle goes to labour; the area above the wage and below marginal product goes to capital.</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https://davidchivers.co.uk/teaching/macro-applications/lecture_4.html#/l4-s16</a:t>
            </a:r>
          </a:p>
          <a:p xmlns:a="http://schemas.openxmlformats.org/drawingml/2006/main">
            <a:r>
              <a:t/>
            </a:r>
          </a:p>
          <a:p xmlns:a="http://schemas.openxmlformats.org/drawingml/2006/main">
            <a:r>
              <a:t>Welfare</a:t>
            </a:r>
          </a:p>
          <a:p xmlns:a="http://schemas.openxmlformats.org/drawingml/2006/main">
            <a:r>
              <a:t/>
            </a:r>
          </a:p>
          <a:p xmlns:a="http://schemas.openxmlformats.org/drawingml/2006/main">
            <a:r>
              <a:t>Two-country migration welfare diagram with areas A to J. The high-wage country’s net gain is C and the low-wage country’s net gain is D, although workers and capital owners are affected differently.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https://davidchivers.co.uk/teaching/macro-applications/lecture_4.html#/l4-s17</a:t>
            </a:r>
          </a:p>
          <a:p xmlns:a="http://schemas.openxmlformats.org/drawingml/2006/main">
            <a:r>
              <a:t/>
            </a:r>
          </a:p>
          <a:p xmlns:a="http://schemas.openxmlformats.org/drawingml/2006/main">
            <a:r>
              <a:t>Welfare In the high-wage (low-wage) country, domestic workers lose (gain) while capitalists gain (lose). Manacorda et al. (2012) have empirically shown that migration had no significant effect on the wages of UK natives. However, both countries gain from migration overall. Governments can address the uneven effects of migration using side payments. If migrants to the high-wage country are fiscal residents there, they will pay their taxes to the local government.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https://davidchivers.co.uk/teaching/macro-applications/lecture_4.html#/l4-s18</a:t>
            </a:r>
          </a:p>
          <a:p xmlns:a="http://schemas.openxmlformats.org/drawingml/2006/main">
            <a:r>
              <a:t/>
            </a:r>
          </a:p>
          <a:p xmlns:a="http://schemas.openxmlformats.org/drawingml/2006/main">
            <a:r>
              <a:t>Skilled and unskilled migration What about “skilled” and “unskilled” immigration?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https://davidchivers.co.uk/teaching/macro-applications/lecture_4.html#/l4-s19</a:t>
            </a:r>
          </a:p>
          <a:p xmlns:a="http://schemas.openxmlformats.org/drawingml/2006/main">
            <a:r>
              <a:t/>
            </a:r>
          </a:p>
          <a:p xmlns:a="http://schemas.openxmlformats.org/drawingml/2006/main">
            <a:r>
              <a:t>Heckscher-Ohlin theory of international trade Countries specialise in the sector that is intensive in the abundant factor (partial specialisation). The skilled-abundant country specialises in the skilled-intensive sector. The unskilled-abundant country specialises in the unskilled-intensive sector. This has an impact on the countries’ labour markets. The demand for skilled (unskilled) workers in the skilled-abundant country increases (decreases). The demand for unskilled (skilled) workers in the unskilled-abundant country increases (decreases).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https://davidchivers.co.uk/teaching/macro-applications/lecture_4.html#/l4-s20</a:t>
            </a:r>
          </a:p>
          <a:p xmlns:a="http://schemas.openxmlformats.org/drawingml/2006/main">
            <a:r>
              <a:t/>
            </a:r>
          </a:p>
          <a:p xmlns:a="http://schemas.openxmlformats.org/drawingml/2006/main">
            <a:r>
              <a:t>Migration under free trade Migration offsets some of the effects of international trade. Unskilled workers in the skilled-abundant country could move to the other country where the wage is higher, reducing unemployment at home. Skilled workers in the unskilled-abundant country could move to the other country to offset the negative impact of trade on their wage. The effects of international trade on unemployment depend on the model’s assumptions (Ricardian vs. Heckscher-Ohlin). Empirically, Dutt et al. (2009) show that trade openness and unemployment are negatively related in the long run.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https://davidchivers.co.uk/teaching/macro-applications/lecture_4.html#/l4-s21</a:t>
            </a:r>
          </a:p>
          <a:p xmlns:a="http://schemas.openxmlformats.org/drawingml/2006/main">
            <a:r>
              <a:t/>
            </a:r>
          </a:p>
          <a:p xmlns:a="http://schemas.openxmlformats.org/drawingml/2006/main">
            <a:r>
              <a:t>Migration Key question : are migration rates in EU too small or too big? Answer: if labour markets are sufficiently open, then wage differentials should be neutralised. Have wages converged across Europe?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https://davidchivers.co.uk/teaching/macro-applications/lecture_4.html#/l4-s22</a:t>
            </a:r>
          </a:p>
          <a:p xmlns:a="http://schemas.openxmlformats.org/drawingml/2006/main">
            <a:r>
              <a:t/>
            </a:r>
          </a:p>
          <a:p xmlns:a="http://schemas.openxmlformats.org/drawingml/2006/main">
            <a:r>
              <a:t>Wage differentials Source: Eurostat. Gross annual earnings in euros, before income tax and employee social security contributions. Full-time employees in enterprises with more than 10 employees. Years: 2009 and 2011.</a:t>
            </a:r>
          </a:p>
          <a:p xmlns:a="http://schemas.openxmlformats.org/drawingml/2006/main">
            <a:r>
              <a:t/>
            </a:r>
          </a:p>
          <a:p xmlns:a="http://schemas.openxmlformats.org/drawingml/2006/main">
            <a:r>
              <a:t>Eurostat chart comparing average gross annual earnings in industry and services across European countries in 2009 and 2011. Substantial cross-country wage differences remain.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https://davidchivers.co.uk/teaching/macro-applications/lecture_4.html#/l4-s23</a:t>
            </a:r>
          </a:p>
          <a:p xmlns:a="http://schemas.openxmlformats.org/drawingml/2006/main">
            <a:r>
              <a:t/>
            </a:r>
          </a:p>
          <a:p xmlns:a="http://schemas.openxmlformats.org/drawingml/2006/main">
            <a:r>
              <a:t>Barriers to intra-EU labour mobility Lack of pension transferability. Cross-country information about job vacancies remains scarce. Recognition of professional qualifications is problematic. Public sector jobs are mostly closed to non-nationals. Housing market policies. Source: OECD (2012)</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https://davidchivers.co.uk/teaching/macro-applications/lecture_4.html#/l4-s24</a:t>
            </a:r>
          </a:p>
          <a:p xmlns:a="http://schemas.openxmlformats.org/drawingml/2006/main">
            <a:r>
              <a:t/>
            </a:r>
          </a:p>
          <a:p xmlns:a="http://schemas.openxmlformats.org/drawingml/2006/main">
            <a:r>
              <a:t>Summing up the theory Migration implies a net increase in welfare for all the countries involved, although governments would need to compensate workers (capitalists) in high-wage (low-wage) countries. Wage differentials in the EU are big as the costs of migrating are high due to institutional differences across countries. There is no evidence of a negative impact of migration on wages in the UK.</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https://davidchivers.co.uk/teaching/macro-applications/lecture_4.html#/l4-s25</a:t>
            </a:r>
          </a:p>
          <a:p xmlns:a="http://schemas.openxmlformats.org/drawingml/2006/main">
            <a:r>
              <a:t/>
            </a:r>
          </a:p>
          <a:p xmlns:a="http://schemas.openxmlformats.org/drawingml/2006/main">
            <a:r>
              <a:t>Summing up the evidence Empirical evidence suggests that international trade is associated with lower overall unemployment in countries. There is little evidence on the impact of migration on unemployment. In seminar 2, we will talk about the indirect effects of migration (welfare state and innovation).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https://davidchivers.co.uk/teaching/macro-applications/lecture_4.html#/l4-next</a:t>
            </a:r>
          </a:p>
          <a:p xmlns:a="http://schemas.openxmlformats.org/drawingml/2006/main">
            <a:r>
              <a:t/>
            </a:r>
          </a:p>
          <a:p xmlns:a="http://schemas.openxmlformats.org/drawingml/2006/main">
            <a:r>
              <a:t>Next lecture Regional disparities Why can integration benefit some regions more than others? Preparation: Revise the Solow model, economies of scale and agglomeration.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https://davidchivers.co.uk/teaching/macro-applications/lecture_4.html#/l4-s26</a:t>
            </a:r>
          </a:p>
          <a:p xmlns:a="http://schemas.openxmlformats.org/drawingml/2006/main">
            <a:r>
              <a:t/>
            </a:r>
          </a:p>
          <a:p xmlns:a="http://schemas.openxmlformats.org/drawingml/2006/main">
            <a:r>
              <a:t>References Essential reading Baldwin and Wyplosz, The Economics of European Integration , “Labour markets and migration” (Chapter 8 in the seventh edition) . Bosetti V., Cattaneo C., Verdolini E. (2015), Migration of skilled workers and innovation: A European Perspective, Journal of International Economics, 96, 311-322. Dustmann C., Frattini T., Halls C. (2010), Assessing the Fiscal Costs and Benefits of A8 Migration to the UK, Fiscal Studies, 31 (1), pp. 1-41. Other editions are fine; find the chapter by its title.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https://davidchivers.co.uk/teaching/macro-applications/lecture_4.html#/l4-s27</a:t>
            </a:r>
          </a:p>
          <a:p xmlns:a="http://schemas.openxmlformats.org/drawingml/2006/main">
            <a:r>
              <a:t/>
            </a:r>
          </a:p>
          <a:p xmlns:a="http://schemas.openxmlformats.org/drawingml/2006/main">
            <a:r>
              <a:t>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179d2cc8b04a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d2380af094b4d4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fed050d41e4437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5086d7272444a8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3c8c060ff9a43b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e584f52633344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587E33-663B-4156-90FF-D891CE96CCB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791EE62-5961-449D-86A7-BB65005782E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51EE39-0D1E-46B6-A63F-9CD0A1CC9ED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FA7FF8-9D59-4AA3-B2E1-B54D225971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7FF47B0-CED3-4F73-96E2-B96CA5FBBF6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0CCFE9E-4CB3-4E1A-815D-908E602A20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C30BE8E-9765-43ED-B6F5-215F83C7430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3610084-ABF5-48DE-925D-018F71B0739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0E46FDB-5779-43C0-93EA-B3D26B3175C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C327028-07AB-4865-A018-00C20F63824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2107029be4443d8" /><Relationship Type="http://schemas.openxmlformats.org/officeDocument/2006/relationships/slideLayout" Target="/ppt/slideLayouts/slideLayout1.xml" Id="Rfae775cb83f64e6f" /><Relationship Type="http://schemas.openxmlformats.org/officeDocument/2006/relationships/slideLayout" Target="/ppt/slideLayouts/slideLayout2.xml" Id="R9d4f0b4cb7ee4493" /><Relationship Type="http://schemas.openxmlformats.org/officeDocument/2006/relationships/slideLayout" Target="/ppt/slideLayouts/slideLayout3.xml" Id="Rbc4966ff6bdd4b8e" /><Relationship Type="http://schemas.openxmlformats.org/officeDocument/2006/relationships/slideLayout" Target="/ppt/slideLayouts/slideLayout4.xml" Id="R5ca2383687224c4b" /><Relationship Type="http://schemas.openxmlformats.org/officeDocument/2006/relationships/slideLayout" Target="/ppt/slideLayouts/slideLayout5.xml" Id="R8cee67db85844551" /><Relationship Type="http://schemas.openxmlformats.org/officeDocument/2006/relationships/slideLayout" Target="/ppt/slideLayouts/slideLayout6.xml" Id="R5273af66dc494b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e775cb83f64e6f"/>
    <p:sldLayoutId xmlns:r="http://schemas.openxmlformats.org/officeDocument/2006/relationships" id="2147483650" r:id="R9d4f0b4cb7ee4493"/>
    <p:sldLayoutId xmlns:r="http://schemas.openxmlformats.org/officeDocument/2006/relationships" id="2147483651" r:id="Rbc4966ff6bdd4b8e"/>
    <p:sldLayoutId xmlns:r="http://schemas.openxmlformats.org/officeDocument/2006/relationships" id="2147483652" r:id="R5ca2383687224c4b"/>
    <p:sldLayoutId xmlns:r="http://schemas.openxmlformats.org/officeDocument/2006/relationships" id="2147483653" r:id="R8cee67db85844551"/>
    <p:sldLayoutId xmlns:r="http://schemas.openxmlformats.org/officeDocument/2006/relationships" id="2147483654" r:id="R5273af66dc494b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691ec900d3a49a0" /><Relationship Type="http://schemas.openxmlformats.org/officeDocument/2006/relationships/image" Target="/ppt/media/image.jpeg" Id="R8b6cf729281d4fd9" /><Relationship Type="http://schemas.openxmlformats.org/officeDocument/2006/relationships/notesSlide" Target="/ppt/notesSlides/notesSlide1.xml" Id="Rebfdac0d242a42d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7b07a637f244657" /><Relationship Type="http://schemas.openxmlformats.org/officeDocument/2006/relationships/image" Target="/ppt/media/image2.jpeg" Id="R6158fd01933e476c" /><Relationship Type="http://schemas.openxmlformats.org/officeDocument/2006/relationships/notesSlide" Target="/ppt/notesSlides/notesSlide2.xml" Id="Rd743bd029ff6497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dbe2d116df4a15" /><Relationship Type="http://schemas.openxmlformats.org/officeDocument/2006/relationships/image" Target="/ppt/media/image3.jpeg" Id="R11ace4d2bf4e4403" /><Relationship Type="http://schemas.openxmlformats.org/officeDocument/2006/relationships/notesSlide" Target="/ppt/notesSlides/notesSlide3.xml" Id="Re2fb1235125843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b9ab72ed2b04a35" /><Relationship Type="http://schemas.openxmlformats.org/officeDocument/2006/relationships/image" Target="/ppt/media/image4.jpeg" Id="R0c13c53f9ad4416a" /><Relationship Type="http://schemas.openxmlformats.org/officeDocument/2006/relationships/notesSlide" Target="/ppt/notesSlides/notesSlide4.xml" Id="R9f3cef72621949b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8f3db9ad0ef4ccc" /><Relationship Type="http://schemas.openxmlformats.org/officeDocument/2006/relationships/image" Target="/ppt/media/image5.jpeg" Id="R5db867881f7c47fc" /><Relationship Type="http://schemas.openxmlformats.org/officeDocument/2006/relationships/notesSlide" Target="/ppt/notesSlides/notesSlide5.xml" Id="Rfbfdbd4ec15b436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0c494e2b5af4f2b" /><Relationship Type="http://schemas.openxmlformats.org/officeDocument/2006/relationships/image" Target="/ppt/media/image6.jpeg" Id="Rb62829581b8b4f29" /><Relationship Type="http://schemas.openxmlformats.org/officeDocument/2006/relationships/notesSlide" Target="/ppt/notesSlides/notesSlide6.xml" Id="R30bccd3642ff4e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19d964f52804cfa" /><Relationship Type="http://schemas.openxmlformats.org/officeDocument/2006/relationships/image" Target="/ppt/media/image7.jpeg" Id="R35fe7ff6f4e44543" /><Relationship Type="http://schemas.openxmlformats.org/officeDocument/2006/relationships/notesSlide" Target="/ppt/notesSlides/notesSlide7.xml" Id="Ra8f6cd952f39417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981634cde584c56" /><Relationship Type="http://schemas.openxmlformats.org/officeDocument/2006/relationships/image" Target="/ppt/media/image8.jpeg" Id="R23cf54db2b824467" /><Relationship Type="http://schemas.openxmlformats.org/officeDocument/2006/relationships/notesSlide" Target="/ppt/notesSlides/notesSlide8.xml" Id="R3657793e651f42f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bf949d1a9484061" /><Relationship Type="http://schemas.openxmlformats.org/officeDocument/2006/relationships/image" Target="/ppt/media/image9.jpeg" Id="R5556549f5eb44788" /><Relationship Type="http://schemas.openxmlformats.org/officeDocument/2006/relationships/notesSlide" Target="/ppt/notesSlides/notesSlide9.xml" Id="R26ff0fba38ad4a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1441cdbb71e4cfc" /><Relationship Type="http://schemas.openxmlformats.org/officeDocument/2006/relationships/image" Target="/ppt/media/image10.jpeg" Id="R48f01764468b4b1e" /><Relationship Type="http://schemas.openxmlformats.org/officeDocument/2006/relationships/notesSlide" Target="/ppt/notesSlides/notesSlide10.xml" Id="Rc784eb1873bf4ea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c8382646eb24e57" /><Relationship Type="http://schemas.openxmlformats.org/officeDocument/2006/relationships/image" Target="/ppt/media/image11.jpeg" Id="R9422d46763ca497f" /><Relationship Type="http://schemas.openxmlformats.org/officeDocument/2006/relationships/notesSlide" Target="/ppt/notesSlides/notesSlide11.xml" Id="R1b3ffa58668b4d5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efdefaf07a5469c" /><Relationship Type="http://schemas.openxmlformats.org/officeDocument/2006/relationships/image" Target="/ppt/media/image12.jpeg" Id="R766df4c41d734de7" /><Relationship Type="http://schemas.openxmlformats.org/officeDocument/2006/relationships/notesSlide" Target="/ppt/notesSlides/notesSlide12.xml" Id="Rf42c2a56a6e8440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b0e489150a54d71" /><Relationship Type="http://schemas.openxmlformats.org/officeDocument/2006/relationships/image" Target="/ppt/media/image13.jpeg" Id="R6a4e2a0e89f34e43" /><Relationship Type="http://schemas.openxmlformats.org/officeDocument/2006/relationships/notesSlide" Target="/ppt/notesSlides/notesSlide13.xml" Id="R5a2a4d23ac2f4eb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fab0359920844a4" /><Relationship Type="http://schemas.openxmlformats.org/officeDocument/2006/relationships/image" Target="/ppt/media/image14.jpeg" Id="R3f57ab90d79d4548" /><Relationship Type="http://schemas.openxmlformats.org/officeDocument/2006/relationships/notesSlide" Target="/ppt/notesSlides/notesSlide14.xml" Id="R4db29a90ebc940f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3f660bff3094656" /><Relationship Type="http://schemas.openxmlformats.org/officeDocument/2006/relationships/image" Target="/ppt/media/image15.jpeg" Id="R95012f54e0cb45ea" /><Relationship Type="http://schemas.openxmlformats.org/officeDocument/2006/relationships/notesSlide" Target="/ppt/notesSlides/notesSlide15.xml" Id="R04bea4b6372c4fd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5c75936e4264e42" /><Relationship Type="http://schemas.openxmlformats.org/officeDocument/2006/relationships/image" Target="/ppt/media/image16.jpeg" Id="Rdd925d2614f840bd" /><Relationship Type="http://schemas.openxmlformats.org/officeDocument/2006/relationships/notesSlide" Target="/ppt/notesSlides/notesSlide16.xml" Id="R1bc5c5e18f5140f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8cebc57c3ec4053" /><Relationship Type="http://schemas.openxmlformats.org/officeDocument/2006/relationships/image" Target="/ppt/media/image17.jpeg" Id="R38baa3caf6cc42a6" /><Relationship Type="http://schemas.openxmlformats.org/officeDocument/2006/relationships/notesSlide" Target="/ppt/notesSlides/notesSlide17.xml" Id="R30c4a212bc2544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81e660a57c74418" /><Relationship Type="http://schemas.openxmlformats.org/officeDocument/2006/relationships/image" Target="/ppt/media/image18.jpeg" Id="R939fa24974624fa8" /><Relationship Type="http://schemas.openxmlformats.org/officeDocument/2006/relationships/notesSlide" Target="/ppt/notesSlides/notesSlide18.xml" Id="Rb42526401614476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31028d7c87a40e3" /><Relationship Type="http://schemas.openxmlformats.org/officeDocument/2006/relationships/image" Target="/ppt/media/image19.jpeg" Id="Rfc0be8f18edf43da" /><Relationship Type="http://schemas.openxmlformats.org/officeDocument/2006/relationships/notesSlide" Target="/ppt/notesSlides/notesSlide19.xml" Id="R68b0551edc87409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29b7faf547641fa" /><Relationship Type="http://schemas.openxmlformats.org/officeDocument/2006/relationships/image" Target="/ppt/media/image20.jpeg" Id="R8f0167a6de574576" /><Relationship Type="http://schemas.openxmlformats.org/officeDocument/2006/relationships/notesSlide" Target="/ppt/notesSlides/notesSlide20.xml" Id="R6853e912e3ad4b8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1432c367e5f4c2f" /><Relationship Type="http://schemas.openxmlformats.org/officeDocument/2006/relationships/image" Target="/ppt/media/image21.jpeg" Id="Rfc75b85ddefe4c8c" /><Relationship Type="http://schemas.openxmlformats.org/officeDocument/2006/relationships/notesSlide" Target="/ppt/notesSlides/notesSlide21.xml" Id="R6bf8574fe7e044b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b00d4e50c354d71" /><Relationship Type="http://schemas.openxmlformats.org/officeDocument/2006/relationships/image" Target="/ppt/media/image22.jpeg" Id="R5dd640a8d52747d9" /><Relationship Type="http://schemas.openxmlformats.org/officeDocument/2006/relationships/notesSlide" Target="/ppt/notesSlides/notesSlide22.xml" Id="R63788ebd34b54b6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2c1189047ee4861" /><Relationship Type="http://schemas.openxmlformats.org/officeDocument/2006/relationships/image" Target="/ppt/media/image23.jpeg" Id="R717e9b9c01db4c3d" /><Relationship Type="http://schemas.openxmlformats.org/officeDocument/2006/relationships/notesSlide" Target="/ppt/notesSlides/notesSlide23.xml" Id="Re9b8370c48f9400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13a145302c8456c" /><Relationship Type="http://schemas.openxmlformats.org/officeDocument/2006/relationships/image" Target="/ppt/media/image24.jpeg" Id="R5b13b25d10504e6e" /><Relationship Type="http://schemas.openxmlformats.org/officeDocument/2006/relationships/notesSlide" Target="/ppt/notesSlides/notesSlide24.xml" Id="R73bcbaf9c292410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11e51bab1d546bd" /><Relationship Type="http://schemas.openxmlformats.org/officeDocument/2006/relationships/image" Target="/ppt/media/image25.jpeg" Id="Rbd7f09e8ca054da0" /><Relationship Type="http://schemas.openxmlformats.org/officeDocument/2006/relationships/notesSlide" Target="/ppt/notesSlides/notesSlide25.xml" Id="R0887c9216e5a482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da8f04a218c4363" /><Relationship Type="http://schemas.openxmlformats.org/officeDocument/2006/relationships/image" Target="/ppt/media/image26.jpeg" Id="R56b52cb2bec24e0e" /><Relationship Type="http://schemas.openxmlformats.org/officeDocument/2006/relationships/notesSlide" Target="/ppt/notesSlides/notesSlide26.xml" Id="R7a818c427e8e4f7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ccd89cf74544c8d" /><Relationship Type="http://schemas.openxmlformats.org/officeDocument/2006/relationships/image" Target="/ppt/media/image27.jpeg" Id="R39db2f9e82ff498a" /><Relationship Type="http://schemas.openxmlformats.org/officeDocument/2006/relationships/notesSlide" Target="/ppt/notesSlides/notesSlide27.xml" Id="R4fc45d82e2dd4c5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7c683f83b824590" /><Relationship Type="http://schemas.openxmlformats.org/officeDocument/2006/relationships/image" Target="/ppt/media/image28.jpeg" Id="Re82b023d31254415" /><Relationship Type="http://schemas.openxmlformats.org/officeDocument/2006/relationships/notesSlide" Target="/ppt/notesSlides/notesSlide28.xml" Id="R6b793cefc5b34b4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0F8C5C6-4EBB-4EC7-96CF-A25928EE4A2D}"/>
              </a:ext>
            </a:extLst>
          </p:cNvPr>
          <p:cNvPicPr>
            <a:picLocks xmlns:a="http://schemas.openxmlformats.org/drawingml/2006/main" noChangeAspect="1"/>
          </p:cNvPicPr>
          <p:nvPr/>
        </p:nvPicPr>
        <p:blipFill>
          <a:blip xmlns:r="http://schemas.openxmlformats.org/officeDocument/2006/relationships" xmlns:a="http://schemas.openxmlformats.org/drawingml/2006/main" r:embed="R8b6cf729281d4fd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2826820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402E5A4-ABFE-4480-BBBD-9D3BCDE637DF}"/>
              </a:ext>
            </a:extLst>
          </p:cNvPr>
          <p:cNvPicPr>
            <a:picLocks xmlns:a="http://schemas.openxmlformats.org/drawingml/2006/main" noChangeAspect="1"/>
          </p:cNvPicPr>
          <p:nvPr/>
        </p:nvPicPr>
        <p:blipFill>
          <a:blip xmlns:r="http://schemas.openxmlformats.org/officeDocument/2006/relationships" xmlns:a="http://schemas.openxmlformats.org/drawingml/2006/main" r:embed="R6158fd01933e476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2702219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126E656-203C-4F8A-88F6-D8E2A26BDD74}"/>
              </a:ext>
            </a:extLst>
          </p:cNvPr>
          <p:cNvPicPr>
            <a:picLocks xmlns:a="http://schemas.openxmlformats.org/drawingml/2006/main" noChangeAspect="1"/>
          </p:cNvPicPr>
          <p:nvPr/>
        </p:nvPicPr>
        <p:blipFill>
          <a:blip xmlns:r="http://schemas.openxmlformats.org/officeDocument/2006/relationships" xmlns:a="http://schemas.openxmlformats.org/drawingml/2006/main" r:embed="R11ace4d2bf4e440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1352715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45E16E6-B140-4B9F-8D75-2617FB098072}"/>
              </a:ext>
            </a:extLst>
          </p:cNvPr>
          <p:cNvPicPr>
            <a:picLocks xmlns:a="http://schemas.openxmlformats.org/drawingml/2006/main" noChangeAspect="1"/>
          </p:cNvPicPr>
          <p:nvPr/>
        </p:nvPicPr>
        <p:blipFill>
          <a:blip xmlns:r="http://schemas.openxmlformats.org/officeDocument/2006/relationships" xmlns:a="http://schemas.openxmlformats.org/drawingml/2006/main" r:embed="R0c13c53f9ad4416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8740130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E77BB77-7DE5-4FEE-B16A-A1671E244519}"/>
              </a:ext>
            </a:extLst>
          </p:cNvPr>
          <p:cNvPicPr>
            <a:picLocks xmlns:a="http://schemas.openxmlformats.org/drawingml/2006/main" noChangeAspect="1"/>
          </p:cNvPicPr>
          <p:nvPr/>
        </p:nvPicPr>
        <p:blipFill>
          <a:blip xmlns:r="http://schemas.openxmlformats.org/officeDocument/2006/relationships" xmlns:a="http://schemas.openxmlformats.org/drawingml/2006/main" r:embed="R5db867881f7c47f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418807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E1856F6-A3C5-49D8-9967-9A8019E75B5C}"/>
              </a:ext>
            </a:extLst>
          </p:cNvPr>
          <p:cNvPicPr>
            <a:picLocks xmlns:a="http://schemas.openxmlformats.org/drawingml/2006/main" noChangeAspect="1"/>
          </p:cNvPicPr>
          <p:nvPr/>
        </p:nvPicPr>
        <p:blipFill>
          <a:blip xmlns:r="http://schemas.openxmlformats.org/officeDocument/2006/relationships" xmlns:a="http://schemas.openxmlformats.org/drawingml/2006/main" r:embed="Rb62829581b8b4f2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9681010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705B3A4-FE86-4619-B4D2-7692C0F62C1D}"/>
              </a:ext>
            </a:extLst>
          </p:cNvPr>
          <p:cNvPicPr>
            <a:picLocks xmlns:a="http://schemas.openxmlformats.org/drawingml/2006/main" noChangeAspect="1"/>
          </p:cNvPicPr>
          <p:nvPr/>
        </p:nvPicPr>
        <p:blipFill>
          <a:blip xmlns:r="http://schemas.openxmlformats.org/officeDocument/2006/relationships" xmlns:a="http://schemas.openxmlformats.org/drawingml/2006/main" r:embed="R35fe7ff6f4e4454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6262208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BF358EF-4C13-4F69-92D8-1944FD8A9258}"/>
              </a:ext>
            </a:extLst>
          </p:cNvPr>
          <p:cNvPicPr>
            <a:picLocks xmlns:a="http://schemas.openxmlformats.org/drawingml/2006/main" noChangeAspect="1"/>
          </p:cNvPicPr>
          <p:nvPr/>
        </p:nvPicPr>
        <p:blipFill>
          <a:blip xmlns:r="http://schemas.openxmlformats.org/officeDocument/2006/relationships" xmlns:a="http://schemas.openxmlformats.org/drawingml/2006/main" r:embed="R23cf54db2b82446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482119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A4B90DB-9A7A-414A-A229-0D740940CD41}"/>
              </a:ext>
            </a:extLst>
          </p:cNvPr>
          <p:cNvPicPr>
            <a:picLocks xmlns:a="http://schemas.openxmlformats.org/drawingml/2006/main" noChangeAspect="1"/>
          </p:cNvPicPr>
          <p:nvPr/>
        </p:nvPicPr>
        <p:blipFill>
          <a:blip xmlns:r="http://schemas.openxmlformats.org/officeDocument/2006/relationships" xmlns:a="http://schemas.openxmlformats.org/drawingml/2006/main" r:embed="R5556549f5eb4478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8322011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146842A-A642-4A58-AF8D-09717BACFD1C}"/>
              </a:ext>
            </a:extLst>
          </p:cNvPr>
          <p:cNvPicPr>
            <a:picLocks xmlns:a="http://schemas.openxmlformats.org/drawingml/2006/main" noChangeAspect="1"/>
          </p:cNvPicPr>
          <p:nvPr/>
        </p:nvPicPr>
        <p:blipFill>
          <a:blip xmlns:r="http://schemas.openxmlformats.org/officeDocument/2006/relationships" xmlns:a="http://schemas.openxmlformats.org/drawingml/2006/main" r:embed="R48f01764468b4b1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2148696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482EBA3-46CA-4DB7-8C3A-7214DC2F9FD5}"/>
              </a:ext>
            </a:extLst>
          </p:cNvPr>
          <p:cNvPicPr>
            <a:picLocks xmlns:a="http://schemas.openxmlformats.org/drawingml/2006/main" noChangeAspect="1"/>
          </p:cNvPicPr>
          <p:nvPr/>
        </p:nvPicPr>
        <p:blipFill>
          <a:blip xmlns:r="http://schemas.openxmlformats.org/officeDocument/2006/relationships" xmlns:a="http://schemas.openxmlformats.org/drawingml/2006/main" r:embed="R9422d46763ca497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9859783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785399B-C54C-44CB-81B7-0C31E2B4EBAC}"/>
              </a:ext>
            </a:extLst>
          </p:cNvPr>
          <p:cNvPicPr>
            <a:picLocks xmlns:a="http://schemas.openxmlformats.org/drawingml/2006/main" noChangeAspect="1"/>
          </p:cNvPicPr>
          <p:nvPr/>
        </p:nvPicPr>
        <p:blipFill>
          <a:blip xmlns:r="http://schemas.openxmlformats.org/officeDocument/2006/relationships" xmlns:a="http://schemas.openxmlformats.org/drawingml/2006/main" r:embed="R766df4c41d734de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8302827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C968F37-277F-49AF-B82F-2CCEEE666BE6}"/>
              </a:ext>
            </a:extLst>
          </p:cNvPr>
          <p:cNvPicPr>
            <a:picLocks xmlns:a="http://schemas.openxmlformats.org/drawingml/2006/main" noChangeAspect="1"/>
          </p:cNvPicPr>
          <p:nvPr/>
        </p:nvPicPr>
        <p:blipFill>
          <a:blip xmlns:r="http://schemas.openxmlformats.org/officeDocument/2006/relationships" xmlns:a="http://schemas.openxmlformats.org/drawingml/2006/main" r:embed="R6a4e2a0e89f34e4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5224465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468833A-FFD7-4D45-B168-7FE8AC7294FC}"/>
              </a:ext>
            </a:extLst>
          </p:cNvPr>
          <p:cNvPicPr>
            <a:picLocks xmlns:a="http://schemas.openxmlformats.org/drawingml/2006/main" noChangeAspect="1"/>
          </p:cNvPicPr>
          <p:nvPr/>
        </p:nvPicPr>
        <p:blipFill>
          <a:blip xmlns:r="http://schemas.openxmlformats.org/officeDocument/2006/relationships" xmlns:a="http://schemas.openxmlformats.org/drawingml/2006/main" r:embed="R3f57ab90d79d454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7241042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5B91DCA-6969-410D-A13F-CC4747250E82}"/>
              </a:ext>
            </a:extLst>
          </p:cNvPr>
          <p:cNvPicPr>
            <a:picLocks xmlns:a="http://schemas.openxmlformats.org/drawingml/2006/main" noChangeAspect="1"/>
          </p:cNvPicPr>
          <p:nvPr/>
        </p:nvPicPr>
        <p:blipFill>
          <a:blip xmlns:r="http://schemas.openxmlformats.org/officeDocument/2006/relationships" xmlns:a="http://schemas.openxmlformats.org/drawingml/2006/main" r:embed="R95012f54e0cb45e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9334172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608BA82-279E-44CE-9159-C56575F5B588}"/>
              </a:ext>
            </a:extLst>
          </p:cNvPr>
          <p:cNvPicPr>
            <a:picLocks xmlns:a="http://schemas.openxmlformats.org/drawingml/2006/main" noChangeAspect="1"/>
          </p:cNvPicPr>
          <p:nvPr/>
        </p:nvPicPr>
        <p:blipFill>
          <a:blip xmlns:r="http://schemas.openxmlformats.org/officeDocument/2006/relationships" xmlns:a="http://schemas.openxmlformats.org/drawingml/2006/main" r:embed="Rdd925d2614f840b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38451632"/>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69A02AC-83B0-4E2D-8C77-AF9FA7D57CCC}"/>
              </a:ext>
            </a:extLst>
          </p:cNvPr>
          <p:cNvPicPr>
            <a:picLocks xmlns:a="http://schemas.openxmlformats.org/drawingml/2006/main" noChangeAspect="1"/>
          </p:cNvPicPr>
          <p:nvPr/>
        </p:nvPicPr>
        <p:blipFill>
          <a:blip xmlns:r="http://schemas.openxmlformats.org/officeDocument/2006/relationships" xmlns:a="http://schemas.openxmlformats.org/drawingml/2006/main" r:embed="R38baa3caf6cc42a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661877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E87AFF6-3DF9-489A-951A-A7EEDE665B9A}"/>
              </a:ext>
            </a:extLst>
          </p:cNvPr>
          <p:cNvPicPr>
            <a:picLocks xmlns:a="http://schemas.openxmlformats.org/drawingml/2006/main" noChangeAspect="1"/>
          </p:cNvPicPr>
          <p:nvPr/>
        </p:nvPicPr>
        <p:blipFill>
          <a:blip xmlns:r="http://schemas.openxmlformats.org/officeDocument/2006/relationships" xmlns:a="http://schemas.openxmlformats.org/drawingml/2006/main" r:embed="R939fa24974624fa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9620141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1CA336D-4E20-41B4-8CDF-C1E6C326D8A9}"/>
              </a:ext>
            </a:extLst>
          </p:cNvPr>
          <p:cNvPicPr>
            <a:picLocks xmlns:a="http://schemas.openxmlformats.org/drawingml/2006/main" noChangeAspect="1"/>
          </p:cNvPicPr>
          <p:nvPr/>
        </p:nvPicPr>
        <p:blipFill>
          <a:blip xmlns:r="http://schemas.openxmlformats.org/officeDocument/2006/relationships" xmlns:a="http://schemas.openxmlformats.org/drawingml/2006/main" r:embed="Rfc0be8f18edf43d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72526161"/>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59188B0-853E-40C9-9A89-6DCDA0971F91}"/>
              </a:ext>
            </a:extLst>
          </p:cNvPr>
          <p:cNvPicPr>
            <a:picLocks xmlns:a="http://schemas.openxmlformats.org/drawingml/2006/main" noChangeAspect="1"/>
          </p:cNvPicPr>
          <p:nvPr/>
        </p:nvPicPr>
        <p:blipFill>
          <a:blip xmlns:r="http://schemas.openxmlformats.org/officeDocument/2006/relationships" xmlns:a="http://schemas.openxmlformats.org/drawingml/2006/main" r:embed="R8f0167a6de57457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1672390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DF5449C-ACFF-41BB-AE3A-181E38D3DDE8}"/>
              </a:ext>
            </a:extLst>
          </p:cNvPr>
          <p:cNvPicPr>
            <a:picLocks xmlns:a="http://schemas.openxmlformats.org/drawingml/2006/main" noChangeAspect="1"/>
          </p:cNvPicPr>
          <p:nvPr/>
        </p:nvPicPr>
        <p:blipFill>
          <a:blip xmlns:r="http://schemas.openxmlformats.org/officeDocument/2006/relationships" xmlns:a="http://schemas.openxmlformats.org/drawingml/2006/main" r:embed="Rfc75b85ddefe4c8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9765665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AEFD491-2FC2-4326-A192-5E645DD6F70A}"/>
              </a:ext>
            </a:extLst>
          </p:cNvPr>
          <p:cNvPicPr>
            <a:picLocks xmlns:a="http://schemas.openxmlformats.org/drawingml/2006/main" noChangeAspect="1"/>
          </p:cNvPicPr>
          <p:nvPr/>
        </p:nvPicPr>
        <p:blipFill>
          <a:blip xmlns:r="http://schemas.openxmlformats.org/officeDocument/2006/relationships" xmlns:a="http://schemas.openxmlformats.org/drawingml/2006/main" r:embed="R5dd640a8d52747d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8187966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34435BE-F3B3-4D3C-9642-F4F16F20715E}"/>
              </a:ext>
            </a:extLst>
          </p:cNvPr>
          <p:cNvPicPr>
            <a:picLocks xmlns:a="http://schemas.openxmlformats.org/drawingml/2006/main" noChangeAspect="1"/>
          </p:cNvPicPr>
          <p:nvPr/>
        </p:nvPicPr>
        <p:blipFill>
          <a:blip xmlns:r="http://schemas.openxmlformats.org/officeDocument/2006/relationships" xmlns:a="http://schemas.openxmlformats.org/drawingml/2006/main" r:embed="R717e9b9c01db4c3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8984404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42CE512-FAA8-41B8-B9D5-D9FF68A9EE5F}"/>
              </a:ext>
            </a:extLst>
          </p:cNvPr>
          <p:cNvPicPr>
            <a:picLocks xmlns:a="http://schemas.openxmlformats.org/drawingml/2006/main" noChangeAspect="1"/>
          </p:cNvPicPr>
          <p:nvPr/>
        </p:nvPicPr>
        <p:blipFill>
          <a:blip xmlns:r="http://schemas.openxmlformats.org/officeDocument/2006/relationships" xmlns:a="http://schemas.openxmlformats.org/drawingml/2006/main" r:embed="R5b13b25d10504e6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3422459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F91DDCB-50DA-4B22-9994-735588A6B920}"/>
              </a:ext>
            </a:extLst>
          </p:cNvPr>
          <p:cNvPicPr>
            <a:picLocks xmlns:a="http://schemas.openxmlformats.org/drawingml/2006/main" noChangeAspect="1"/>
          </p:cNvPicPr>
          <p:nvPr/>
        </p:nvPicPr>
        <p:blipFill>
          <a:blip xmlns:r="http://schemas.openxmlformats.org/officeDocument/2006/relationships" xmlns:a="http://schemas.openxmlformats.org/drawingml/2006/main" r:embed="Rbd7f09e8ca054da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38364074"/>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72E7AD5-AC08-4DEA-B6A1-485CFF2079C5}"/>
              </a:ext>
            </a:extLst>
          </p:cNvPr>
          <p:cNvPicPr>
            <a:picLocks xmlns:a="http://schemas.openxmlformats.org/drawingml/2006/main" noChangeAspect="1"/>
          </p:cNvPicPr>
          <p:nvPr/>
        </p:nvPicPr>
        <p:blipFill>
          <a:blip xmlns:r="http://schemas.openxmlformats.org/officeDocument/2006/relationships" xmlns:a="http://schemas.openxmlformats.org/drawingml/2006/main" r:embed="R56b52cb2bec24e0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95165361"/>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E9E5BD6-76BA-46D2-846E-8D074CDD3DDA}"/>
              </a:ext>
            </a:extLst>
          </p:cNvPr>
          <p:cNvPicPr>
            <a:picLocks xmlns:a="http://schemas.openxmlformats.org/drawingml/2006/main" noChangeAspect="1"/>
          </p:cNvPicPr>
          <p:nvPr/>
        </p:nvPicPr>
        <p:blipFill>
          <a:blip xmlns:r="http://schemas.openxmlformats.org/officeDocument/2006/relationships" xmlns:a="http://schemas.openxmlformats.org/drawingml/2006/main" r:embed="R39db2f9e82ff498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874502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25A4FB0-721D-45E3-9EF6-B1F83B90D1C3}"/>
              </a:ext>
            </a:extLst>
          </p:cNvPr>
          <p:cNvPicPr>
            <a:picLocks xmlns:a="http://schemas.openxmlformats.org/drawingml/2006/main" noChangeAspect="1"/>
          </p:cNvPicPr>
          <p:nvPr/>
        </p:nvPicPr>
        <p:blipFill>
          <a:blip xmlns:r="http://schemas.openxmlformats.org/officeDocument/2006/relationships" xmlns:a="http://schemas.openxmlformats.org/drawingml/2006/main" r:embed="Re82b023d3125441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18546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2026-10-19T15:46:10.1920000Z</dcterms:created>
  <dcterms:modified xsi:type="dcterms:W3CDTF">2026-10-19T15:46:10.1920000Z</dcterms:modified>
</coreProperties>
</file>