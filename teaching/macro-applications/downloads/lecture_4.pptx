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035665a6f84634" /><Relationship Type="http://schemas.openxmlformats.org/officeDocument/2006/relationships/extended-properties" Target="/docProps/app.xml" Id="R85db63513413439a" /><Relationship Type="http://schemas.openxmlformats.org/officeDocument/2006/relationships/officeDocument" Target="/ppt/presentation.xml" Id="R454d5ca9f1574c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9bd1531b004a1e"/>
  </p:sldMasterIdLst>
  <p:notesMasterIdLst>
    <p:notesMasterId xmlns:r="http://schemas.openxmlformats.org/officeDocument/2006/relationships" r:id="R4d505c71314c4020"/>
  </p:notesMasterIdLst>
  <p:sldIdLst>
    <p:sldId xmlns:r="http://schemas.openxmlformats.org/officeDocument/2006/relationships" id="256" r:id="R9de016b3316649bb"/>
    <p:sldId xmlns:r="http://schemas.openxmlformats.org/officeDocument/2006/relationships" id="257" r:id="R760603a162ad4d99"/>
    <p:sldId xmlns:r="http://schemas.openxmlformats.org/officeDocument/2006/relationships" id="258" r:id="Re82251433a41458c"/>
    <p:sldId xmlns:r="http://schemas.openxmlformats.org/officeDocument/2006/relationships" id="259" r:id="R7df397087fd2423a"/>
    <p:sldId xmlns:r="http://schemas.openxmlformats.org/officeDocument/2006/relationships" id="260" r:id="Rae8d8a8170ba4dbe"/>
    <p:sldId xmlns:r="http://schemas.openxmlformats.org/officeDocument/2006/relationships" id="261" r:id="R41ca2793327a49e0"/>
    <p:sldId xmlns:r="http://schemas.openxmlformats.org/officeDocument/2006/relationships" id="262" r:id="R1206cf43417945c5"/>
    <p:sldId xmlns:r="http://schemas.openxmlformats.org/officeDocument/2006/relationships" id="263" r:id="Rb6e58c0f5db74558"/>
    <p:sldId xmlns:r="http://schemas.openxmlformats.org/officeDocument/2006/relationships" id="264" r:id="R16458c15bbab4ecf"/>
    <p:sldId xmlns:r="http://schemas.openxmlformats.org/officeDocument/2006/relationships" id="265" r:id="R47cba3b07d1b4e0e"/>
    <p:sldId xmlns:r="http://schemas.openxmlformats.org/officeDocument/2006/relationships" id="266" r:id="Rc9b297b2de374c9c"/>
    <p:sldId xmlns:r="http://schemas.openxmlformats.org/officeDocument/2006/relationships" id="267" r:id="R8d6b21d5fdb041c3"/>
    <p:sldId xmlns:r="http://schemas.openxmlformats.org/officeDocument/2006/relationships" id="268" r:id="Rf75c9cb4e13b4f6f"/>
    <p:sldId xmlns:r="http://schemas.openxmlformats.org/officeDocument/2006/relationships" id="269" r:id="Rde5bac99e4224d91"/>
    <p:sldId xmlns:r="http://schemas.openxmlformats.org/officeDocument/2006/relationships" id="270" r:id="R8bad8e30dd57465a"/>
    <p:sldId xmlns:r="http://schemas.openxmlformats.org/officeDocument/2006/relationships" id="271" r:id="R0ac59409e98242f1"/>
    <p:sldId xmlns:r="http://schemas.openxmlformats.org/officeDocument/2006/relationships" id="272" r:id="R40d172b959da48d5"/>
    <p:sldId xmlns:r="http://schemas.openxmlformats.org/officeDocument/2006/relationships" id="273" r:id="R9bcb3783cf3e421f"/>
    <p:sldId xmlns:r="http://schemas.openxmlformats.org/officeDocument/2006/relationships" id="274" r:id="R560c86ad30fd434f"/>
    <p:sldId xmlns:r="http://schemas.openxmlformats.org/officeDocument/2006/relationships" id="275" r:id="R171a474b3a944299"/>
    <p:sldId xmlns:r="http://schemas.openxmlformats.org/officeDocument/2006/relationships" id="276" r:id="Rd7dc31268f1441a8"/>
    <p:sldId xmlns:r="http://schemas.openxmlformats.org/officeDocument/2006/relationships" id="277" r:id="R09666fd9c04f4abd"/>
    <p:sldId xmlns:r="http://schemas.openxmlformats.org/officeDocument/2006/relationships" id="278" r:id="R1f1193bb206b4d4c"/>
    <p:sldId xmlns:r="http://schemas.openxmlformats.org/officeDocument/2006/relationships" id="279" r:id="Rfff0a6cb45cd49ca"/>
    <p:sldId xmlns:r="http://schemas.openxmlformats.org/officeDocument/2006/relationships" id="280" r:id="R0b6fcef94ca44804"/>
    <p:sldId xmlns:r="http://schemas.openxmlformats.org/officeDocument/2006/relationships" id="281" r:id="R4d193ca991e04e16"/>
    <p:sldId xmlns:r="http://schemas.openxmlformats.org/officeDocument/2006/relationships" id="282" r:id="R1843683ba1b747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a6d9d3f51549e4" /><Relationship Type="http://schemas.openxmlformats.org/officeDocument/2006/relationships/slideMaster" Target="/ppt/slideMasters/slideMaster1.xml" Id="Rfd9bd1531b004a1e" /><Relationship Type="http://schemas.openxmlformats.org/officeDocument/2006/relationships/notesMaster" Target="/ppt/notesMasters/notesMaster1.xml" Id="R4d505c71314c4020" /><Relationship Type="http://schemas.openxmlformats.org/officeDocument/2006/relationships/presProps" Target="/ppt/presProps.xml" Id="R8e52aa7dde954510" /><Relationship Type="http://schemas.openxmlformats.org/officeDocument/2006/relationships/tableStyles" Target="/ppt/tableStyles.xml" Id="R22ad358952024782" /><Relationship Type="http://schemas.openxmlformats.org/officeDocument/2006/relationships/slide" Target="/ppt/slides/slide1.xml" Id="R9de016b3316649bb" /><Relationship Type="http://schemas.openxmlformats.org/officeDocument/2006/relationships/slide" Target="/ppt/slides/slide2.xml" Id="R760603a162ad4d99" /><Relationship Type="http://schemas.openxmlformats.org/officeDocument/2006/relationships/slide" Target="/ppt/slides/slide3.xml" Id="Re82251433a41458c" /><Relationship Type="http://schemas.openxmlformats.org/officeDocument/2006/relationships/slide" Target="/ppt/slides/slide4.xml" Id="R7df397087fd2423a" /><Relationship Type="http://schemas.openxmlformats.org/officeDocument/2006/relationships/slide" Target="/ppt/slides/slide5.xml" Id="Rae8d8a8170ba4dbe" /><Relationship Type="http://schemas.openxmlformats.org/officeDocument/2006/relationships/slide" Target="/ppt/slides/slide6.xml" Id="R41ca2793327a49e0" /><Relationship Type="http://schemas.openxmlformats.org/officeDocument/2006/relationships/slide" Target="/ppt/slides/slide7.xml" Id="R1206cf43417945c5" /><Relationship Type="http://schemas.openxmlformats.org/officeDocument/2006/relationships/slide" Target="/ppt/slides/slide8.xml" Id="Rb6e58c0f5db74558" /><Relationship Type="http://schemas.openxmlformats.org/officeDocument/2006/relationships/slide" Target="/ppt/slides/slide9.xml" Id="R16458c15bbab4ecf" /><Relationship Type="http://schemas.openxmlformats.org/officeDocument/2006/relationships/slide" Target="/ppt/slides/slide10.xml" Id="R47cba3b07d1b4e0e" /><Relationship Type="http://schemas.openxmlformats.org/officeDocument/2006/relationships/slide" Target="/ppt/slides/slide11.xml" Id="Rc9b297b2de374c9c" /><Relationship Type="http://schemas.openxmlformats.org/officeDocument/2006/relationships/slide" Target="/ppt/slides/slide12.xml" Id="R8d6b21d5fdb041c3" /><Relationship Type="http://schemas.openxmlformats.org/officeDocument/2006/relationships/slide" Target="/ppt/slides/slide13.xml" Id="Rf75c9cb4e13b4f6f" /><Relationship Type="http://schemas.openxmlformats.org/officeDocument/2006/relationships/slide" Target="/ppt/slides/slide14.xml" Id="Rde5bac99e4224d91" /><Relationship Type="http://schemas.openxmlformats.org/officeDocument/2006/relationships/slide" Target="/ppt/slides/slide15.xml" Id="R8bad8e30dd57465a" /><Relationship Type="http://schemas.openxmlformats.org/officeDocument/2006/relationships/slide" Target="/ppt/slides/slide16.xml" Id="R0ac59409e98242f1" /><Relationship Type="http://schemas.openxmlformats.org/officeDocument/2006/relationships/slide" Target="/ppt/slides/slide17.xml" Id="R40d172b959da48d5" /><Relationship Type="http://schemas.openxmlformats.org/officeDocument/2006/relationships/slide" Target="/ppt/slides/slide18.xml" Id="R9bcb3783cf3e421f" /><Relationship Type="http://schemas.openxmlformats.org/officeDocument/2006/relationships/slide" Target="/ppt/slides/slide19.xml" Id="R560c86ad30fd434f" /><Relationship Type="http://schemas.openxmlformats.org/officeDocument/2006/relationships/slide" Target="/ppt/slides/slide20.xml" Id="R171a474b3a944299" /><Relationship Type="http://schemas.openxmlformats.org/officeDocument/2006/relationships/slide" Target="/ppt/slides/slide21.xml" Id="Rd7dc31268f1441a8" /><Relationship Type="http://schemas.openxmlformats.org/officeDocument/2006/relationships/slide" Target="/ppt/slides/slide22.xml" Id="R09666fd9c04f4abd" /><Relationship Type="http://schemas.openxmlformats.org/officeDocument/2006/relationships/slide" Target="/ppt/slides/slide23.xml" Id="R1f1193bb206b4d4c" /><Relationship Type="http://schemas.openxmlformats.org/officeDocument/2006/relationships/slide" Target="/ppt/slides/slide24.xml" Id="Rfff0a6cb45cd49ca" /><Relationship Type="http://schemas.openxmlformats.org/officeDocument/2006/relationships/slide" Target="/ppt/slides/slide25.xml" Id="R0b6fcef94ca44804" /><Relationship Type="http://schemas.openxmlformats.org/officeDocument/2006/relationships/slide" Target="/ppt/slides/slide26.xml" Id="R4d193ca991e04e16" /><Relationship Type="http://schemas.openxmlformats.org/officeDocument/2006/relationships/slide" Target="/ppt/slides/slide27.xml" Id="R1843683ba1b747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ca5059716649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e1207a5cd547e5" /><Relationship Type="http://schemas.openxmlformats.org/officeDocument/2006/relationships/notesMaster" Target="/ppt/notesMasters/notesMaster1.xml" Id="R5b760d75cd374b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486eeceb46493d" /><Relationship Type="http://schemas.openxmlformats.org/officeDocument/2006/relationships/notesMaster" Target="/ppt/notesMasters/notesMaster1.xml" Id="R84cb4911ca6247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620e2259564ddf" /><Relationship Type="http://schemas.openxmlformats.org/officeDocument/2006/relationships/notesMaster" Target="/ppt/notesMasters/notesMaster1.xml" Id="R220df7457ef74e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7ba738fd544594" /><Relationship Type="http://schemas.openxmlformats.org/officeDocument/2006/relationships/notesMaster" Target="/ppt/notesMasters/notesMaster1.xml" Id="R223843c3753d40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4b398270024747" /><Relationship Type="http://schemas.openxmlformats.org/officeDocument/2006/relationships/notesMaster" Target="/ppt/notesMasters/notesMaster1.xml" Id="R6bf40319587949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0dc87e9d7d4e6b" /><Relationship Type="http://schemas.openxmlformats.org/officeDocument/2006/relationships/notesMaster" Target="/ppt/notesMasters/notesMaster1.xml" Id="R895e805834204d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3095cb37614be3" /><Relationship Type="http://schemas.openxmlformats.org/officeDocument/2006/relationships/notesMaster" Target="/ppt/notesMasters/notesMaster1.xml" Id="R9081c395fdfd4e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b5b515aae7459f" /><Relationship Type="http://schemas.openxmlformats.org/officeDocument/2006/relationships/notesMaster" Target="/ppt/notesMasters/notesMaster1.xml" Id="Re2f84b26537545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01a999db8e4803" /><Relationship Type="http://schemas.openxmlformats.org/officeDocument/2006/relationships/notesMaster" Target="/ppt/notesMasters/notesMaster1.xml" Id="R0be29716f0db49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deeb84591d4bd3" /><Relationship Type="http://schemas.openxmlformats.org/officeDocument/2006/relationships/notesMaster" Target="/ppt/notesMasters/notesMaster1.xml" Id="R535252767f8342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c55a6f790d4928" /><Relationship Type="http://schemas.openxmlformats.org/officeDocument/2006/relationships/notesMaster" Target="/ppt/notesMasters/notesMaster1.xml" Id="R62c35c22d9fa43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a01de0599f49fc" /><Relationship Type="http://schemas.openxmlformats.org/officeDocument/2006/relationships/notesMaster" Target="/ppt/notesMasters/notesMaster1.xml" Id="R943b1818162c43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6635fb755f44bf" /><Relationship Type="http://schemas.openxmlformats.org/officeDocument/2006/relationships/notesMaster" Target="/ppt/notesMasters/notesMaster1.xml" Id="Rc93108978d064b9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9fff9eacec345c8" /><Relationship Type="http://schemas.openxmlformats.org/officeDocument/2006/relationships/notesMaster" Target="/ppt/notesMasters/notesMaster1.xml" Id="R96711ab573974a7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4c03a203eb7436d" /><Relationship Type="http://schemas.openxmlformats.org/officeDocument/2006/relationships/notesMaster" Target="/ppt/notesMasters/notesMaster1.xml" Id="R1f003ebe1b59468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fdb1b684e04f6e" /><Relationship Type="http://schemas.openxmlformats.org/officeDocument/2006/relationships/notesMaster" Target="/ppt/notesMasters/notesMaster1.xml" Id="Rf455e016928d4d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fa9faa63514191" /><Relationship Type="http://schemas.openxmlformats.org/officeDocument/2006/relationships/notesMaster" Target="/ppt/notesMasters/notesMaster1.xml" Id="R64f5c6adde2246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94c1a356e854bb3" /><Relationship Type="http://schemas.openxmlformats.org/officeDocument/2006/relationships/notesMaster" Target="/ppt/notesMasters/notesMaster1.xml" Id="Rb634fcce1fb746f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ce8108d4ef4d46" /><Relationship Type="http://schemas.openxmlformats.org/officeDocument/2006/relationships/notesMaster" Target="/ppt/notesMasters/notesMaster1.xml" Id="R9c86b0efc04048a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67cbed7196846a8" /><Relationship Type="http://schemas.openxmlformats.org/officeDocument/2006/relationships/notesMaster" Target="/ppt/notesMasters/notesMaster1.xml" Id="Rc77960803239490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4a9a93e00b46d5" /><Relationship Type="http://schemas.openxmlformats.org/officeDocument/2006/relationships/notesMaster" Target="/ppt/notesMasters/notesMaster1.xml" Id="R5157df3bbc43441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7dce892b9d242f1" /><Relationship Type="http://schemas.openxmlformats.org/officeDocument/2006/relationships/notesMaster" Target="/ppt/notesMasters/notesMaster1.xml" Id="Rf77cb9d6f01d448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b3ae6e00f9944bc" /><Relationship Type="http://schemas.openxmlformats.org/officeDocument/2006/relationships/notesMaster" Target="/ppt/notesMasters/notesMaster1.xml" Id="R7350a860b8914aa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51266e2d6d1439c" /><Relationship Type="http://schemas.openxmlformats.org/officeDocument/2006/relationships/notesMaster" Target="/ppt/notesMasters/notesMaster1.xml" Id="R1a362cc2b11a4dd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edd21cf560a4ac1" /><Relationship Type="http://schemas.openxmlformats.org/officeDocument/2006/relationships/notesMaster" Target="/ppt/notesMasters/notesMaster1.xml" Id="R791752bf47b4441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a99d63dd646443e" /><Relationship Type="http://schemas.openxmlformats.org/officeDocument/2006/relationships/notesMaster" Target="/ppt/notesMasters/notesMaster1.xml" Id="Rb9e6b1678f91450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f1f03d60895419e" /><Relationship Type="http://schemas.openxmlformats.org/officeDocument/2006/relationships/notesMaster" Target="/ppt/notesMasters/notesMaster1.xml" Id="Rf18baa5b716a48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https://davidchivers.co.uk/teaching/macro-applications/lecture_4.html#/title-slide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Economics of Brexit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 4: 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Dr David Chivers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Macroeconomic Applications and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</a:t>
            </a:r>
          </a:p>
          <a:p xmlns:a="http://schemas.openxmlformats.org/drawingml/2006/main">
            <a:r>
              <a:t>“Free movement of workers is a fundamental principle” … “enshrined in Article 45 of the Treaty on the Functioning of the European Union and developed by EU secondary legislation”.</a:t>
            </a:r>
          </a:p>
          <a:p xmlns:a="http://schemas.openxmlformats.org/drawingml/2006/main">
            <a:r>
              <a:t>“Free movement of workers also applies, in general terms, to the countries in the European Economic Area: Iceland, Liechtenstein and Norway”.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European Commission: free movement of workers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http://ec.europa.eu/social/main.jsp?catId=457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Brexit and free movement of people</a:t>
            </a:r>
          </a:p>
          <a:p xmlns:a="http://schemas.openxmlformats.org/drawingml/2006/main">
            <a:r>
              <a:t>Theresa May · 2 October 2016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 want it to give British companies the maximum freedom to trade with and operate in the Single Market – and let European businesses do the same here.”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“But let me be clear. We are not leaving the European Union only to give up control of immigration again.”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Angela Merkel · 6 October 2016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“Brexit negotiations won’t be easy. If we don’t say full access to the internal market is linked to full freedom of movement, then a movement will spread in Europe where everyone just does whatever they want.”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http://www.independent.co.uk/news/uk/politics/theresa-may-hard-brexit-soft-article-free-movement-deal-single-market-access-a7341886.html</a:t>
            </a:r>
          </a:p>
          <a:p xmlns:a="http://schemas.openxmlformats.org/drawingml/2006/main">
            <a:r>
              <a:t>http://www.bbc.co.uk/news/world-europe-37632305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Learning objectives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 this topic, you will be able to: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Discuss the evidence on the migration flows in Europe.</a:t>
            </a:r>
          </a:p>
          <a:p xmlns:a="http://schemas.openxmlformats.org/drawingml/2006/main">
            <a:r>
              <a:t>Analyse the economic effects of migration.</a:t>
            </a:r>
          </a:p>
          <a:p xmlns:a="http://schemas.openxmlformats.org/drawingml/2006/main">
            <a:r>
              <a:t>direct effects (wages, unemployment)</a:t>
            </a:r>
          </a:p>
          <a:p xmlns:a="http://schemas.openxmlformats.org/drawingml/2006/main">
            <a:r>
              <a:t>indirect effects (welfare state, innovation)</a:t>
            </a:r>
          </a:p>
          <a:p xmlns:a="http://schemas.openxmlformats.org/drawingml/2006/main">
            <a:r>
              <a:t>Analyse the effects of free trade in goods and services on domestic labour markets (e.g. wages, unemployment).</a:t>
            </a:r>
          </a:p>
          <a:p xmlns:a="http://schemas.openxmlformats.org/drawingml/2006/main">
            <a:r>
              <a:t>Analyse the interplay between free mobility of goods and people.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 enlargement towards the East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bar chart showing the stock of EU8 and EU2 nationals in EU15 countries increasing from the late 1990s to 2010, with faster growth after the 2004 enlargement.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Behind the migration 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scatter plot relating post-accession emigration rates to relative GDP per capita for accession countries. The points show the cross-country relationship rather than a causal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Intra-EU labour mobility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bars showing EU immigrants living in EU15 countries as a percentage of the working-age population in 2009, separating EU12 from other EU15 origins.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 and the rest of the world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Net migration rates in EU27 countries for 1998 and 2009. Countries differ in sign and magnitude; Luxembourg has a particularly high positive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Immigration in the UK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OECD, International migration database and other data. Own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Line chart showing the stock of foreign population in the UK as a share of working-age population, rising from roughly 4 percent in 2003 to more than 7 percent in 2013.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Immigration in the UK: by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Stock of foreign nationals in the UK as a percentage of the working-age population, by country, 2003–2013. Source: OECD International Migration Database and other data. Own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UK foreign-national population shares by origin, 2003 to 2013. Polish nationals show the largest increase; German, Portuguese, Irish and Indian series are also shown.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Facts</a:t>
            </a:r>
          </a:p>
          <a:p xmlns:a="http://schemas.openxmlformats.org/drawingml/2006/main">
            <a:r>
              <a:t>Data show that the migration from the EU12 to the EU15 accelerated after the 2004 enlargement.</a:t>
            </a:r>
          </a:p>
          <a:p xmlns:a="http://schemas.openxmlformats.org/drawingml/2006/main">
            <a:r>
              <a:t>The stock of foreign EU citizens as a percentage of the working population was less than 5% in most EU15 countries in 2009.</a:t>
            </a:r>
          </a:p>
          <a:p xmlns:a="http://schemas.openxmlformats.org/drawingml/2006/main">
            <a:r>
              <a:t>Although most countries in the EU experience positive net migration from the RoW, net migration rates are less than 0.8% in all EU15 countries (Luxembourg is an exception).</a:t>
            </a:r>
          </a:p>
          <a:p xmlns:a="http://schemas.openxmlformats.org/drawingml/2006/main">
            <a:r>
              <a:t>In the UK, immigration has risen over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with flexible wages</a:t>
            </a:r>
          </a:p>
          <a:p xmlns:a="http://schemas.openxmlformats.org/drawingml/2006/main">
            <a:r>
              <a:t>Two countries</a:t>
            </a:r>
          </a:p>
          <a:p xmlns:a="http://schemas.openxmlformats.org/drawingml/2006/main">
            <a:r>
              <a:t>Two factors of production (capital and labour).</a:t>
            </a:r>
          </a:p>
          <a:p xmlns:a="http://schemas.openxmlformats.org/drawingml/2006/main">
            <a:r>
              <a:t>Capital cannot be adjusted.</a:t>
            </a:r>
          </a:p>
          <a:p xmlns:a="http://schemas.openxmlformats.org/drawingml/2006/main">
            <a:r>
              <a:t>Labour supply is perfectly inelastic.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Countries have different wages to start with: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Heterogeneous productivities</a:t>
            </a:r>
          </a:p>
          <a:p xmlns:a="http://schemas.openxmlformats.org/drawingml/2006/main">
            <a:r>
              <a:t>Heterogeneous country size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Closed economies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Two-country labour allocation with fixed capital. Marginal product of labour falls as employment rises in each country. Initially the high-wage country has wage w and the low-wage country wage w star.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reallocates labour from the low-wage country to the high-wage country. Employment moves from L to L prime, lowering the high wage and raising the low wage towards a common wage.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Division of income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Division of income under the marginal-product curve. The wage times employment rectangle goes to labour; the area above the wage and below marginal product goes to capital.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Two-country migration welfare diagram with areas A to J. The high-wage country’s net gain is C and the low-wage country’s net gain is D, although workers and capital owners are affected differently.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</a:t>
            </a:r>
          </a:p>
          <a:p xmlns:a="http://schemas.openxmlformats.org/drawingml/2006/main">
            <a:r>
              <a:t>In the high-wage (low-wage) country, domestic workers lose (gain) while capitalists gain (lose).</a:t>
            </a:r>
          </a:p>
          <a:p xmlns:a="http://schemas.openxmlformats.org/drawingml/2006/main">
            <a:r>
              <a:t>Manacorda et al. (2012) have empirically shown that migration had no significant effect on the wages of UK natives.</a:t>
            </a:r>
          </a:p>
          <a:p xmlns:a="http://schemas.openxmlformats.org/drawingml/2006/main">
            <a:r>
              <a:t>However, both countries gain from migration overall.</a:t>
            </a:r>
          </a:p>
          <a:p xmlns:a="http://schemas.openxmlformats.org/drawingml/2006/main">
            <a:r>
              <a:t>Governments can address the uneven effects of migration using side payments.</a:t>
            </a:r>
          </a:p>
          <a:p xmlns:a="http://schemas.openxmlformats.org/drawingml/2006/main">
            <a:r>
              <a:t>If migrants to the high-wage country are fiscal residents there, they will pay their taxes to the local government.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Skilled and unskilled 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about “skilled” and “unskilled” immigration?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Heckscher-Ohlin theory of international trade</a:t>
            </a:r>
          </a:p>
          <a:p xmlns:a="http://schemas.openxmlformats.org/drawingml/2006/main">
            <a:r>
              <a:t>Countries specialise in the sector that is intensive in the abundant factor (partial specialisation).</a:t>
            </a:r>
          </a:p>
          <a:p xmlns:a="http://schemas.openxmlformats.org/drawingml/2006/main">
            <a:r>
              <a:t>The skilled-abundant country specialises in the skilled-intensive sector.</a:t>
            </a:r>
          </a:p>
          <a:p xmlns:a="http://schemas.openxmlformats.org/drawingml/2006/main">
            <a:r>
              <a:t>The unskilled-abundant country specialises in the unskilled-intensive sector.</a:t>
            </a:r>
          </a:p>
          <a:p xmlns:a="http://schemas.openxmlformats.org/drawingml/2006/main">
            <a:r>
              <a:t>This has an impact on the countries’ labour markets.</a:t>
            </a:r>
          </a:p>
          <a:p xmlns:a="http://schemas.openxmlformats.org/drawingml/2006/main">
            <a:r>
              <a:t>The demand for skilled (unskilled) workers in the skilled-abundant country increases (decreases).</a:t>
            </a:r>
          </a:p>
          <a:p xmlns:a="http://schemas.openxmlformats.org/drawingml/2006/main">
            <a:r>
              <a:t>The demand for unskilled (skilled) workers in the unskilled-abundant country increases (decreases).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under free trade</a:t>
            </a:r>
          </a:p>
          <a:p xmlns:a="http://schemas.openxmlformats.org/drawingml/2006/main">
            <a:r>
              <a:t>Migration offsets some of the effects of international trade.</a:t>
            </a:r>
          </a:p>
          <a:p xmlns:a="http://schemas.openxmlformats.org/drawingml/2006/main">
            <a:r>
              <a:t>Unskilled workers in the skilled-abundant country could move to the other country where the wage is higher, reducing unemployment at home.</a:t>
            </a:r>
          </a:p>
          <a:p xmlns:a="http://schemas.openxmlformats.org/drawingml/2006/main">
            <a:r>
              <a:t>Skilled workers in the unskilled-abundant country could move to the other country to offset the negative impact of trade on their wage.</a:t>
            </a:r>
          </a:p>
          <a:p xmlns:a="http://schemas.openxmlformats.org/drawingml/2006/main">
            <a:r>
              <a:t>The effects of international trade on unemployment depend on the model’s assumptions (Ricardian vs. Heckscher-Ohlin).</a:t>
            </a:r>
          </a:p>
          <a:p xmlns:a="http://schemas.openxmlformats.org/drawingml/2006/main">
            <a:r>
              <a:t>Empirically, Dutt et al. (2009) show that trade openness and unemployment are negatively related in the long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</a:t>
            </a:r>
          </a:p>
          <a:p xmlns:a="http://schemas.openxmlformats.org/drawingml/2006/main">
            <a:r>
              <a:t>Key question: are migration rates in EU too small or too big?</a:t>
            </a:r>
          </a:p>
          <a:p xmlns:a="http://schemas.openxmlformats.org/drawingml/2006/main">
            <a:r>
              <a:t>Answer: if labour markets are sufficiently open, then wage differentials should be neutralised.</a:t>
            </a:r>
          </a:p>
          <a:p xmlns:a="http://schemas.openxmlformats.org/drawingml/2006/main">
            <a:r>
              <a:t>Have wages converged across Europe?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Wage differentials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Eurostat. Gross annual earnings in euros, before income tax and employee social security contributions. Full-time employees in enterprises with more than 10 employees. Years: 2009 and 2011.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Eurostat chart comparing average gross annual earnings in industry and services across European countries in 2009 and 2011. Substantial cross-country wage differences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Barriers to intra-EU labour mobility</a:t>
            </a:r>
          </a:p>
          <a:p xmlns:a="http://schemas.openxmlformats.org/drawingml/2006/main">
            <a:r>
              <a:t>Lack of pension transferability.</a:t>
            </a:r>
          </a:p>
          <a:p xmlns:a="http://schemas.openxmlformats.org/drawingml/2006/main">
            <a:r>
              <a:t>Cross-country information about job vacancies remains scarce.</a:t>
            </a:r>
          </a:p>
          <a:p xmlns:a="http://schemas.openxmlformats.org/drawingml/2006/main">
            <a:r>
              <a:t>Recognition of professional qualifications is problematic.</a:t>
            </a:r>
          </a:p>
          <a:p xmlns:a="http://schemas.openxmlformats.org/drawingml/2006/main">
            <a:r>
              <a:t>Public sector jobs are mostly closed to non-nationals.</a:t>
            </a:r>
          </a:p>
          <a:p xmlns:a="http://schemas.openxmlformats.org/drawingml/2006/main">
            <a:r>
              <a:t>Housing market policies.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 the theory</a:t>
            </a:r>
          </a:p>
          <a:p xmlns:a="http://schemas.openxmlformats.org/drawingml/2006/main">
            <a:r>
              <a:t>Migration implies a net increase in welfare for all the countries involved, although governments would need to compensate workers (capitalists) in high-wage (low-wage) countries.</a:t>
            </a:r>
          </a:p>
          <a:p xmlns:a="http://schemas.openxmlformats.org/drawingml/2006/main">
            <a:r>
              <a:t>Wage differentials in the EU are big as the costs of migrating are high due to institutional differences across countries.</a:t>
            </a:r>
          </a:p>
          <a:p xmlns:a="http://schemas.openxmlformats.org/drawingml/2006/main">
            <a:r>
              <a:t>There is no evidence of a negative impact of migration on wages in the UK.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 the evidence</a:t>
            </a:r>
          </a:p>
          <a:p xmlns:a="http://schemas.openxmlformats.org/drawingml/2006/main">
            <a:r>
              <a:t>Empirical evidence suggests that international trade is associated with lower overall unemployment in countries.</a:t>
            </a:r>
          </a:p>
          <a:p xmlns:a="http://schemas.openxmlformats.org/drawingml/2006/main">
            <a:r>
              <a:t>There is little evidence on the impact of migration on unemployment.</a:t>
            </a:r>
          </a:p>
          <a:p xmlns:a="http://schemas.openxmlformats.org/drawingml/2006/main">
            <a:r>
              <a:t>In seminar 2, we will talk about the indirect effects of migration (welfare state and innovation).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Essential reading</a:t>
            </a:r>
          </a:p>
          <a:p xmlns:a="http://schemas.openxmlformats.org/drawingml/2006/main">
            <a:r>
              <a:t>Baldwin and Wyplosz, The Economics of European Integration, Chapter 8 (any edition).</a:t>
            </a:r>
          </a:p>
          <a:p xmlns:a="http://schemas.openxmlformats.org/drawingml/2006/main">
            <a:r>
              <a:t>Bosetti V., Cattaneo C., Verdolini E. (2015), Migration of skilled workers and innovation: A European Perspective, Journal of International Economics, 96, 311-322.</a:t>
            </a:r>
          </a:p>
          <a:p xmlns:a="http://schemas.openxmlformats.org/drawingml/2006/main">
            <a:r>
              <a:t>Dustmann C., Frattini T., Halls C. (2010), Assessing the Fiscal Costs and Benefits of A8 Migration to the UK, Fiscal Studies, 31 (1), pp. 1-41.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Further reading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ECON2271 Talis reading list, also available through Blackboard.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https://durham.rl.talis.com/lists/d85d1ad3-e9ac-4daf-aa66-e3ddfcf902d7.html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fb734b399647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c52ab1e0234c71" /><Relationship Type="http://schemas.openxmlformats.org/officeDocument/2006/relationships/slideLayout" Target="/ppt/slideLayouts/slideLayout1.xml" Id="R9d800034ef66415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800034ef6641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5b6d1da77492b" /><Relationship Type="http://schemas.openxmlformats.org/officeDocument/2006/relationships/image" Target="/ppt/media/image.jpeg" Id="R582a9525c92440e6" /><Relationship Type="http://schemas.openxmlformats.org/officeDocument/2006/relationships/notesSlide" Target="/ppt/notesSlides/notesSlide1.xml" Id="R90b368a11c0d42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c91cefad54cfd" /><Relationship Type="http://schemas.openxmlformats.org/officeDocument/2006/relationships/image" Target="/ppt/media/image2.jpeg" Id="Rfc78520a7b5b4462" /><Relationship Type="http://schemas.openxmlformats.org/officeDocument/2006/relationships/notesSlide" Target="/ppt/notesSlides/notesSlide2.xml" Id="Rd6ab475198b943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79c169f984caf" /><Relationship Type="http://schemas.openxmlformats.org/officeDocument/2006/relationships/image" Target="/ppt/media/image3.jpeg" Id="Rb978621878264e46" /><Relationship Type="http://schemas.openxmlformats.org/officeDocument/2006/relationships/notesSlide" Target="/ppt/notesSlides/notesSlide3.xml" Id="Rcaa0cbc884a044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00aefd29543b3" /><Relationship Type="http://schemas.openxmlformats.org/officeDocument/2006/relationships/image" Target="/ppt/media/image4.jpeg" Id="Re4f4a907999449b5" /><Relationship Type="http://schemas.openxmlformats.org/officeDocument/2006/relationships/notesSlide" Target="/ppt/notesSlides/notesSlide4.xml" Id="R5c0eca1ba0a343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3be858a904806" /><Relationship Type="http://schemas.openxmlformats.org/officeDocument/2006/relationships/image" Target="/ppt/media/image5.jpeg" Id="R675744a42ad048e3" /><Relationship Type="http://schemas.openxmlformats.org/officeDocument/2006/relationships/notesSlide" Target="/ppt/notesSlides/notesSlide5.xml" Id="R14c9dd27698c4a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2fc7f92794836" /><Relationship Type="http://schemas.openxmlformats.org/officeDocument/2006/relationships/image" Target="/ppt/media/image6.jpeg" Id="R440c6bfb08f24fb4" /><Relationship Type="http://schemas.openxmlformats.org/officeDocument/2006/relationships/notesSlide" Target="/ppt/notesSlides/notesSlide6.xml" Id="R1c0b76c386d540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49b3e3fe643b1" /><Relationship Type="http://schemas.openxmlformats.org/officeDocument/2006/relationships/image" Target="/ppt/media/image7.jpeg" Id="R301c4a3b52714880" /><Relationship Type="http://schemas.openxmlformats.org/officeDocument/2006/relationships/notesSlide" Target="/ppt/notesSlides/notesSlide7.xml" Id="Rb96b4203020e43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1ccfba21e4d79" /><Relationship Type="http://schemas.openxmlformats.org/officeDocument/2006/relationships/image" Target="/ppt/media/image8.jpeg" Id="Rdf6eaaa1fa4a4d01" /><Relationship Type="http://schemas.openxmlformats.org/officeDocument/2006/relationships/notesSlide" Target="/ppt/notesSlides/notesSlide8.xml" Id="R1932cd7cc28a4e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00afa956b49c0" /><Relationship Type="http://schemas.openxmlformats.org/officeDocument/2006/relationships/image" Target="/ppt/media/image9.jpeg" Id="Re616208a7c964a27" /><Relationship Type="http://schemas.openxmlformats.org/officeDocument/2006/relationships/notesSlide" Target="/ppt/notesSlides/notesSlide9.xml" Id="Rdcfde37565a343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6eca09d384057" /><Relationship Type="http://schemas.openxmlformats.org/officeDocument/2006/relationships/image" Target="/ppt/media/image10.jpeg" Id="Re8fbb7b454774450" /><Relationship Type="http://schemas.openxmlformats.org/officeDocument/2006/relationships/notesSlide" Target="/ppt/notesSlides/notesSlide10.xml" Id="R626c5bf8aa5343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846db6eba4e56" /><Relationship Type="http://schemas.openxmlformats.org/officeDocument/2006/relationships/image" Target="/ppt/media/image11.jpeg" Id="R1d017f43b6c24f2b" /><Relationship Type="http://schemas.openxmlformats.org/officeDocument/2006/relationships/notesSlide" Target="/ppt/notesSlides/notesSlide11.xml" Id="R53039fa22abe492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64e66056442ce" /><Relationship Type="http://schemas.openxmlformats.org/officeDocument/2006/relationships/image" Target="/ppt/media/image12.jpeg" Id="R88d332b144d546bc" /><Relationship Type="http://schemas.openxmlformats.org/officeDocument/2006/relationships/notesSlide" Target="/ppt/notesSlides/notesSlide12.xml" Id="R196030c0eda54ca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499b5c89342fe" /><Relationship Type="http://schemas.openxmlformats.org/officeDocument/2006/relationships/image" Target="/ppt/media/image13.jpeg" Id="Ra76b5fae2dfa4645" /><Relationship Type="http://schemas.openxmlformats.org/officeDocument/2006/relationships/notesSlide" Target="/ppt/notesSlides/notesSlide13.xml" Id="R7088813bd5bf40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c050b84244db6" /><Relationship Type="http://schemas.openxmlformats.org/officeDocument/2006/relationships/image" Target="/ppt/media/image14.jpeg" Id="R60066bf8da15461c" /><Relationship Type="http://schemas.openxmlformats.org/officeDocument/2006/relationships/notesSlide" Target="/ppt/notesSlides/notesSlide14.xml" Id="Rde655d01495245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344987fbc4b46" /><Relationship Type="http://schemas.openxmlformats.org/officeDocument/2006/relationships/image" Target="/ppt/media/image15.jpeg" Id="R93155a8664034dac" /><Relationship Type="http://schemas.openxmlformats.org/officeDocument/2006/relationships/notesSlide" Target="/ppt/notesSlides/notesSlide15.xml" Id="Rf57f0491bd384c8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2b550ade0481d" /><Relationship Type="http://schemas.openxmlformats.org/officeDocument/2006/relationships/image" Target="/ppt/media/image16.jpeg" Id="R07844eafccd94f2e" /><Relationship Type="http://schemas.openxmlformats.org/officeDocument/2006/relationships/notesSlide" Target="/ppt/notesSlides/notesSlide16.xml" Id="Rdee568d99ab0415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1268af9994b2a" /><Relationship Type="http://schemas.openxmlformats.org/officeDocument/2006/relationships/image" Target="/ppt/media/image17.jpeg" Id="R990972ea45524dd3" /><Relationship Type="http://schemas.openxmlformats.org/officeDocument/2006/relationships/notesSlide" Target="/ppt/notesSlides/notesSlide17.xml" Id="R8e162ce8112a490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9d25aff4649f2" /><Relationship Type="http://schemas.openxmlformats.org/officeDocument/2006/relationships/image" Target="/ppt/media/image18.jpeg" Id="Rb2c790eb91894418" /><Relationship Type="http://schemas.openxmlformats.org/officeDocument/2006/relationships/notesSlide" Target="/ppt/notesSlides/notesSlide18.xml" Id="R197363fc6e944f1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58c579f894bec" /><Relationship Type="http://schemas.openxmlformats.org/officeDocument/2006/relationships/image" Target="/ppt/media/image19.jpeg" Id="R4baa27ed05df40b3" /><Relationship Type="http://schemas.openxmlformats.org/officeDocument/2006/relationships/notesSlide" Target="/ppt/notesSlides/notesSlide19.xml" Id="R4e123cebdb0c483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2f7cb369c4e63" /><Relationship Type="http://schemas.openxmlformats.org/officeDocument/2006/relationships/image" Target="/ppt/media/image20.jpeg" Id="Rb96b118c7542455b" /><Relationship Type="http://schemas.openxmlformats.org/officeDocument/2006/relationships/notesSlide" Target="/ppt/notesSlides/notesSlide20.xml" Id="R62ef87396e884bc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c63a1f86348b5" /><Relationship Type="http://schemas.openxmlformats.org/officeDocument/2006/relationships/image" Target="/ppt/media/image21.jpeg" Id="Rba466ed0df524453" /><Relationship Type="http://schemas.openxmlformats.org/officeDocument/2006/relationships/notesSlide" Target="/ppt/notesSlides/notesSlide21.xml" Id="R4e306548b4d445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aa7ce1d914d55" /><Relationship Type="http://schemas.openxmlformats.org/officeDocument/2006/relationships/image" Target="/ppt/media/image22.jpeg" Id="R69de950f773c48fd" /><Relationship Type="http://schemas.openxmlformats.org/officeDocument/2006/relationships/notesSlide" Target="/ppt/notesSlides/notesSlide22.xml" Id="R196650c42576473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b8e0f1bff48f9" /><Relationship Type="http://schemas.openxmlformats.org/officeDocument/2006/relationships/image" Target="/ppt/media/image23.jpeg" Id="R12cd4716035f49b5" /><Relationship Type="http://schemas.openxmlformats.org/officeDocument/2006/relationships/notesSlide" Target="/ppt/notesSlides/notesSlide23.xml" Id="R82daa2e8da044d2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599ccb608481c" /><Relationship Type="http://schemas.openxmlformats.org/officeDocument/2006/relationships/image" Target="/ppt/media/image24.jpeg" Id="R96eb5fc613184ad6" /><Relationship Type="http://schemas.openxmlformats.org/officeDocument/2006/relationships/notesSlide" Target="/ppt/notesSlides/notesSlide24.xml" Id="Rf757dd8c7cad41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cbb7fc3b4457b" /><Relationship Type="http://schemas.openxmlformats.org/officeDocument/2006/relationships/image" Target="/ppt/media/image25.jpeg" Id="R61fca6d6121e4a93" /><Relationship Type="http://schemas.openxmlformats.org/officeDocument/2006/relationships/notesSlide" Target="/ppt/notesSlides/notesSlide25.xml" Id="R021c3c4208274b1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90cbe50024f31" /><Relationship Type="http://schemas.openxmlformats.org/officeDocument/2006/relationships/image" Target="/ppt/media/image.png" Id="R9e6a131b5ee8460d" /><Relationship Type="http://schemas.openxmlformats.org/officeDocument/2006/relationships/notesSlide" Target="/ppt/notesSlides/notesSlide26.xml" Id="R79eb9ea03ea744e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86d93bba24e3b" /><Relationship Type="http://schemas.openxmlformats.org/officeDocument/2006/relationships/image" Target="/ppt/media/image2.png" Id="R708b1d6710f742b8" /><Relationship Type="http://schemas.openxmlformats.org/officeDocument/2006/relationships/notesSlide" Target="/ppt/notesSlides/notesSlide27.xml" Id="R509a2ca376544da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a9525c92440e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7975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8520a7b5b446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457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8621878264e4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4149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4a907999449b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5942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744a42ad048e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36255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c6bfb08f24fb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4104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c4a3b5271488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797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eaaa1fa4a4d0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4925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6208a7c964a2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23278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bb7b45477445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919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17f43b6c24f2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67793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332b144d546b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05481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b5fae2dfa464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58597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66bf8da15461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1931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55a8664034da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67469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44eafccd94f2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02355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972ea45524dd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57777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790eb9189441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44090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a27ed05df40b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84598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6b118c7542455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3881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66ed0df52445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49972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e950f773c48f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14889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d4716035f49b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16496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b5fc613184ad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02416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ca6d6121e4a9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88652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a131b5ee8460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8480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1d6710f742b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5926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2026-10-06T15:15:46.4010000Z</dcterms:created>
  <dcterms:modified xsi:type="dcterms:W3CDTF">2026-10-06T15:15:46.4010000Z</dcterms:modified>
</coreProperties>
</file>