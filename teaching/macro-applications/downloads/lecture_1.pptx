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46dd8615294cc4" /><Relationship Type="http://schemas.openxmlformats.org/officeDocument/2006/relationships/extended-properties" Target="/docProps/app.xml" Id="R07a9f68659024a87" /><Relationship Type="http://schemas.openxmlformats.org/officeDocument/2006/relationships/officeDocument" Target="/ppt/presentation.xml" Id="R58bcb9cf7f0b45aa" /></Relationships>
</file>

<file path=ppt/presentation.xml><?xml version="1.0" encoding="utf-8"?>
<p:presentation xmlns:p="http://schemas.openxmlformats.org/presentationml/2006/main">
  <p:sldMasterIdLst>
    <p:sldMasterId xmlns:r="http://schemas.openxmlformats.org/officeDocument/2006/relationships" id="2147483648" r:id="R4ead73eef5d6444d"/>
  </p:sldMasterIdLst>
  <p:notesMasterIdLst>
    <p:notesMasterId xmlns:r="http://schemas.openxmlformats.org/officeDocument/2006/relationships" r:id="Ra909c64b09924f0e"/>
  </p:notesMasterIdLst>
  <p:sldIdLst>
    <p:sldId xmlns:r="http://schemas.openxmlformats.org/officeDocument/2006/relationships" id="256" r:id="Rd780fdfb988a4ac9"/>
    <p:sldId xmlns:r="http://schemas.openxmlformats.org/officeDocument/2006/relationships" id="257" r:id="R6860c5791c704156"/>
    <p:sldId xmlns:r="http://schemas.openxmlformats.org/officeDocument/2006/relationships" id="258" r:id="R26b5d28970f04210"/>
    <p:sldId xmlns:r="http://schemas.openxmlformats.org/officeDocument/2006/relationships" id="259" r:id="R9869eeeda04d433a"/>
    <p:sldId xmlns:r="http://schemas.openxmlformats.org/officeDocument/2006/relationships" id="260" r:id="Rfa937f71e34a4c56"/>
    <p:sldId xmlns:r="http://schemas.openxmlformats.org/officeDocument/2006/relationships" id="261" r:id="R43d5fe694e3c421a"/>
    <p:sldId xmlns:r="http://schemas.openxmlformats.org/officeDocument/2006/relationships" id="262" r:id="Rf47c015f062148ef"/>
    <p:sldId xmlns:r="http://schemas.openxmlformats.org/officeDocument/2006/relationships" id="263" r:id="Rb9b8914877274933"/>
    <p:sldId xmlns:r="http://schemas.openxmlformats.org/officeDocument/2006/relationships" id="264" r:id="R4848f66b27eb4f37"/>
    <p:sldId xmlns:r="http://schemas.openxmlformats.org/officeDocument/2006/relationships" id="265" r:id="R6c53e2c79ed94b17"/>
    <p:sldId xmlns:r="http://schemas.openxmlformats.org/officeDocument/2006/relationships" id="266" r:id="R7823d12d1e0c4c4e"/>
    <p:sldId xmlns:r="http://schemas.openxmlformats.org/officeDocument/2006/relationships" id="267" r:id="R6596170cfab14936"/>
    <p:sldId xmlns:r="http://schemas.openxmlformats.org/officeDocument/2006/relationships" id="268" r:id="R709590b58dee4ade"/>
    <p:sldId xmlns:r="http://schemas.openxmlformats.org/officeDocument/2006/relationships" id="269" r:id="R7cc45e9af77148ce"/>
    <p:sldId xmlns:r="http://schemas.openxmlformats.org/officeDocument/2006/relationships" id="270" r:id="Rc0000a7e35bd4e3e"/>
    <p:sldId xmlns:r="http://schemas.openxmlformats.org/officeDocument/2006/relationships" id="271" r:id="R21c7abd4c0e949e8"/>
    <p:sldId xmlns:r="http://schemas.openxmlformats.org/officeDocument/2006/relationships" id="272" r:id="Rb33a128143aa4f08"/>
    <p:sldId xmlns:r="http://schemas.openxmlformats.org/officeDocument/2006/relationships" id="273" r:id="Rcfa5a10f11574919"/>
    <p:sldId xmlns:r="http://schemas.openxmlformats.org/officeDocument/2006/relationships" id="274" r:id="R87a51d80fc5e42da"/>
    <p:sldId xmlns:r="http://schemas.openxmlformats.org/officeDocument/2006/relationships" id="275" r:id="R11961f197ca849fd"/>
    <p:sldId xmlns:r="http://schemas.openxmlformats.org/officeDocument/2006/relationships" id="276" r:id="Rec7206a1b7cd47c1"/>
    <p:sldId xmlns:r="http://schemas.openxmlformats.org/officeDocument/2006/relationships" id="277" r:id="Rc70c7102ffab4fe6"/>
    <p:sldId xmlns:r="http://schemas.openxmlformats.org/officeDocument/2006/relationships" id="278" r:id="R408be4dc38704992"/>
    <p:sldId xmlns:r="http://schemas.openxmlformats.org/officeDocument/2006/relationships" id="279" r:id="Re3babdb7686843f5"/>
    <p:sldId xmlns:r="http://schemas.openxmlformats.org/officeDocument/2006/relationships" id="280" r:id="R715ee081247e4139"/>
    <p:sldId xmlns:r="http://schemas.openxmlformats.org/officeDocument/2006/relationships" id="281" r:id="Rb9494f09d4644b77"/>
    <p:sldId xmlns:r="http://schemas.openxmlformats.org/officeDocument/2006/relationships" id="282" r:id="R19beda911a04404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9b36e0403c4a36" /><Relationship Type="http://schemas.openxmlformats.org/officeDocument/2006/relationships/slideMaster" Target="/ppt/slideMasters/slideMaster1.xml" Id="R4ead73eef5d6444d" /><Relationship Type="http://schemas.openxmlformats.org/officeDocument/2006/relationships/notesMaster" Target="/ppt/notesMasters/notesMaster1.xml" Id="Ra909c64b09924f0e" /><Relationship Type="http://schemas.openxmlformats.org/officeDocument/2006/relationships/presProps" Target="/ppt/presProps.xml" Id="R6eb92face4c9479e" /><Relationship Type="http://schemas.openxmlformats.org/officeDocument/2006/relationships/tableStyles" Target="/ppt/tableStyles.xml" Id="Rf3b5872c419a44b9" /><Relationship Type="http://schemas.openxmlformats.org/officeDocument/2006/relationships/slide" Target="/ppt/slides/slide1.xml" Id="Rd780fdfb988a4ac9" /><Relationship Type="http://schemas.openxmlformats.org/officeDocument/2006/relationships/slide" Target="/ppt/slides/slide2.xml" Id="R6860c5791c704156" /><Relationship Type="http://schemas.openxmlformats.org/officeDocument/2006/relationships/slide" Target="/ppt/slides/slide3.xml" Id="R26b5d28970f04210" /><Relationship Type="http://schemas.openxmlformats.org/officeDocument/2006/relationships/slide" Target="/ppt/slides/slide4.xml" Id="R9869eeeda04d433a" /><Relationship Type="http://schemas.openxmlformats.org/officeDocument/2006/relationships/slide" Target="/ppt/slides/slide5.xml" Id="Rfa937f71e34a4c56" /><Relationship Type="http://schemas.openxmlformats.org/officeDocument/2006/relationships/slide" Target="/ppt/slides/slide6.xml" Id="R43d5fe694e3c421a" /><Relationship Type="http://schemas.openxmlformats.org/officeDocument/2006/relationships/slide" Target="/ppt/slides/slide7.xml" Id="Rf47c015f062148ef" /><Relationship Type="http://schemas.openxmlformats.org/officeDocument/2006/relationships/slide" Target="/ppt/slides/slide8.xml" Id="Rb9b8914877274933" /><Relationship Type="http://schemas.openxmlformats.org/officeDocument/2006/relationships/slide" Target="/ppt/slides/slide9.xml" Id="R4848f66b27eb4f37" /><Relationship Type="http://schemas.openxmlformats.org/officeDocument/2006/relationships/slide" Target="/ppt/slides/slide10.xml" Id="R6c53e2c79ed94b17" /><Relationship Type="http://schemas.openxmlformats.org/officeDocument/2006/relationships/slide" Target="/ppt/slides/slide11.xml" Id="R7823d12d1e0c4c4e" /><Relationship Type="http://schemas.openxmlformats.org/officeDocument/2006/relationships/slide" Target="/ppt/slides/slide12.xml" Id="R6596170cfab14936" /><Relationship Type="http://schemas.openxmlformats.org/officeDocument/2006/relationships/slide" Target="/ppt/slides/slide13.xml" Id="R709590b58dee4ade" /><Relationship Type="http://schemas.openxmlformats.org/officeDocument/2006/relationships/slide" Target="/ppt/slides/slide14.xml" Id="R7cc45e9af77148ce" /><Relationship Type="http://schemas.openxmlformats.org/officeDocument/2006/relationships/slide" Target="/ppt/slides/slide15.xml" Id="Rc0000a7e35bd4e3e" /><Relationship Type="http://schemas.openxmlformats.org/officeDocument/2006/relationships/slide" Target="/ppt/slides/slide16.xml" Id="R21c7abd4c0e949e8" /><Relationship Type="http://schemas.openxmlformats.org/officeDocument/2006/relationships/slide" Target="/ppt/slides/slide17.xml" Id="Rb33a128143aa4f08" /><Relationship Type="http://schemas.openxmlformats.org/officeDocument/2006/relationships/slide" Target="/ppt/slides/slide18.xml" Id="Rcfa5a10f11574919" /><Relationship Type="http://schemas.openxmlformats.org/officeDocument/2006/relationships/slide" Target="/ppt/slides/slide19.xml" Id="R87a51d80fc5e42da" /><Relationship Type="http://schemas.openxmlformats.org/officeDocument/2006/relationships/slide" Target="/ppt/slides/slide20.xml" Id="R11961f197ca849fd" /><Relationship Type="http://schemas.openxmlformats.org/officeDocument/2006/relationships/slide" Target="/ppt/slides/slide21.xml" Id="Rec7206a1b7cd47c1" /><Relationship Type="http://schemas.openxmlformats.org/officeDocument/2006/relationships/slide" Target="/ppt/slides/slide22.xml" Id="Rc70c7102ffab4fe6" /><Relationship Type="http://schemas.openxmlformats.org/officeDocument/2006/relationships/slide" Target="/ppt/slides/slide23.xml" Id="R408be4dc38704992" /><Relationship Type="http://schemas.openxmlformats.org/officeDocument/2006/relationships/slide" Target="/ppt/slides/slide24.xml" Id="Re3babdb7686843f5" /><Relationship Type="http://schemas.openxmlformats.org/officeDocument/2006/relationships/slide" Target="/ppt/slides/slide25.xml" Id="R715ee081247e4139" /><Relationship Type="http://schemas.openxmlformats.org/officeDocument/2006/relationships/slide" Target="/ppt/slides/slide26.xml" Id="Rb9494f09d4644b77" /><Relationship Type="http://schemas.openxmlformats.org/officeDocument/2006/relationships/slide" Target="/ppt/slides/slide27.xml" Id="R19beda911a0440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2cbbbe43e54b6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5a6b6ba13d46d2" /><Relationship Type="http://schemas.openxmlformats.org/officeDocument/2006/relationships/notesMaster" Target="/ppt/notesMasters/notesMaster1.xml" Id="Rca05f864ff974c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3d6aa72824476e" /><Relationship Type="http://schemas.openxmlformats.org/officeDocument/2006/relationships/notesMaster" Target="/ppt/notesMasters/notesMaster1.xml" Id="Rb023291e25a846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555864ac2b45c5" /><Relationship Type="http://schemas.openxmlformats.org/officeDocument/2006/relationships/notesMaster" Target="/ppt/notesMasters/notesMaster1.xml" Id="Reb71af48f70c4c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171e5bf662400c" /><Relationship Type="http://schemas.openxmlformats.org/officeDocument/2006/relationships/notesMaster" Target="/ppt/notesMasters/notesMaster1.xml" Id="Rd36da9dc2bc04b92"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b182a5640b4f83" /><Relationship Type="http://schemas.openxmlformats.org/officeDocument/2006/relationships/notesMaster" Target="/ppt/notesMasters/notesMaster1.xml" Id="Rd8e1d9c3594b48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079d58b8d14dc8" /><Relationship Type="http://schemas.openxmlformats.org/officeDocument/2006/relationships/notesMaster" Target="/ppt/notesMasters/notesMaster1.xml" Id="R83f0ec23fdb046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cfa701e9bf4571" /><Relationship Type="http://schemas.openxmlformats.org/officeDocument/2006/relationships/notesMaster" Target="/ppt/notesMasters/notesMaster1.xml" Id="Ra75c87b8f76248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912f879917448f" /><Relationship Type="http://schemas.openxmlformats.org/officeDocument/2006/relationships/notesMaster" Target="/ppt/notesMasters/notesMaster1.xml" Id="Ra736b2305b7746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7b7725ec844cfd" /><Relationship Type="http://schemas.openxmlformats.org/officeDocument/2006/relationships/notesMaster" Target="/ppt/notesMasters/notesMaster1.xml" Id="Rc4ffd64e302346e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e40f2f09ef4307" /><Relationship Type="http://schemas.openxmlformats.org/officeDocument/2006/relationships/notesMaster" Target="/ppt/notesMasters/notesMaster1.xml" Id="R6fa086b81fa54c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dba8dbebd644157" /><Relationship Type="http://schemas.openxmlformats.org/officeDocument/2006/relationships/notesMaster" Target="/ppt/notesMasters/notesMaster1.xml" Id="R4622bc958748441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a949f6a9f04fd9" /><Relationship Type="http://schemas.openxmlformats.org/officeDocument/2006/relationships/notesMaster" Target="/ppt/notesMasters/notesMaster1.xml" Id="R9443dbea18164bf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f880796e6864b34" /><Relationship Type="http://schemas.openxmlformats.org/officeDocument/2006/relationships/notesMaster" Target="/ppt/notesMasters/notesMaster1.xml" Id="R28aa77b4f3cc4d4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846cb5d48d4ded" /><Relationship Type="http://schemas.openxmlformats.org/officeDocument/2006/relationships/notesMaster" Target="/ppt/notesMasters/notesMaster1.xml" Id="Rbb016aca063443d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06340dcd88f47ff" /><Relationship Type="http://schemas.openxmlformats.org/officeDocument/2006/relationships/notesMaster" Target="/ppt/notesMasters/notesMaster1.xml" Id="R34b70e7166ce4ec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b48c58460344809" /><Relationship Type="http://schemas.openxmlformats.org/officeDocument/2006/relationships/notesMaster" Target="/ppt/notesMasters/notesMaster1.xml" Id="R995b1084fc9a47d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0b27107fd634bcd" /><Relationship Type="http://schemas.openxmlformats.org/officeDocument/2006/relationships/notesMaster" Target="/ppt/notesMasters/notesMaster1.xml" Id="R181b950728ff445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8b74302aea4d88" /><Relationship Type="http://schemas.openxmlformats.org/officeDocument/2006/relationships/notesMaster" Target="/ppt/notesMasters/notesMaster1.xml" Id="Ref6c2d58d5d5463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584e46f249c473d" /><Relationship Type="http://schemas.openxmlformats.org/officeDocument/2006/relationships/notesMaster" Target="/ppt/notesMasters/notesMaster1.xml" Id="Ree02bdfd7574456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168fc10c0044646" /><Relationship Type="http://schemas.openxmlformats.org/officeDocument/2006/relationships/notesMaster" Target="/ppt/notesMasters/notesMaster1.xml" Id="R672c57505e494a8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d369d9ccc9f4328" /><Relationship Type="http://schemas.openxmlformats.org/officeDocument/2006/relationships/notesMaster" Target="/ppt/notesMasters/notesMaster1.xml" Id="Rbab1b164d4b447a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22c3fac8263450f" /><Relationship Type="http://schemas.openxmlformats.org/officeDocument/2006/relationships/notesMaster" Target="/ppt/notesMasters/notesMaster1.xml" Id="R11041f97ae54494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1c61ec51cd44843" /><Relationship Type="http://schemas.openxmlformats.org/officeDocument/2006/relationships/notesMaster" Target="/ppt/notesMasters/notesMaster1.xml" Id="R03e1d86a2f01419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f24131c6fcc421c" /><Relationship Type="http://schemas.openxmlformats.org/officeDocument/2006/relationships/notesMaster" Target="/ppt/notesMasters/notesMaster1.xml" Id="R1cb02f1f81cc4f5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ccb506e7af84518" /><Relationship Type="http://schemas.openxmlformats.org/officeDocument/2006/relationships/notesMaster" Target="/ppt/notesMasters/notesMaster1.xml" Id="R0f359b9961b5479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c3702d76d2a41ba" /><Relationship Type="http://schemas.openxmlformats.org/officeDocument/2006/relationships/notesMaster" Target="/ppt/notesMasters/notesMaster1.xml" Id="R3193bb3654a5496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e841a624ef245c7" /><Relationship Type="http://schemas.openxmlformats.org/officeDocument/2006/relationships/notesMaster" Target="/ppt/notesMasters/notesMaster1.xml" Id="R5fa134f2878c4a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1: Evolution of the European institutions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a:t>
            </a:r>
          </a:p>
          <a:p xmlns:a="http://schemas.openxmlformats.org/drawingml/2006/main">
            <a:r>
              <a:t>Michaelmas Term</a:t>
            </a:r>
          </a:p>
          <a:p xmlns:a="http://schemas.openxmlformats.org/drawingml/2006/main">
            <a:r>
              <a:t>Lectures 1–5: The Economics of Brexit (David Chivers)</a:t>
            </a:r>
          </a:p>
          <a:p xmlns:a="http://schemas.openxmlformats.org/drawingml/2006/main">
            <a:r>
              <a:t>Lectures 6–10: Financial Globalisation: A Reappraisal (Sara Eugeni)</a:t>
            </a:r>
          </a:p>
          <a:p xmlns:a="http://schemas.openxmlformats.org/drawingml/2006/main">
            <a:r>
              <a:t>Epiphany Term</a:t>
            </a:r>
          </a:p>
          <a:p xmlns:a="http://schemas.openxmlformats.org/drawingml/2006/main">
            <a:r>
              <a:t>Lectures 1–5: Optimal Currency Areas (Xiaoshan Chen)</a:t>
            </a:r>
          </a:p>
          <a:p xmlns:a="http://schemas.openxmlformats.org/drawingml/2006/main">
            <a:r>
              <a:t>Lectures 6–10: The International Monetary System (Sara Eugeni)</a:t>
            </a:r>
          </a:p>
          <a:p xmlns:a="http://schemas.openxmlformats.org/drawingml/2006/main">
            <a:r>
              <a:t>Easter Term</a:t>
            </a:r>
          </a:p>
          <a:p xmlns:a="http://schemas.openxmlformats.org/drawingml/2006/main">
            <a:r>
              <a:t>Revision Lecture 1: David and Xiaoshan</a:t>
            </a:r>
          </a:p>
          <a:p xmlns:a="http://schemas.openxmlformats.org/drawingml/2006/main">
            <a:r>
              <a:t>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a:t>
            </a:r>
          </a:p>
          <a:p xmlns:a="http://schemas.openxmlformats.org/drawingml/2006/main">
            <a:r>
              <a:t>Summative exam</a:t>
            </a:r>
          </a:p>
          <a:p xmlns:a="http://schemas.openxmlformats.org/drawingml/2006/main">
            <a:r>
              <a:t>Two-hour written, in-person exam, worth 100% of the overall mark.</a:t>
            </a:r>
          </a:p>
          <a:p xmlns:a="http://schemas.openxmlformats.org/drawingml/2006/main">
            <a:r>
              <a:t>Four sections, with two questions in each section.</a:t>
            </a:r>
          </a:p>
          <a:p xmlns:a="http://schemas.openxmlformats.org/drawingml/2006/main">
            <a:r>
              <a:t>Answer four questions, at least one from each section.</a:t>
            </a:r>
          </a:p>
          <a:p xmlns:a="http://schemas.openxmlformats.org/drawingml/2006/main">
            <a:r>
              <a:t>Formative test</a:t>
            </a:r>
          </a:p>
          <a:p xmlns:a="http://schemas.openxmlformats.org/drawingml/2006/main">
            <a:r>
              <a:t>Two questions, one from each topic in Term 1.</a:t>
            </a:r>
          </a:p>
          <a:p xmlns:a="http://schemas.openxmlformats.org/drawingml/2006/main">
            <a:r>
              <a:t>1,500 words maximum.</a:t>
            </a:r>
          </a:p>
          <a:p xmlns:a="http://schemas.openxmlformats.org/drawingml/2006/main">
            <a:r>
              <a:t>Feedback on how to improve for the summative exam.</a:t>
            </a:r>
          </a:p>
          <a:p xmlns:a="http://schemas.openxmlformats.org/drawingml/2006/main">
            <a:r>
              <a:t>Submission deadline: first week of Term 2.</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a:t>
            </a:r>
          </a:p>
          <a:p xmlns:a="http://schemas.openxmlformats.org/drawingml/2006/main">
            <a:r>
              <a:t/>
            </a:r>
          </a:p>
          <a:p xmlns:a="http://schemas.openxmlformats.org/drawingml/2006/main">
            <a:r>
              <a:t>Answer four questions, at least one from each section. Each question carries equal weight.</a:t>
            </a:r>
          </a:p>
          <a:p xmlns:a="http://schemas.openxmlformats.org/drawingml/2006/main">
            <a:r>
              <a:t/>
            </a:r>
          </a:p>
          <a:p xmlns:a="http://schemas.openxmlformats.org/drawingml/2006/main">
            <a:r>
              <a:t>Section	Questions</a:t>
            </a:r>
          </a:p>
          <a:p xmlns:a="http://schemas.openxmlformats.org/drawingml/2006/main">
            <a:r>
              <a:t>A	1 and 2</a:t>
            </a:r>
          </a:p>
          <a:p xmlns:a="http://schemas.openxmlformats.org/drawingml/2006/main">
            <a:r>
              <a:t>B	3 and 4</a:t>
            </a:r>
          </a:p>
          <a:p xmlns:a="http://schemas.openxmlformats.org/drawingml/2006/main">
            <a:r>
              <a:t>C	5 and 6</a:t>
            </a:r>
          </a:p>
          <a:p xmlns:a="http://schemas.openxmlformats.org/drawingml/2006/main">
            <a:r>
              <a:t>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a:t>
            </a:r>
          </a:p>
          <a:p xmlns:a="http://schemas.openxmlformats.org/drawingml/2006/main">
            <a:r>
              <a:t>Understand why France, Italy, West Germany and the Benelux countries started the process of European integration in the early 1950s.</a:t>
            </a:r>
          </a:p>
          <a:p xmlns:a="http://schemas.openxmlformats.org/drawingml/2006/main">
            <a:r>
              <a:t>Understand the political and economic incentives for other countries to join the EU in successive waves of enlargement.</a:t>
            </a:r>
          </a:p>
          <a:p xmlns:a="http://schemas.openxmlformats.org/drawingml/2006/main">
            <a:r>
              <a:t>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a:t>
            </a:r>
          </a:p>
          <a:p xmlns:a="http://schemas.openxmlformats.org/drawingml/2006/main">
            <a:r>
              <a:t/>
            </a:r>
          </a:p>
          <a:p xmlns:a="http://schemas.openxmlformats.org/drawingml/2006/main">
            <a:r>
              <a:t>“Yet all the while there is a remedy… It is to re-create the European Family, or as much of it as we can, and to provide it with a structure under which it can dwell in peace, in safety and in freedom. We must build a kind of United States of Europe.”</a:t>
            </a:r>
          </a:p>
          <a:p xmlns:a="http://schemas.openxmlformats.org/drawingml/2006/main">
            <a:r>
              <a:t/>
            </a:r>
          </a:p>
          <a:p xmlns:a="http://schemas.openxmlformats.org/drawingml/2006/main">
            <a:r>
              <a:t>Winston Churchill</a:t>
            </a:r>
          </a:p>
          <a:p xmlns:a="http://schemas.openxmlformats.org/drawingml/2006/main">
            <a:r>
              <a:t>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a:t>
            </a:r>
          </a:p>
          <a:p xmlns:a="http://schemas.openxmlformats.org/drawingml/2006/main">
            <a:r>
              <a:t>Death and destruction in the Second World War</a:t>
            </a:r>
          </a:p>
          <a:p xmlns:a="http://schemas.openxmlformats.org/drawingml/2006/main">
            <a:r>
              <a:t>Country	Death toll	Pre-war year when GDP equalled that of 1945</a:t>
            </a:r>
          </a:p>
          <a:p xmlns:a="http://schemas.openxmlformats.org/drawingml/2006/main">
            <a:r>
              <a:t>Austria	525,000	1886</a:t>
            </a:r>
          </a:p>
          <a:p xmlns:a="http://schemas.openxmlformats.org/drawingml/2006/main">
            <a:r>
              <a:t>Belgium	82,750	1924</a:t>
            </a:r>
          </a:p>
          <a:p xmlns:a="http://schemas.openxmlformats.org/drawingml/2006/main">
            <a:r>
              <a:t>Denmark	4,250	1936</a:t>
            </a:r>
          </a:p>
          <a:p xmlns:a="http://schemas.openxmlformats.org/drawingml/2006/main">
            <a:r>
              <a:t>Finland	79,000	1938</a:t>
            </a:r>
          </a:p>
          <a:p xmlns:a="http://schemas.openxmlformats.org/drawingml/2006/main">
            <a:r>
              <a:t>France	505,750	1891</a:t>
            </a:r>
          </a:p>
          <a:p xmlns:a="http://schemas.openxmlformats.org/drawingml/2006/main">
            <a:r>
              <a:t>Germany	6,363,000	1908</a:t>
            </a:r>
          </a:p>
          <a:p xmlns:a="http://schemas.openxmlformats.org/drawingml/2006/main">
            <a:r>
              <a:t>Italy	355,500	1909</a:t>
            </a:r>
          </a:p>
          <a:p xmlns:a="http://schemas.openxmlformats.org/drawingml/2006/main">
            <a:r>
              <a:t>Netherlands	250,000	1912</a:t>
            </a:r>
          </a:p>
          <a:p xmlns:a="http://schemas.openxmlformats.org/drawingml/2006/main">
            <a:r>
              <a:t>Norway	10,250	1937</a:t>
            </a:r>
          </a:p>
          <a:p xmlns:a="http://schemas.openxmlformats.org/drawingml/2006/main">
            <a:r>
              <a:t>Sweden	0	GDP grew during the war</a:t>
            </a:r>
          </a:p>
          <a:p xmlns:a="http://schemas.openxmlformats.org/drawingml/2006/main">
            <a:r>
              <a:t>Switzerland	0	GDP grew during the war</a:t>
            </a:r>
          </a:p>
          <a:p xmlns:a="http://schemas.openxmlformats.org/drawingml/2006/main">
            <a:r>
              <a:t>UK	325,000	GDP grew during the war</a:t>
            </a:r>
          </a:p>
          <a:p xmlns:a="http://schemas.openxmlformats.org/drawingml/2006/main">
            <a:r>
              <a:t/>
            </a:r>
          </a:p>
          <a:p xmlns:a="http://schemas.openxmlformats.org/drawingml/2006/main">
            <a:r>
              <a:t>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a:t>
            </a:r>
          </a:p>
          <a:p xmlns:a="http://schemas.openxmlformats.org/drawingml/2006/main">
            <a:r>
              <a:t>How can Europe avoid another war?</a:t>
            </a:r>
          </a:p>
          <a:p xmlns:a="http://schemas.openxmlformats.org/drawingml/2006/main">
            <a:r>
              <a:t/>
            </a:r>
          </a:p>
          <a:p xmlns:a="http://schemas.openxmlformats.org/drawingml/2006/main">
            <a:r>
              <a:t>What caused the war?</a:t>
            </a:r>
          </a:p>
          <a:p xmlns:a="http://schemas.openxmlformats.org/drawingml/2006/main">
            <a:r>
              <a:t/>
            </a:r>
          </a:p>
          <a:p xmlns:a="http://schemas.openxmlformats.org/drawingml/2006/main">
            <a:r>
              <a:t>Blame Germany.</a:t>
            </a:r>
          </a:p>
          <a:p xmlns:a="http://schemas.openxmlformats.org/drawingml/2006/main">
            <a:r>
              <a:t>Blame capitalism.</a:t>
            </a:r>
          </a:p>
          <a:p xmlns:a="http://schemas.openxmlformats.org/drawingml/2006/main">
            <a:r>
              <a:t>Blame nationalism.</a:t>
            </a:r>
          </a:p>
          <a:p xmlns:a="http://schemas.openxmlformats.org/drawingml/2006/main">
            <a:r>
              <a:t/>
            </a:r>
          </a:p>
          <a:p xmlns:a="http://schemas.openxmlformats.org/drawingml/2006/main">
            <a:r>
              <a:t>Three different solutions</a:t>
            </a:r>
          </a:p>
          <a:p xmlns:a="http://schemas.openxmlformats.org/drawingml/2006/main">
            <a:r>
              <a:t/>
            </a:r>
          </a:p>
          <a:p xmlns:a="http://schemas.openxmlformats.org/drawingml/2006/main">
            <a:r>
              <a:t>“Neuter” Germany: the Morgenthau Plan of 1944.</a:t>
            </a:r>
          </a:p>
          <a:p xmlns:a="http://schemas.openxmlformats.org/drawingml/2006/main">
            <a:r>
              <a:t>Adopt communism.</a:t>
            </a:r>
          </a:p>
          <a:p xmlns:a="http://schemas.openxmlformats.org/drawingml/2006/main">
            <a:r>
              <a:t>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a:t>
            </a:r>
          </a:p>
          <a:p xmlns:a="http://schemas.openxmlformats.org/drawingml/2006/main">
            <a:r>
              <a:t/>
            </a:r>
          </a:p>
          <a:p xmlns:a="http://schemas.openxmlformats.org/drawingml/2006/main">
            <a:r>
              <a:t>Historical map of Cold War Europe. Blue marks the Western bloc and red the Eastern bloc, separated by the Iron Curtain. Germany is divided between the two blocs; several other countries are uncoloured.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a:t>
            </a:r>
          </a:p>
          <a:p xmlns:a="http://schemas.openxmlformats.org/drawingml/2006/main">
            <a:r>
              <a:t>The Soviet vision is strongly rejected by the US and the UK, leading to the Cold War.</a:t>
            </a:r>
          </a:p>
          <a:p xmlns:a="http://schemas.openxmlformats.org/drawingml/2006/main">
            <a:r>
              <a:t>A strong Germany is needed as a cushion against the communists.</a:t>
            </a:r>
          </a:p>
          <a:p xmlns:a="http://schemas.openxmlformats.org/drawingml/2006/main">
            <a:r>
              <a:t>The US, UK and French zones merge.</a:t>
            </a:r>
          </a:p>
          <a:p xmlns:a="http://schemas.openxmlformats.org/drawingml/2006/main">
            <a:r>
              <a:t>The Federal Republic of Germany is established in 1949.</a:t>
            </a:r>
          </a:p>
          <a:p xmlns:a="http://schemas.openxmlformats.org/drawingml/2006/main">
            <a:r>
              <a:t/>
            </a:r>
          </a:p>
          <a:p xmlns:a="http://schemas.openxmlformats.org/drawingml/2006/main">
            <a:r>
              <a:t>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a:t>
            </a:r>
          </a:p>
          <a:p xmlns:a="http://schemas.openxmlformats.org/drawingml/2006/main">
            <a:r>
              <a:t>The French: Franco-German economic integration to avoid another war and counterbalance US–UK influence on the Continent.</a:t>
            </a:r>
          </a:p>
          <a:p xmlns:a="http://schemas.openxmlformats.org/drawingml/2006/main">
            <a:r>
              <a:t>The British and the Americans: counter the spread of communism in Europe.</a:t>
            </a:r>
          </a:p>
          <a:p xmlns:a="http://schemas.openxmlformats.org/drawingml/2006/main">
            <a:r>
              <a:t>The Germans: a route to re-establish Germany as a “normal” nation.</a:t>
            </a:r>
          </a:p>
          <a:p xmlns:a="http://schemas.openxmlformats.org/drawingml/2006/main">
            <a:r>
              <a:t>The Italians: counterbalance communism and shut the door on fascism forever.</a:t>
            </a:r>
          </a:p>
          <a:p xmlns:a="http://schemas.openxmlformats.org/drawingml/2006/main">
            <a:r>
              <a:t>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a:t>
            </a:r>
          </a:p>
          <a:p xmlns:a="http://schemas.openxmlformats.org/drawingml/2006/main">
            <a:r>
              <a:t>The OEEC (now OECD) is created to administer US aid to Europe: the Marshall Plan.</a:t>
            </a:r>
          </a:p>
          <a:p xmlns:a="http://schemas.openxmlformats.org/drawingml/2006/main">
            <a:r>
              <a:t>A first wave of trade liberalisation and the creation of the EPU facilitate payments.</a:t>
            </a:r>
          </a:p>
          <a:p xmlns:a="http://schemas.openxmlformats.org/drawingml/2006/main">
            <a:r>
              <a:t>Can trade liberalisation help growth and industrialisation?</a:t>
            </a:r>
          </a:p>
          <a:p xmlns:a="http://schemas.openxmlformats.org/drawingml/2006/main">
            <a:r>
              <a:t>Western European trade and output growth in manufactures, 1950–58</a:t>
            </a:r>
          </a:p>
          <a:p xmlns:a="http://schemas.openxmlformats.org/drawingml/2006/main">
            <a:r>
              <a:t>Country	GDP growth (% per annum)	Manufacturing export growth (% per annum)</a:t>
            </a:r>
          </a:p>
          <a:p xmlns:a="http://schemas.openxmlformats.org/drawingml/2006/main">
            <a:r>
              <a:t>Germany (West)	7.8	19.7</a:t>
            </a:r>
          </a:p>
          <a:p xmlns:a="http://schemas.openxmlformats.org/drawingml/2006/main">
            <a:r>
              <a:t>Italy	5.0	9.2</a:t>
            </a:r>
          </a:p>
          <a:p xmlns:a="http://schemas.openxmlformats.org/drawingml/2006/main">
            <a:r>
              <a:t>Netherlands	4.3	11.7</a:t>
            </a:r>
          </a:p>
          <a:p xmlns:a="http://schemas.openxmlformats.org/drawingml/2006/main">
            <a:r>
              <a:t>UK	2.0	1.8</a:t>
            </a:r>
          </a:p>
          <a:p xmlns:a="http://schemas.openxmlformats.org/drawingml/2006/main">
            <a:r>
              <a:t>France	4.4	3.8</a:t>
            </a:r>
          </a:p>
          <a:p xmlns:a="http://schemas.openxmlformats.org/drawingml/2006/main">
            <a:r>
              <a:t/>
            </a:r>
          </a:p>
          <a:p xmlns:a="http://schemas.openxmlformats.org/drawingml/2006/main">
            <a:r>
              <a:t>Source as cited in the original table: Milward (1992), Table 4.1.</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https://davidchivers.co.uk/teaching/macro-applications/lecture_1.html#/the-marshall-plan</a:t>
            </a:r>
          </a:p>
          <a:p xmlns:a="http://schemas.openxmlformats.org/drawingml/2006/main">
            <a:r>
              <a:t/>
            </a:r>
          </a:p>
          <a:p xmlns:a="http://schemas.openxmlformats.org/drawingml/2006/main">
            <a:r>
              <a:t>The Marshall Plan</a:t>
            </a:r>
          </a:p>
          <a:p xmlns:a="http://schemas.openxmlformats.org/drawingml/2006/main">
            <a:r>
              <a:t/>
            </a:r>
          </a:p>
          <a:p xmlns:a="http://schemas.openxmlformats.org/drawingml/2006/main">
            <a:r>
              <a:t>President Truman signs the Foreign Assistance Act, 3 April 1948. George C. Marshall Foundation, p. 11.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a:t>
            </a:r>
          </a:p>
          <a:p xmlns:a="http://schemas.openxmlformats.org/drawingml/2006/main">
            <a:r>
              <a:t>Intergovernmentalism</a:t>
            </a:r>
          </a:p>
          <a:p xmlns:a="http://schemas.openxmlformats.org/drawingml/2006/main">
            <a:r>
              <a:t/>
            </a:r>
          </a:p>
          <a:p xmlns:a="http://schemas.openxmlformats.org/drawingml/2006/main">
            <a:r>
              <a:t>Nations retain all sovereignty.</a:t>
            </a:r>
          </a:p>
          <a:p xmlns:a="http://schemas.openxmlformats.org/drawingml/2006/main">
            <a:r>
              <a:t/>
            </a:r>
          </a:p>
          <a:p xmlns:a="http://schemas.openxmlformats.org/drawingml/2006/main">
            <a:r>
              <a:t>OEEC (1948)</a:t>
            </a:r>
          </a:p>
          <a:p xmlns:a="http://schemas.openxmlformats.org/drawingml/2006/main">
            <a:r>
              <a:t>Council of Europe (1949)</a:t>
            </a:r>
          </a:p>
          <a:p xmlns:a="http://schemas.openxmlformats.org/drawingml/2006/main">
            <a:r>
              <a:t>Court of Human Rights (1950)</a:t>
            </a:r>
          </a:p>
          <a:p xmlns:a="http://schemas.openxmlformats.org/drawingml/2006/main">
            <a:r>
              <a:t>EFTA (1960)</a:t>
            </a:r>
          </a:p>
          <a:p xmlns:a="http://schemas.openxmlformats.org/drawingml/2006/main">
            <a:r>
              <a:t>Federalism</a:t>
            </a:r>
          </a:p>
          <a:p xmlns:a="http://schemas.openxmlformats.org/drawingml/2006/main">
            <a:r>
              <a:t/>
            </a:r>
          </a:p>
          <a:p xmlns:a="http://schemas.openxmlformats.org/drawingml/2006/main">
            <a:r>
              <a:t>Supranational institutions.</a:t>
            </a:r>
          </a:p>
          <a:p xmlns:a="http://schemas.openxmlformats.org/drawingml/2006/main">
            <a:r>
              <a:t/>
            </a:r>
          </a:p>
          <a:p xmlns:a="http://schemas.openxmlformats.org/drawingml/2006/main">
            <a:r>
              <a:t>ECSC (1951): Belgium, France, Germany, Italy, the Netherlands and Luxembourg (the “Six”) place coal and steel under a supranational authority.</a:t>
            </a:r>
          </a:p>
          <a:p xmlns:a="http://schemas.openxmlformats.org/drawingml/2006/main">
            <a:r>
              <a:t>EEC (1957): the Six commit to a customs union, free labour mobility, capital-market integration, free trade in services and common policies.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a:t>
            </a:r>
          </a:p>
          <a:p xmlns:a="http://schemas.openxmlformats.org/drawingml/2006/main">
            <a:r>
              <a:t>“The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“The abolition, as between Member States, of obstacles to freedom of movement for persons, services and capital”.</a:t>
            </a:r>
          </a:p>
          <a:p xmlns:a="http://schemas.openxmlformats.org/drawingml/2006/main">
            <a:r>
              <a:t>The adoption of common policies in agriculture, transport and other areas.</a:t>
            </a:r>
          </a:p>
          <a:p xmlns:a="http://schemas.openxmlformats.org/drawingml/2006/main">
            <a:r>
              <a:t>The establishment of supranational institutions: the European Commission, European Parliamentary Assembly and European Court of Justice.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https://davidchivers.co.uk/teaching/macro-applications/lecture_1.html#/treaty-of-rome</a:t>
            </a:r>
          </a:p>
          <a:p xmlns:a="http://schemas.openxmlformats.org/drawingml/2006/main">
            <a:r>
              <a:t/>
            </a:r>
          </a:p>
          <a:p xmlns:a="http://schemas.openxmlformats.org/drawingml/2006/main">
            <a:r>
              <a:t>Treaty of Rome</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a:t>
            </a:r>
          </a:p>
          <a:p xmlns:a="http://schemas.openxmlformats.org/drawingml/2006/main">
            <a:r>
              <a:t/>
            </a:r>
          </a:p>
          <a:p xmlns:a="http://schemas.openxmlformats.org/drawingml/2006/main">
            <a:r>
              <a:t>Map of Western European trade arrangements in the 1960s. Two separate circles contain the EEC Six and EFTA Seven. The UK, Denmark and Ireland are outside the EEC; several Southern European countries are outside both groupings.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a:t>
            </a:r>
          </a:p>
          <a:p xmlns:a="http://schemas.openxmlformats.org/drawingml/2006/main">
            <a:r>
              <a:t>EEC incomes were growing twice as fast.</a:t>
            </a:r>
          </a:p>
          <a:p xmlns:a="http://schemas.openxmlformats.org/drawingml/2006/main">
            <a:r>
              <a:t>The aggregate GDP of the EEC was much larger than EFTA: the market-size effect.</a:t>
            </a:r>
          </a:p>
          <a:p xmlns:a="http://schemas.openxmlformats.org/drawingml/2006/main">
            <a:r>
              <a:t/>
            </a:r>
          </a:p>
          <a:p xmlns:a="http://schemas.openxmlformats.org/drawingml/2006/main">
            <a:r>
              <a:t>The UK, Ireland and Denmark join in 1973.</a:t>
            </a:r>
          </a:p>
          <a:p xmlns:a="http://schemas.openxmlformats.org/drawingml/2006/main">
            <a:r>
              <a:t/>
            </a:r>
          </a:p>
          <a:p xmlns:a="http://schemas.openxmlformats.org/drawingml/2006/main">
            <a:r>
              <a:t>Map of Western Europe's trade arrangements in the mid-1970s. The UK, Ireland and Denmark now appear inside the expanded EEC. An outer circle also encompasses remaining EFTA countries, illustrating the change from the earlier separate trade blocs.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a:t>
            </a:r>
          </a:p>
          <a:p xmlns:a="http://schemas.openxmlformats.org/drawingml/2006/main">
            <a:r>
              <a:t/>
            </a:r>
          </a:p>
          <a:p xmlns:a="http://schemas.openxmlformats.org/drawingml/2006/main">
            <a:r>
              <a:t>A singer holding a microphone performs before a large crowd at night, with the Brandenburg Gate behind him.</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a:t>
            </a:r>
          </a:p>
          <a:p xmlns:a="http://schemas.openxmlformats.org/drawingml/2006/main">
            <a:r>
              <a:t>Implementing the “four freedoms”</a:t>
            </a:r>
          </a:p>
          <a:p xmlns:a="http://schemas.openxmlformats.org/drawingml/2006/main">
            <a:r>
              <a:t/>
            </a:r>
          </a:p>
          <a:p xmlns:a="http://schemas.openxmlformats.org/drawingml/2006/main">
            <a:r>
              <a:t>Goods trade: removing non-tariff barriers</a:t>
            </a:r>
          </a:p>
          <a:p xmlns:a="http://schemas.openxmlformats.org/drawingml/2006/main">
            <a:r>
              <a:t/>
            </a:r>
          </a:p>
          <a:p xmlns:a="http://schemas.openxmlformats.org/drawingml/2006/main">
            <a:r>
              <a:t>Streamline or eliminate border formalities.</a:t>
            </a:r>
          </a:p>
          <a:p xmlns:a="http://schemas.openxmlformats.org/drawingml/2006/main">
            <a:r>
              <a:t>Harmonise VAT rates within wide bands.</a:t>
            </a:r>
          </a:p>
          <a:p xmlns:a="http://schemas.openxmlformats.org/drawingml/2006/main">
            <a:r>
              <a:t>Liberalise government procurement.</a:t>
            </a:r>
          </a:p>
          <a:p xmlns:a="http://schemas.openxmlformats.org/drawingml/2006/main">
            <a:r>
              <a:t>Harmonise and mutually recognise technical standards in production, packaging and marketing.</a:t>
            </a:r>
          </a:p>
          <a:p xmlns:a="http://schemas.openxmlformats.org/drawingml/2006/main">
            <a:r>
              <a:t/>
            </a:r>
          </a:p>
          <a:p xmlns:a="http://schemas.openxmlformats.org/drawingml/2006/main">
            <a:r>
              <a:t>Factor-market liberalisation</a:t>
            </a:r>
          </a:p>
          <a:p xmlns:a="http://schemas.openxmlformats.org/drawingml/2006/main">
            <a:r>
              <a:t/>
            </a:r>
          </a:p>
          <a:p xmlns:a="http://schemas.openxmlformats.org/drawingml/2006/main">
            <a:r>
              <a:t>Remove all capital controls.</a:t>
            </a:r>
          </a:p>
          <a:p xmlns:a="http://schemas.openxmlformats.org/drawingml/2006/main">
            <a:r>
              <a:t>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After 1993</a:t>
            </a:r>
          </a:p>
          <a:p xmlns:a="http://schemas.openxmlformats.org/drawingml/2006/main">
            <a:r>
              <a:t>Enlargement</a:t>
            </a:r>
          </a:p>
          <a:p xmlns:a="http://schemas.openxmlformats.org/drawingml/2006/main">
            <a:r>
              <a:t>Deeper integration in the EU12 induces a new “domino effect”.</a:t>
            </a:r>
          </a:p>
          <a:p xmlns:a="http://schemas.openxmlformats.org/drawingml/2006/main">
            <a:r>
              <a:t>Finland, Sweden and Austria join in 1995.</a:t>
            </a:r>
          </a:p>
          <a:p xmlns:a="http://schemas.openxmlformats.org/drawingml/2006/main">
            <a:r>
              <a:t>The EU sets the Copenhagen criteria for the accession of Central and Eastern European countries.</a:t>
            </a:r>
          </a:p>
          <a:p xmlns:a="http://schemas.openxmlformats.org/drawingml/2006/main">
            <a:r>
              <a:t>Deepening</a:t>
            </a:r>
          </a:p>
          <a:p xmlns:a="http://schemas.openxmlformats.org/drawingml/2006/main">
            <a:r>
              <a:t>The Maastricht Treaty, signed in 1992, commits EU countries to monetary union by 1999 and a single currency by 2002.</a:t>
            </a:r>
          </a:p>
          <a:p xmlns:a="http://schemas.openxmlformats.org/drawingml/2006/main">
            <a:r>
              <a:t>The Schengen Agreement, implemented in 1995, abolishes checks at borders.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https://davidchivers.co.uk/teaching/macro-applications/lecture_1.html#/the-maastricht-treaty</a:t>
            </a:r>
          </a:p>
          <a:p xmlns:a="http://schemas.openxmlformats.org/drawingml/2006/main">
            <a:r>
              <a:t/>
            </a:r>
          </a:p>
          <a:p xmlns:a="http://schemas.openxmlformats.org/drawingml/2006/main">
            <a:r>
              <a:t>The Maastricht Treaty</a:t>
            </a:r>
          </a:p>
          <a:p xmlns:a="http://schemas.openxmlformats.org/drawingml/2006/main">
            <a:r>
              <a:t/>
            </a:r>
          </a:p>
          <a:p xmlns:a="http://schemas.openxmlformats.org/drawingml/2006/main">
            <a:r>
              <a:t>Group photograph of European leaders and officials associated with the Maastricht Treaty.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a:t>
            </a:r>
          </a:p>
          <a:p xmlns:a="http://schemas.openxmlformats.org/drawingml/2006/main">
            <a:r>
              <a:t/>
            </a:r>
          </a:p>
          <a:p xmlns:a="http://schemas.openxmlformats.org/drawingml/2006/main">
            <a:r>
              <a:t>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a:t>
            </a:r>
          </a:p>
          <a:p xmlns:a="http://schemas.openxmlformats.org/drawingml/2006/main">
            <a:r>
              <a:t>European countries wanted to avoid another war and its economic destruction. Federalism and intergovernmentalism offered ways to counter extreme nationalism and its consequences.</a:t>
            </a:r>
          </a:p>
          <a:p xmlns:a="http://schemas.openxmlformats.org/drawingml/2006/main">
            <a:r>
              <a:t>The European Union proved a magnet for even initially reluctant outsiders: the market-size and domino effects, alongside its pro-democratic role.</a:t>
            </a:r>
          </a:p>
          <a:p xmlns:a="http://schemas.openxmlformats.org/drawingml/2006/main">
            <a:r>
              <a:t>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a:t>
            </a:r>
          </a:p>
          <a:p xmlns:a="http://schemas.openxmlformats.org/drawingml/2006/main">
            <a:r>
              <a:t/>
            </a:r>
          </a:p>
          <a:p xmlns:a="http://schemas.openxmlformats.org/drawingml/2006/main">
            <a:r>
              <a:t>We will examine the formation and completion of the customs union in Europe: the welfare effects of eliminating tariff and non-tariff barriers.</a:t>
            </a:r>
          </a:p>
          <a:p xmlns:a="http://schemas.openxmlformats.org/drawingml/2006/main">
            <a:r>
              <a:t/>
            </a:r>
          </a:p>
          <a:p xmlns:a="http://schemas.openxmlformats.org/drawingml/2006/main">
            <a:r>
              <a:t>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
            </a:r>
          </a:p>
          <a:p xmlns:a="http://schemas.openxmlformats.org/drawingml/2006/main">
            <a:r>
              <a:t>Baldwin and Wyplosz (2022), The Economics of European Integration, Chapter 1.</a:t>
            </a:r>
          </a:p>
          <a:p xmlns:a="http://schemas.openxmlformats.org/drawingml/2006/main">
            <a:r>
              <a:t/>
            </a:r>
          </a:p>
          <a:p xmlns:a="http://schemas.openxmlformats.org/drawingml/2006/main">
            <a:r>
              <a:t>Additional references</a:t>
            </a:r>
          </a:p>
          <a:p xmlns:a="http://schemas.openxmlformats.org/drawingml/2006/main">
            <a:r>
              <a:t>See Talis on Blackboard.</a:t>
            </a:r>
          </a:p>
          <a:p xmlns:a="http://schemas.openxmlformats.org/drawingml/2006/main">
            <a:r>
              <a:t>The most important event of the 20th century?</a:t>
            </a:r>
          </a:p>
          <a:p xmlns:a="http://schemas.openxmlformats.org/drawingml/2006/main">
            <a:r>
              <a:t>Contact</a:t>
            </a:r>
          </a:p>
          <a:p xmlns:a="http://schemas.openxmlformats.org/drawingml/2006/main">
            <a:r>
              <a:t/>
            </a:r>
          </a:p>
          <a:p xmlns:a="http://schemas.openxmlformats.org/drawingml/2006/main">
            <a:r>
              <a:t>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5d80071f6346b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c59a7a4a7d4ecd" /><Relationship Type="http://schemas.openxmlformats.org/officeDocument/2006/relationships/slideLayout" Target="/ppt/slideLayouts/slideLayout1.xml" Id="Reba4f873033c47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a4f873033c47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37fc2db9bb249dd" /><Relationship Type="http://schemas.openxmlformats.org/officeDocument/2006/relationships/image" Target="/ppt/media/image.jpeg" Id="R7bf7afa9288f43c8" /><Relationship Type="http://schemas.openxmlformats.org/officeDocument/2006/relationships/notesSlide" Target="/ppt/notesSlides/notesSlide1.xml" Id="R908dac4f12d046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c4c56b9be544f36" /><Relationship Type="http://schemas.openxmlformats.org/officeDocument/2006/relationships/image" Target="/ppt/media/image2.jpeg" Id="R8c40bb161f0a4af9" /><Relationship Type="http://schemas.openxmlformats.org/officeDocument/2006/relationships/notesSlide" Target="/ppt/notesSlides/notesSlide2.xml" Id="Re25eb81ea91e48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4ed3339e13640e6" /><Relationship Type="http://schemas.openxmlformats.org/officeDocument/2006/relationships/image" Target="/ppt/media/image3.jpeg" Id="R65942867d1cd4265" /><Relationship Type="http://schemas.openxmlformats.org/officeDocument/2006/relationships/notesSlide" Target="/ppt/notesSlides/notesSlide3.xml" Id="Rf3b868506d18403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8e9985c7f1749bc" /><Relationship Type="http://schemas.openxmlformats.org/officeDocument/2006/relationships/image" Target="/ppt/media/image4.jpeg" Id="Rbb59dcabd4c14eeb" /><Relationship Type="http://schemas.openxmlformats.org/officeDocument/2006/relationships/notesSlide" Target="/ppt/notesSlides/notesSlide4.xml" Id="Ree2e400b82fd42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b4053dd0f1d4213" /><Relationship Type="http://schemas.openxmlformats.org/officeDocument/2006/relationships/image" Target="/ppt/media/image5.jpeg" Id="Rff0889f8a3c44e86" /><Relationship Type="http://schemas.openxmlformats.org/officeDocument/2006/relationships/notesSlide" Target="/ppt/notesSlides/notesSlide5.xml" Id="Rb6ce3972d21c4d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1892167d3274ee6" /><Relationship Type="http://schemas.openxmlformats.org/officeDocument/2006/relationships/image" Target="/ppt/media/image6.jpeg" Id="Red31063a209f49b6" /><Relationship Type="http://schemas.openxmlformats.org/officeDocument/2006/relationships/notesSlide" Target="/ppt/notesSlides/notesSlide6.xml" Id="R69ce4f696b96402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ffa2b3f15a04c81" /><Relationship Type="http://schemas.openxmlformats.org/officeDocument/2006/relationships/image" Target="/ppt/media/image7.jpeg" Id="R899d23ee14414a1f" /><Relationship Type="http://schemas.openxmlformats.org/officeDocument/2006/relationships/notesSlide" Target="/ppt/notesSlides/notesSlide7.xml" Id="R28c7d7b04bca4c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10729a1435b4799" /><Relationship Type="http://schemas.openxmlformats.org/officeDocument/2006/relationships/image" Target="/ppt/media/image8.jpeg" Id="Rc9a22133b37f4837" /><Relationship Type="http://schemas.openxmlformats.org/officeDocument/2006/relationships/notesSlide" Target="/ppt/notesSlides/notesSlide8.xml" Id="R148358e7d0af4c8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ba595811a62432f" /><Relationship Type="http://schemas.openxmlformats.org/officeDocument/2006/relationships/image" Target="/ppt/media/image9.jpeg" Id="R3a88be9ea0b543da" /><Relationship Type="http://schemas.openxmlformats.org/officeDocument/2006/relationships/notesSlide" Target="/ppt/notesSlides/notesSlide9.xml" Id="Re6d238992ef44ed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fcaef9154e14115" /><Relationship Type="http://schemas.openxmlformats.org/officeDocument/2006/relationships/image" Target="/ppt/media/image10.jpeg" Id="R103f427a12e5427f" /><Relationship Type="http://schemas.openxmlformats.org/officeDocument/2006/relationships/notesSlide" Target="/ppt/notesSlides/notesSlide10.xml" Id="R35ac2f9cf7a14e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ce26ff6d5254ac4" /><Relationship Type="http://schemas.openxmlformats.org/officeDocument/2006/relationships/image" Target="/ppt/media/image11.jpeg" Id="R540390c0969f4434" /><Relationship Type="http://schemas.openxmlformats.org/officeDocument/2006/relationships/notesSlide" Target="/ppt/notesSlides/notesSlide11.xml" Id="R4cf386a67a9745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5d94192087a40ca" /><Relationship Type="http://schemas.openxmlformats.org/officeDocument/2006/relationships/image" Target="/ppt/media/image12.jpeg" Id="Rae6da22959f24cca" /><Relationship Type="http://schemas.openxmlformats.org/officeDocument/2006/relationships/notesSlide" Target="/ppt/notesSlides/notesSlide12.xml" Id="Rc567bac43262496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18c70f33e1d490b" /><Relationship Type="http://schemas.openxmlformats.org/officeDocument/2006/relationships/image" Target="/ppt/media/image13.jpeg" Id="Rd6458f9a5fcc4e5a" /><Relationship Type="http://schemas.openxmlformats.org/officeDocument/2006/relationships/notesSlide" Target="/ppt/notesSlides/notesSlide13.xml" Id="R3a341f50252e44c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fbefb6ccd8b484b" /><Relationship Type="http://schemas.openxmlformats.org/officeDocument/2006/relationships/image" Target="/ppt/media/image14.jpeg" Id="Ra2597d36af8f40d3" /><Relationship Type="http://schemas.openxmlformats.org/officeDocument/2006/relationships/notesSlide" Target="/ppt/notesSlides/notesSlide14.xml" Id="R42825fbdb8f0453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bc5221e105941a8" /><Relationship Type="http://schemas.openxmlformats.org/officeDocument/2006/relationships/image" Target="/ppt/media/image15.jpeg" Id="Rf8b8779d695d4945" /><Relationship Type="http://schemas.openxmlformats.org/officeDocument/2006/relationships/notesSlide" Target="/ppt/notesSlides/notesSlide15.xml" Id="Rd865b17a821b4e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8956834c29d41c8" /><Relationship Type="http://schemas.openxmlformats.org/officeDocument/2006/relationships/image" Target="/ppt/media/image16.jpeg" Id="R332ce147f3ae4618" /><Relationship Type="http://schemas.openxmlformats.org/officeDocument/2006/relationships/notesSlide" Target="/ppt/notesSlides/notesSlide16.xml" Id="R165b71ed2cbb44c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5d1ac579d604c09" /><Relationship Type="http://schemas.openxmlformats.org/officeDocument/2006/relationships/image" Target="/ppt/media/image17.jpeg" Id="R883a29e0ca76493d" /><Relationship Type="http://schemas.openxmlformats.org/officeDocument/2006/relationships/notesSlide" Target="/ppt/notesSlides/notesSlide17.xml" Id="Rfb777a1a31c54a2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2d44b2926964ab8" /><Relationship Type="http://schemas.openxmlformats.org/officeDocument/2006/relationships/image" Target="/ppt/media/image18.jpeg" Id="R8592e784588d4b9c" /><Relationship Type="http://schemas.openxmlformats.org/officeDocument/2006/relationships/notesSlide" Target="/ppt/notesSlides/notesSlide18.xml" Id="R1dc5cf8f77d2433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153da0c42374772" /><Relationship Type="http://schemas.openxmlformats.org/officeDocument/2006/relationships/image" Target="/ppt/media/image19.jpeg" Id="R3f0f24359aa347c5" /><Relationship Type="http://schemas.openxmlformats.org/officeDocument/2006/relationships/notesSlide" Target="/ppt/notesSlides/notesSlide19.xml" Id="R12a2f02754d24b6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3d91d05122b471d" /><Relationship Type="http://schemas.openxmlformats.org/officeDocument/2006/relationships/image" Target="/ppt/media/image20.jpeg" Id="Rae0c6f4ff6db4bbd" /><Relationship Type="http://schemas.openxmlformats.org/officeDocument/2006/relationships/notesSlide" Target="/ppt/notesSlides/notesSlide20.xml" Id="R2f674143a8d8438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fa9d7f9b9724796" /><Relationship Type="http://schemas.openxmlformats.org/officeDocument/2006/relationships/image" Target="/ppt/media/image21.jpeg" Id="Rde9f3c6ea91043dc" /><Relationship Type="http://schemas.openxmlformats.org/officeDocument/2006/relationships/notesSlide" Target="/ppt/notesSlides/notesSlide21.xml" Id="R943911c953f14be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d7a3aec09964fef" /><Relationship Type="http://schemas.openxmlformats.org/officeDocument/2006/relationships/image" Target="/ppt/media/image22.jpeg" Id="Rae6683b541844bb5" /><Relationship Type="http://schemas.openxmlformats.org/officeDocument/2006/relationships/notesSlide" Target="/ppt/notesSlides/notesSlide22.xml" Id="R66fd133a366f49e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294c73e7ddc48dd" /><Relationship Type="http://schemas.openxmlformats.org/officeDocument/2006/relationships/image" Target="/ppt/media/image23.jpeg" Id="Re19effe873bd45d8" /><Relationship Type="http://schemas.openxmlformats.org/officeDocument/2006/relationships/notesSlide" Target="/ppt/notesSlides/notesSlide23.xml" Id="R642b7794001941b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1b9ca5eabe94e98" /><Relationship Type="http://schemas.openxmlformats.org/officeDocument/2006/relationships/image" Target="/ppt/media/image24.jpeg" Id="R50a5de300efa46da" /><Relationship Type="http://schemas.openxmlformats.org/officeDocument/2006/relationships/notesSlide" Target="/ppt/notesSlides/notesSlide24.xml" Id="Reecd07709ea3402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24333c72dce4ae8" /><Relationship Type="http://schemas.openxmlformats.org/officeDocument/2006/relationships/image" Target="/ppt/media/image25.jpeg" Id="Re094db06321a48e8" /><Relationship Type="http://schemas.openxmlformats.org/officeDocument/2006/relationships/notesSlide" Target="/ppt/notesSlides/notesSlide25.xml" Id="R728053087639439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97f2477ed2549d4" /><Relationship Type="http://schemas.openxmlformats.org/officeDocument/2006/relationships/image" Target="/ppt/media/image26.jpeg" Id="Ree7a3c73fb924b2a" /><Relationship Type="http://schemas.openxmlformats.org/officeDocument/2006/relationships/notesSlide" Target="/ppt/notesSlides/notesSlide26.xml" Id="Rafc4a5e055c94af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d6b687444d74ca1" /><Relationship Type="http://schemas.openxmlformats.org/officeDocument/2006/relationships/image" Target="/ppt/media/image27.jpeg" Id="R74cc71e1a5374b68" /><Relationship Type="http://schemas.openxmlformats.org/officeDocument/2006/relationships/notesSlide" Target="/ppt/notesSlides/notesSlide27.xml" Id="Rcfbe1f4e83d648c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bf7afa9288f43c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6829180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c40bb161f0a4af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6979026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5942867d1cd426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663756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b59dcabd4c14e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146540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f0889f8a3c44e8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6499839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d31063a209f49b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8107357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99d23ee14414a1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7949175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9a22133b37f483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6565699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a88be9ea0b543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388000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03f427a12e5427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491000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40390c0969f443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125860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e6da22959f24cc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3388519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6458f9a5fcc4e5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5027071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2597d36af8f40d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3942315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8b8779d695d494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4156478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32ce147f3ae461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8119603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83a29e0ca76493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6715801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592e784588d4b9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0464508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f0f24359aa347c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002205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e0c6f4ff6db4bb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22483802"/>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e9f3c6ea91043d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290427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e6683b541844b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3985417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19effe873bd45d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00298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0a5de300efa46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5418289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094db06321a48e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383720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e7a3c73fb924b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1600537"/>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4cc71e1a5374b6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004035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2026-10-05T09:29:44.5580000Z</dcterms:created>
  <dcterms:modified xsi:type="dcterms:W3CDTF">2026-10-05T09:29:44.5580000Z</dcterms:modified>
</coreProperties>
</file>