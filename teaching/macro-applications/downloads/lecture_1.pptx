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227bc65c32f4071" /><Relationship Type="http://schemas.openxmlformats.org/officeDocument/2006/relationships/extended-properties" Target="/docProps/app.xml" Id="Rbcff36270a3c444d" /><Relationship Type="http://schemas.openxmlformats.org/officeDocument/2006/relationships/officeDocument" Target="/ppt/presentation.xml" Id="Rfe25ab02052f4ba5" /></Relationships>
</file>

<file path=ppt/presentation.xml><?xml version="1.0" encoding="utf-8"?>
<p:presentation xmlns:p="http://schemas.openxmlformats.org/presentationml/2006/main">
  <p:sldMasterIdLst>
    <p:sldMasterId xmlns:r="http://schemas.openxmlformats.org/officeDocument/2006/relationships" id="2147483648" r:id="Rfcc3c60dd05f4b01"/>
  </p:sldMasterIdLst>
  <p:notesMasterIdLst>
    <p:notesMasterId xmlns:r="http://schemas.openxmlformats.org/officeDocument/2006/relationships" r:id="Re5ecb6f0821e4bd7"/>
  </p:notesMasterIdLst>
  <p:sldIdLst>
    <p:sldId xmlns:r="http://schemas.openxmlformats.org/officeDocument/2006/relationships" id="256" r:id="R5f03ccecba284949"/>
    <p:sldId xmlns:r="http://schemas.openxmlformats.org/officeDocument/2006/relationships" id="257" r:id="R4af68580bfb34011"/>
    <p:sldId xmlns:r="http://schemas.openxmlformats.org/officeDocument/2006/relationships" id="258" r:id="Rcc328ac5ea5a48ef"/>
    <p:sldId xmlns:r="http://schemas.openxmlformats.org/officeDocument/2006/relationships" id="259" r:id="Rbed9c841fd514c6f"/>
    <p:sldId xmlns:r="http://schemas.openxmlformats.org/officeDocument/2006/relationships" id="260" r:id="Ree9a5575990647b9"/>
    <p:sldId xmlns:r="http://schemas.openxmlformats.org/officeDocument/2006/relationships" id="261" r:id="Rd8b1b70498cc4943"/>
    <p:sldId xmlns:r="http://schemas.openxmlformats.org/officeDocument/2006/relationships" id="262" r:id="R6d29d8e5c926448d"/>
    <p:sldId xmlns:r="http://schemas.openxmlformats.org/officeDocument/2006/relationships" id="263" r:id="R062c918bc8cf4d5b"/>
    <p:sldId xmlns:r="http://schemas.openxmlformats.org/officeDocument/2006/relationships" id="264" r:id="Rbf714044aa8044e7"/>
    <p:sldId xmlns:r="http://schemas.openxmlformats.org/officeDocument/2006/relationships" id="265" r:id="Rb638d72f46eb41e2"/>
    <p:sldId xmlns:r="http://schemas.openxmlformats.org/officeDocument/2006/relationships" id="266" r:id="R5380fb41bb1b4bed"/>
    <p:sldId xmlns:r="http://schemas.openxmlformats.org/officeDocument/2006/relationships" id="267" r:id="R5fc4d228475c444f"/>
    <p:sldId xmlns:r="http://schemas.openxmlformats.org/officeDocument/2006/relationships" id="268" r:id="R66efae53160d4840"/>
    <p:sldId xmlns:r="http://schemas.openxmlformats.org/officeDocument/2006/relationships" id="269" r:id="R631fc3fff795449e"/>
    <p:sldId xmlns:r="http://schemas.openxmlformats.org/officeDocument/2006/relationships" id="270" r:id="Rffa582fc2f6d4134"/>
    <p:sldId xmlns:r="http://schemas.openxmlformats.org/officeDocument/2006/relationships" id="271" r:id="Reaf3448d1c374d54"/>
    <p:sldId xmlns:r="http://schemas.openxmlformats.org/officeDocument/2006/relationships" id="272" r:id="Rd003d1b38fd149bf"/>
    <p:sldId xmlns:r="http://schemas.openxmlformats.org/officeDocument/2006/relationships" id="273" r:id="R891e62855c634fa9"/>
    <p:sldId xmlns:r="http://schemas.openxmlformats.org/officeDocument/2006/relationships" id="274" r:id="Rdff7aa665388431b"/>
    <p:sldId xmlns:r="http://schemas.openxmlformats.org/officeDocument/2006/relationships" id="275" r:id="R2fdcb08e3edf44e9"/>
    <p:sldId xmlns:r="http://schemas.openxmlformats.org/officeDocument/2006/relationships" id="276" r:id="R15d90f79400f4a55"/>
    <p:sldId xmlns:r="http://schemas.openxmlformats.org/officeDocument/2006/relationships" id="277" r:id="Ra2dc9739e2924e9a"/>
    <p:sldId xmlns:r="http://schemas.openxmlformats.org/officeDocument/2006/relationships" id="278" r:id="R148504be3eaf496c"/>
    <p:sldId xmlns:r="http://schemas.openxmlformats.org/officeDocument/2006/relationships" id="279" r:id="Rd91579d1a49047f9"/>
    <p:sldId xmlns:r="http://schemas.openxmlformats.org/officeDocument/2006/relationships" id="280" r:id="Rb766574569474feb"/>
    <p:sldId xmlns:r="http://schemas.openxmlformats.org/officeDocument/2006/relationships" id="281" r:id="R57ab791190094ebe"/>
    <p:sldId xmlns:r="http://schemas.openxmlformats.org/officeDocument/2006/relationships" id="282" r:id="R75efbe1f55574a2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36b882a4d84666" /><Relationship Type="http://schemas.openxmlformats.org/officeDocument/2006/relationships/slideMaster" Target="/ppt/slideMasters/slideMaster1.xml" Id="Rfcc3c60dd05f4b01" /><Relationship Type="http://schemas.openxmlformats.org/officeDocument/2006/relationships/notesMaster" Target="/ppt/notesMasters/notesMaster1.xml" Id="Re5ecb6f0821e4bd7" /><Relationship Type="http://schemas.openxmlformats.org/officeDocument/2006/relationships/presProps" Target="/ppt/presProps.xml" Id="R66931532b56a4bd0" /><Relationship Type="http://schemas.openxmlformats.org/officeDocument/2006/relationships/tableStyles" Target="/ppt/tableStyles.xml" Id="R6c3535b84e054efc" /><Relationship Type="http://schemas.openxmlformats.org/officeDocument/2006/relationships/slide" Target="/ppt/slides/slide1.xml" Id="R5f03ccecba284949" /><Relationship Type="http://schemas.openxmlformats.org/officeDocument/2006/relationships/slide" Target="/ppt/slides/slide2.xml" Id="R4af68580bfb34011" /><Relationship Type="http://schemas.openxmlformats.org/officeDocument/2006/relationships/slide" Target="/ppt/slides/slide3.xml" Id="Rcc328ac5ea5a48ef" /><Relationship Type="http://schemas.openxmlformats.org/officeDocument/2006/relationships/slide" Target="/ppt/slides/slide4.xml" Id="Rbed9c841fd514c6f" /><Relationship Type="http://schemas.openxmlformats.org/officeDocument/2006/relationships/slide" Target="/ppt/slides/slide5.xml" Id="Ree9a5575990647b9" /><Relationship Type="http://schemas.openxmlformats.org/officeDocument/2006/relationships/slide" Target="/ppt/slides/slide6.xml" Id="Rd8b1b70498cc4943" /><Relationship Type="http://schemas.openxmlformats.org/officeDocument/2006/relationships/slide" Target="/ppt/slides/slide7.xml" Id="R6d29d8e5c926448d" /><Relationship Type="http://schemas.openxmlformats.org/officeDocument/2006/relationships/slide" Target="/ppt/slides/slide8.xml" Id="R062c918bc8cf4d5b" /><Relationship Type="http://schemas.openxmlformats.org/officeDocument/2006/relationships/slide" Target="/ppt/slides/slide9.xml" Id="Rbf714044aa8044e7" /><Relationship Type="http://schemas.openxmlformats.org/officeDocument/2006/relationships/slide" Target="/ppt/slides/slide10.xml" Id="Rb638d72f46eb41e2" /><Relationship Type="http://schemas.openxmlformats.org/officeDocument/2006/relationships/slide" Target="/ppt/slides/slide11.xml" Id="R5380fb41bb1b4bed" /><Relationship Type="http://schemas.openxmlformats.org/officeDocument/2006/relationships/slide" Target="/ppt/slides/slide12.xml" Id="R5fc4d228475c444f" /><Relationship Type="http://schemas.openxmlformats.org/officeDocument/2006/relationships/slide" Target="/ppt/slides/slide13.xml" Id="R66efae53160d4840" /><Relationship Type="http://schemas.openxmlformats.org/officeDocument/2006/relationships/slide" Target="/ppt/slides/slide14.xml" Id="R631fc3fff795449e" /><Relationship Type="http://schemas.openxmlformats.org/officeDocument/2006/relationships/slide" Target="/ppt/slides/slide15.xml" Id="Rffa582fc2f6d4134" /><Relationship Type="http://schemas.openxmlformats.org/officeDocument/2006/relationships/slide" Target="/ppt/slides/slide16.xml" Id="Reaf3448d1c374d54" /><Relationship Type="http://schemas.openxmlformats.org/officeDocument/2006/relationships/slide" Target="/ppt/slides/slide17.xml" Id="Rd003d1b38fd149bf" /><Relationship Type="http://schemas.openxmlformats.org/officeDocument/2006/relationships/slide" Target="/ppt/slides/slide18.xml" Id="R891e62855c634fa9" /><Relationship Type="http://schemas.openxmlformats.org/officeDocument/2006/relationships/slide" Target="/ppt/slides/slide19.xml" Id="Rdff7aa665388431b" /><Relationship Type="http://schemas.openxmlformats.org/officeDocument/2006/relationships/slide" Target="/ppt/slides/slide20.xml" Id="R2fdcb08e3edf44e9" /><Relationship Type="http://schemas.openxmlformats.org/officeDocument/2006/relationships/slide" Target="/ppt/slides/slide21.xml" Id="R15d90f79400f4a55" /><Relationship Type="http://schemas.openxmlformats.org/officeDocument/2006/relationships/slide" Target="/ppt/slides/slide22.xml" Id="Ra2dc9739e2924e9a" /><Relationship Type="http://schemas.openxmlformats.org/officeDocument/2006/relationships/slide" Target="/ppt/slides/slide23.xml" Id="R148504be3eaf496c" /><Relationship Type="http://schemas.openxmlformats.org/officeDocument/2006/relationships/slide" Target="/ppt/slides/slide24.xml" Id="Rd91579d1a49047f9" /><Relationship Type="http://schemas.openxmlformats.org/officeDocument/2006/relationships/slide" Target="/ppt/slides/slide25.xml" Id="Rb766574569474feb" /><Relationship Type="http://schemas.openxmlformats.org/officeDocument/2006/relationships/slide" Target="/ppt/slides/slide26.xml" Id="R57ab791190094ebe" /><Relationship Type="http://schemas.openxmlformats.org/officeDocument/2006/relationships/slide" Target="/ppt/slides/slide27.xml" Id="R75efbe1f55574a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c5102a8b85c42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03438640da24107" /><Relationship Type="http://schemas.openxmlformats.org/officeDocument/2006/relationships/notesMaster" Target="/ppt/notesMasters/notesMaster1.xml" Id="R5b5706013a0842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29ed192bb8475f" /><Relationship Type="http://schemas.openxmlformats.org/officeDocument/2006/relationships/notesMaster" Target="/ppt/notesMasters/notesMaster1.xml" Id="R20defe5bcb2d40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d277bd63394a52" /><Relationship Type="http://schemas.openxmlformats.org/officeDocument/2006/relationships/notesMaster" Target="/ppt/notesMasters/notesMaster1.xml" Id="R3bf0ed6d6fcd456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349b2b6bd74943" /><Relationship Type="http://schemas.openxmlformats.org/officeDocument/2006/relationships/notesMaster" Target="/ppt/notesMasters/notesMaster1.xml" Id="R261c56374fd64da7"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4bd47fced14858" /><Relationship Type="http://schemas.openxmlformats.org/officeDocument/2006/relationships/notesMaster" Target="/ppt/notesMasters/notesMaster1.xml" Id="R2cc1f865ab934c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34d93cb9844575" /><Relationship Type="http://schemas.openxmlformats.org/officeDocument/2006/relationships/notesMaster" Target="/ppt/notesMasters/notesMaster1.xml" Id="Raca79b9a4e454e17" /></Relationships>
</file>

<file path=ppt/notesSlides/_rels/notesSlide7.xml.rels>&#65279;<?xml version="1.0" encoding="utf-8"?><Relationships xmlns="http://schemas.openxmlformats.org/package/2006/relationships"><Relationship Type="http://schemas.openxmlformats.org/officeDocument/2006/relationships/slide" Target="/ppt/slides/slide7.xml" Id="R826d761d719747a8" /><Relationship Type="http://schemas.openxmlformats.org/officeDocument/2006/relationships/notesMaster" Target="/ppt/notesMasters/notesMaster1.xml" Id="R03370fdfde354724" /></Relationships>
</file>

<file path=ppt/notesSlides/_rels/notesSlide8.xml.rels>&#65279;<?xml version="1.0" encoding="utf-8"?><Relationships xmlns="http://schemas.openxmlformats.org/package/2006/relationships"><Relationship Type="http://schemas.openxmlformats.org/officeDocument/2006/relationships/slide" Target="/ppt/slides/slide8.xml" Id="R5f3b027af2d946f9" /><Relationship Type="http://schemas.openxmlformats.org/officeDocument/2006/relationships/notesMaster" Target="/ppt/notesMasters/notesMaster1.xml" Id="R94602f988ea1488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eb35b91c1f4874" /><Relationship Type="http://schemas.openxmlformats.org/officeDocument/2006/relationships/notesMaster" Target="/ppt/notesMasters/notesMaster1.xml" Id="Rd64c69a46c70460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1f0e1bee6f84524" /><Relationship Type="http://schemas.openxmlformats.org/officeDocument/2006/relationships/notesMaster" Target="/ppt/notesMasters/notesMaster1.xml" Id="Rc349db10926443c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b8c6322aa534345" /><Relationship Type="http://schemas.openxmlformats.org/officeDocument/2006/relationships/notesMaster" Target="/ppt/notesMasters/notesMaster1.xml" Id="R3512a10b64c748a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2aafd8939704944" /><Relationship Type="http://schemas.openxmlformats.org/officeDocument/2006/relationships/notesMaster" Target="/ppt/notesMasters/notesMaster1.xml" Id="R2fb514c27fa14a1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7778d1a8dbf448c" /><Relationship Type="http://schemas.openxmlformats.org/officeDocument/2006/relationships/notesMaster" Target="/ppt/notesMasters/notesMaster1.xml" Id="R14c18b5642984ed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457f173cd9441f" /><Relationship Type="http://schemas.openxmlformats.org/officeDocument/2006/relationships/notesMaster" Target="/ppt/notesMasters/notesMaster1.xml" Id="R46e25826c390428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8c0b5cbcb140ee" /><Relationship Type="http://schemas.openxmlformats.org/officeDocument/2006/relationships/notesMaster" Target="/ppt/notesMasters/notesMaster1.xml" Id="R269251bdd2ca42b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ac5a0afef354a28" /><Relationship Type="http://schemas.openxmlformats.org/officeDocument/2006/relationships/notesMaster" Target="/ppt/notesMasters/notesMaster1.xml" Id="R2a13b0b20ae146a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35890ff7c564ae6" /><Relationship Type="http://schemas.openxmlformats.org/officeDocument/2006/relationships/notesMaster" Target="/ppt/notesMasters/notesMaster1.xml" Id="Ra337070dc7d24c4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790a79a1b9b4f2c" /><Relationship Type="http://schemas.openxmlformats.org/officeDocument/2006/relationships/notesMaster" Target="/ppt/notesMasters/notesMaster1.xml" Id="R0eb9454a2905466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ed4433742a84688" /><Relationship Type="http://schemas.openxmlformats.org/officeDocument/2006/relationships/notesMaster" Target="/ppt/notesMasters/notesMaster1.xml" Id="R435b3edbf1ef426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27004ce64d747fe" /><Relationship Type="http://schemas.openxmlformats.org/officeDocument/2006/relationships/notesMaster" Target="/ppt/notesMasters/notesMaster1.xml" Id="R386a0734589642e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0d1453e5c1442e3" /><Relationship Type="http://schemas.openxmlformats.org/officeDocument/2006/relationships/notesMaster" Target="/ppt/notesMasters/notesMaster1.xml" Id="R1b27cc4bf55c46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1720c0af92046fc" /><Relationship Type="http://schemas.openxmlformats.org/officeDocument/2006/relationships/notesMaster" Target="/ppt/notesMasters/notesMaster1.xml" Id="R9bd1ea4e1fbb45d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d738e359b494979" /><Relationship Type="http://schemas.openxmlformats.org/officeDocument/2006/relationships/notesMaster" Target="/ppt/notesMasters/notesMaster1.xml" Id="Rc37dbd61f26e408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a7a40ce97e4e61" /><Relationship Type="http://schemas.openxmlformats.org/officeDocument/2006/relationships/notesMaster" Target="/ppt/notesMasters/notesMaster1.xml" Id="Rec201397dc3649d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fcc1b463db34fdb" /><Relationship Type="http://schemas.openxmlformats.org/officeDocument/2006/relationships/notesMaster" Target="/ppt/notesMasters/notesMaster1.xml" Id="Re476a3fb8429418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94e5385d0514045" /><Relationship Type="http://schemas.openxmlformats.org/officeDocument/2006/relationships/notesMaster" Target="/ppt/notesMasters/notesMaster1.xml" Id="R19445cb4472c440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305125a533645bb" /><Relationship Type="http://schemas.openxmlformats.org/officeDocument/2006/relationships/notesMaster" Target="/ppt/notesMasters/notesMaster1.xml" Id="Ra9c246b4dee641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1: Evolution of the European institutions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a:t>
            </a:r>
          </a:p>
          <a:p xmlns:a="http://schemas.openxmlformats.org/drawingml/2006/main">
            <a:r>
              <a:t>Michaelmas Term</a:t>
            </a:r>
          </a:p>
          <a:p xmlns:a="http://schemas.openxmlformats.org/drawingml/2006/main">
            <a:r>
              <a:t>Lectures 1–5: The Economics of Brexit (David Chivers)</a:t>
            </a:r>
          </a:p>
          <a:p xmlns:a="http://schemas.openxmlformats.org/drawingml/2006/main">
            <a:r>
              <a:t>Lectures 6–10: Financial Globalisation: A Reappraisal (Sara Eugeni)</a:t>
            </a:r>
          </a:p>
          <a:p xmlns:a="http://schemas.openxmlformats.org/drawingml/2006/main">
            <a:r>
              <a:t>Epiphany Term</a:t>
            </a:r>
          </a:p>
          <a:p xmlns:a="http://schemas.openxmlformats.org/drawingml/2006/main">
            <a:r>
              <a:t>Lectures 1–5: Optimal Currency Areas (Xiaoshan Chen)</a:t>
            </a:r>
          </a:p>
          <a:p xmlns:a="http://schemas.openxmlformats.org/drawingml/2006/main">
            <a:r>
              <a:t>Lectures 6–10: The International Monetary System (Sara Eugeni)</a:t>
            </a:r>
          </a:p>
          <a:p xmlns:a="http://schemas.openxmlformats.org/drawingml/2006/main">
            <a:r>
              <a:t>Easter Term</a:t>
            </a:r>
          </a:p>
          <a:p xmlns:a="http://schemas.openxmlformats.org/drawingml/2006/main">
            <a:r>
              <a:t>Revision Lecture 1: David and Xiaoshan</a:t>
            </a:r>
          </a:p>
          <a:p xmlns:a="http://schemas.openxmlformats.org/drawingml/2006/main">
            <a:r>
              <a:t>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a:t>
            </a:r>
          </a:p>
          <a:p xmlns:a="http://schemas.openxmlformats.org/drawingml/2006/main">
            <a:r>
              <a:t>Summative exam</a:t>
            </a:r>
          </a:p>
          <a:p xmlns:a="http://schemas.openxmlformats.org/drawingml/2006/main">
            <a:r>
              <a:t>Two-hour written, in-person exam, worth 100% of the overall mark.</a:t>
            </a:r>
          </a:p>
          <a:p xmlns:a="http://schemas.openxmlformats.org/drawingml/2006/main">
            <a:r>
              <a:t>Four sections, with two questions in each section.</a:t>
            </a:r>
          </a:p>
          <a:p xmlns:a="http://schemas.openxmlformats.org/drawingml/2006/main">
            <a:r>
              <a:t>Answer four questions, at least one from each section.</a:t>
            </a:r>
          </a:p>
          <a:p xmlns:a="http://schemas.openxmlformats.org/drawingml/2006/main">
            <a:r>
              <a:t>Formative test</a:t>
            </a:r>
          </a:p>
          <a:p xmlns:a="http://schemas.openxmlformats.org/drawingml/2006/main">
            <a:r>
              <a:t>Two questions, one from each topic in Term 1.</a:t>
            </a:r>
          </a:p>
          <a:p xmlns:a="http://schemas.openxmlformats.org/drawingml/2006/main">
            <a:r>
              <a:t>1,500 words maximum.</a:t>
            </a:r>
          </a:p>
          <a:p xmlns:a="http://schemas.openxmlformats.org/drawingml/2006/main">
            <a:r>
              <a:t>Feedback on how to improve for the summative exam.</a:t>
            </a:r>
          </a:p>
          <a:p xmlns:a="http://schemas.openxmlformats.org/drawingml/2006/main">
            <a:r>
              <a:t>Submission deadline: first week of Term 2.</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a:t>
            </a:r>
          </a:p>
          <a:p xmlns:a="http://schemas.openxmlformats.org/drawingml/2006/main">
            <a:r>
              <a:t/>
            </a:r>
          </a:p>
          <a:p xmlns:a="http://schemas.openxmlformats.org/drawingml/2006/main">
            <a:r>
              <a:t>Answer four questions, at least one from each section. Each question carries equal weight.</a:t>
            </a:r>
          </a:p>
          <a:p xmlns:a="http://schemas.openxmlformats.org/drawingml/2006/main">
            <a:r>
              <a:t/>
            </a:r>
          </a:p>
          <a:p xmlns:a="http://schemas.openxmlformats.org/drawingml/2006/main">
            <a:r>
              <a:t>Section	Questions</a:t>
            </a:r>
          </a:p>
          <a:p xmlns:a="http://schemas.openxmlformats.org/drawingml/2006/main">
            <a:r>
              <a:t>A	1 and 2</a:t>
            </a:r>
          </a:p>
          <a:p xmlns:a="http://schemas.openxmlformats.org/drawingml/2006/main">
            <a:r>
              <a:t>B	3 and 4</a:t>
            </a:r>
          </a:p>
          <a:p xmlns:a="http://schemas.openxmlformats.org/drawingml/2006/main">
            <a:r>
              <a:t>C	5 and 6</a:t>
            </a:r>
          </a:p>
          <a:p xmlns:a="http://schemas.openxmlformats.org/drawingml/2006/main">
            <a:r>
              <a:t>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a:t>
            </a:r>
          </a:p>
          <a:p xmlns:a="http://schemas.openxmlformats.org/drawingml/2006/main">
            <a:r>
              <a:t>Understand why France, Italy, West Germany and the Benelux countries started the process of European integration in the early 1950s.</a:t>
            </a:r>
          </a:p>
          <a:p xmlns:a="http://schemas.openxmlformats.org/drawingml/2006/main">
            <a:r>
              <a:t>Understand the political and economic incentives for other countries to join the EU in successive waves of enlargement.</a:t>
            </a:r>
          </a:p>
          <a:p xmlns:a="http://schemas.openxmlformats.org/drawingml/2006/main">
            <a:r>
              <a:t>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a:t>
            </a:r>
          </a:p>
          <a:p xmlns:a="http://schemas.openxmlformats.org/drawingml/2006/main">
            <a:r>
              <a:t/>
            </a:r>
          </a:p>
          <a:p xmlns:a="http://schemas.openxmlformats.org/drawingml/2006/main">
            <a:r>
              <a:t>“Yet all the while there is a remedy… It is to re-create the European Family, or as much of it as we can, and to provide it with a structure under which it can dwell in peace, in safety and in freedom. We must build a kind of United States of Europe.”</a:t>
            </a:r>
          </a:p>
          <a:p xmlns:a="http://schemas.openxmlformats.org/drawingml/2006/main">
            <a:r>
              <a:t/>
            </a:r>
          </a:p>
          <a:p xmlns:a="http://schemas.openxmlformats.org/drawingml/2006/main">
            <a:r>
              <a:t>Winston Churchill</a:t>
            </a:r>
          </a:p>
          <a:p xmlns:a="http://schemas.openxmlformats.org/drawingml/2006/main">
            <a:r>
              <a:t>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a:t>
            </a:r>
          </a:p>
          <a:p xmlns:a="http://schemas.openxmlformats.org/drawingml/2006/main">
            <a:r>
              <a:t>Death and destruction in the Second World War</a:t>
            </a:r>
          </a:p>
          <a:p xmlns:a="http://schemas.openxmlformats.org/drawingml/2006/main">
            <a:r>
              <a:t>Country	Death toll	Pre-war year when GDP equalled that of 1945</a:t>
            </a:r>
          </a:p>
          <a:p xmlns:a="http://schemas.openxmlformats.org/drawingml/2006/main">
            <a:r>
              <a:t>Austria	525,000	1886</a:t>
            </a:r>
          </a:p>
          <a:p xmlns:a="http://schemas.openxmlformats.org/drawingml/2006/main">
            <a:r>
              <a:t>Belgium	82,750	1924</a:t>
            </a:r>
          </a:p>
          <a:p xmlns:a="http://schemas.openxmlformats.org/drawingml/2006/main">
            <a:r>
              <a:t>Denmark	4,250	1936</a:t>
            </a:r>
          </a:p>
          <a:p xmlns:a="http://schemas.openxmlformats.org/drawingml/2006/main">
            <a:r>
              <a:t>Finland	79,000	1938</a:t>
            </a:r>
          </a:p>
          <a:p xmlns:a="http://schemas.openxmlformats.org/drawingml/2006/main">
            <a:r>
              <a:t>France	505,750	1891</a:t>
            </a:r>
          </a:p>
          <a:p xmlns:a="http://schemas.openxmlformats.org/drawingml/2006/main">
            <a:r>
              <a:t>Germany	6,363,000	1908</a:t>
            </a:r>
          </a:p>
          <a:p xmlns:a="http://schemas.openxmlformats.org/drawingml/2006/main">
            <a:r>
              <a:t>Italy	355,500	1909</a:t>
            </a:r>
          </a:p>
          <a:p xmlns:a="http://schemas.openxmlformats.org/drawingml/2006/main">
            <a:r>
              <a:t>Netherlands	250,000	1912</a:t>
            </a:r>
          </a:p>
          <a:p xmlns:a="http://schemas.openxmlformats.org/drawingml/2006/main">
            <a:r>
              <a:t>Norway	10,250	1937</a:t>
            </a:r>
          </a:p>
          <a:p xmlns:a="http://schemas.openxmlformats.org/drawingml/2006/main">
            <a:r>
              <a:t>Sweden	0	GDP grew during the war</a:t>
            </a:r>
          </a:p>
          <a:p xmlns:a="http://schemas.openxmlformats.org/drawingml/2006/main">
            <a:r>
              <a:t>Switzerland	0	GDP grew during the war</a:t>
            </a:r>
          </a:p>
          <a:p xmlns:a="http://schemas.openxmlformats.org/drawingml/2006/main">
            <a:r>
              <a:t>UK	325,000	GDP grew during the war</a:t>
            </a:r>
          </a:p>
          <a:p xmlns:a="http://schemas.openxmlformats.org/drawingml/2006/main">
            <a:r>
              <a:t/>
            </a:r>
          </a:p>
          <a:p xmlns:a="http://schemas.openxmlformats.org/drawingml/2006/main">
            <a:r>
              <a:t>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a:t>
            </a:r>
          </a:p>
          <a:p xmlns:a="http://schemas.openxmlformats.org/drawingml/2006/main">
            <a:r>
              <a:t>How can Europe avoid another war?</a:t>
            </a:r>
          </a:p>
          <a:p xmlns:a="http://schemas.openxmlformats.org/drawingml/2006/main">
            <a:r>
              <a:t/>
            </a:r>
          </a:p>
          <a:p xmlns:a="http://schemas.openxmlformats.org/drawingml/2006/main">
            <a:r>
              <a:t>What caused the war?</a:t>
            </a:r>
          </a:p>
          <a:p xmlns:a="http://schemas.openxmlformats.org/drawingml/2006/main">
            <a:r>
              <a:t/>
            </a:r>
          </a:p>
          <a:p xmlns:a="http://schemas.openxmlformats.org/drawingml/2006/main">
            <a:r>
              <a:t>Blame Germany.</a:t>
            </a:r>
          </a:p>
          <a:p xmlns:a="http://schemas.openxmlformats.org/drawingml/2006/main">
            <a:r>
              <a:t>Blame capitalism.</a:t>
            </a:r>
          </a:p>
          <a:p xmlns:a="http://schemas.openxmlformats.org/drawingml/2006/main">
            <a:r>
              <a:t>Blame nationalism.</a:t>
            </a:r>
          </a:p>
          <a:p xmlns:a="http://schemas.openxmlformats.org/drawingml/2006/main">
            <a:r>
              <a:t/>
            </a:r>
          </a:p>
          <a:p xmlns:a="http://schemas.openxmlformats.org/drawingml/2006/main">
            <a:r>
              <a:t>Three different solutions</a:t>
            </a:r>
          </a:p>
          <a:p xmlns:a="http://schemas.openxmlformats.org/drawingml/2006/main">
            <a:r>
              <a:t/>
            </a:r>
          </a:p>
          <a:p xmlns:a="http://schemas.openxmlformats.org/drawingml/2006/main">
            <a:r>
              <a:t>“Neuter” Germany: the Morgenthau Plan of 1944.</a:t>
            </a:r>
          </a:p>
          <a:p xmlns:a="http://schemas.openxmlformats.org/drawingml/2006/main">
            <a:r>
              <a:t>Adopt communism.</a:t>
            </a:r>
          </a:p>
          <a:p xmlns:a="http://schemas.openxmlformats.org/drawingml/2006/main">
            <a:r>
              <a:t>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a:t>
            </a:r>
          </a:p>
          <a:p xmlns:a="http://schemas.openxmlformats.org/drawingml/2006/main">
            <a:r>
              <a:t/>
            </a:r>
          </a:p>
          <a:p xmlns:a="http://schemas.openxmlformats.org/drawingml/2006/main">
            <a:r>
              <a:t>Western bloc</a:t>
            </a:r>
          </a:p>
          <a:p xmlns:a="http://schemas.openxmlformats.org/drawingml/2006/main">
            <a:r>
              <a:t>NATO</a:t>
            </a:r>
          </a:p>
          <a:p xmlns:a="http://schemas.openxmlformats.org/drawingml/2006/main">
            <a:r>
              <a:t>Eastern bloc</a:t>
            </a:r>
          </a:p>
          <a:p xmlns:a="http://schemas.openxmlformats.org/drawingml/2006/main">
            <a:r>
              <a:t>Warsaw Pact</a:t>
            </a:r>
          </a:p>
          <a:p xmlns:a="http://schemas.openxmlformats.org/drawingml/2006/main">
            <a:r>
              <a:t>Neutral countries</a:t>
            </a:r>
          </a:p>
          <a:p xmlns:a="http://schemas.openxmlformats.org/drawingml/2006/main">
            <a:r>
              <a:t>Non-aligned Yugoslavia</a:t>
            </a:r>
          </a:p>
          <a:p xmlns:a="http://schemas.openxmlformats.org/drawingml/2006/main">
            <a:r>
              <a:t>Albania: left the Warsaw Pact in 1968</a:t>
            </a:r>
          </a:p>
          <a:p xmlns:a="http://schemas.openxmlformats.org/drawingml/2006/main">
            <a:r>
              <a:t>Iron Curtain</a:t>
            </a:r>
          </a:p>
          <a:p xmlns:a="http://schemas.openxmlformats.org/drawingml/2006/main">
            <a:r>
              <a:t/>
            </a:r>
          </a:p>
          <a:p xmlns:a="http://schemas.openxmlformats.org/drawingml/2006/main">
            <a:r>
              <a:t>Later Cold War alignments; memberships changed over time. Map: Sémhur / Wikimedia Commons, CC BY-SA 4.0,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a:t>
            </a:r>
          </a:p>
          <a:p xmlns:a="http://schemas.openxmlformats.org/drawingml/2006/main">
            <a:r>
              <a:t>The Soviet vision is strongly rejected by the US and the UK, leading to the Cold War.</a:t>
            </a:r>
          </a:p>
          <a:p xmlns:a="http://schemas.openxmlformats.org/drawingml/2006/main">
            <a:r>
              <a:t>A strong Germany is needed as a cushion against the communists.</a:t>
            </a:r>
          </a:p>
          <a:p xmlns:a="http://schemas.openxmlformats.org/drawingml/2006/main">
            <a:r>
              <a:t>The US, UK and French zones merge.</a:t>
            </a:r>
          </a:p>
          <a:p xmlns:a="http://schemas.openxmlformats.org/drawingml/2006/main">
            <a:r>
              <a:t>The Federal Republic of Germany is established in 1949.</a:t>
            </a:r>
          </a:p>
          <a:p xmlns:a="http://schemas.openxmlformats.org/drawingml/2006/main">
            <a:r>
              <a:t/>
            </a:r>
          </a:p>
          <a:p xmlns:a="http://schemas.openxmlformats.org/drawingml/2006/main">
            <a:r>
              <a:t>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a:t>
            </a:r>
          </a:p>
          <a:p xmlns:a="http://schemas.openxmlformats.org/drawingml/2006/main">
            <a:r>
              <a:t>The French: Franco-German economic integration to avoid another war and counterbalance US–UK influence on the Continent.</a:t>
            </a:r>
          </a:p>
          <a:p xmlns:a="http://schemas.openxmlformats.org/drawingml/2006/main">
            <a:r>
              <a:t>The British and the Americans: counter the spread of communism in Europe.</a:t>
            </a:r>
          </a:p>
          <a:p xmlns:a="http://schemas.openxmlformats.org/drawingml/2006/main">
            <a:r>
              <a:t>The Germans: a route to re-establish Germany as a “normal” nation.</a:t>
            </a:r>
          </a:p>
          <a:p xmlns:a="http://schemas.openxmlformats.org/drawingml/2006/main">
            <a:r>
              <a:t>The Italians: counterbalance communism and shut the door on fascism forever.</a:t>
            </a:r>
          </a:p>
          <a:p xmlns:a="http://schemas.openxmlformats.org/drawingml/2006/main">
            <a:r>
              <a:t>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a:t>
            </a:r>
          </a:p>
          <a:p xmlns:a="http://schemas.openxmlformats.org/drawingml/2006/main">
            <a:r>
              <a:t>The OEEC (now OECD) is created to administer US aid to Europe: the Marshall Plan.</a:t>
            </a:r>
          </a:p>
          <a:p xmlns:a="http://schemas.openxmlformats.org/drawingml/2006/main">
            <a:r>
              <a:t>A first wave of trade liberalisation and the creation of the EPU facilitate payments.</a:t>
            </a:r>
          </a:p>
          <a:p xmlns:a="http://schemas.openxmlformats.org/drawingml/2006/main">
            <a:r>
              <a:t>Can trade liberalisation help growth and industrialisation?</a:t>
            </a:r>
          </a:p>
          <a:p xmlns:a="http://schemas.openxmlformats.org/drawingml/2006/main">
            <a:r>
              <a:t>Western European trade and output growth in manufactures, 1950–58</a:t>
            </a:r>
          </a:p>
          <a:p xmlns:a="http://schemas.openxmlformats.org/drawingml/2006/main">
            <a:r>
              <a:t>Country	GDP growth (% per annum)	Manufacturing export growth (% per annum)</a:t>
            </a:r>
          </a:p>
          <a:p xmlns:a="http://schemas.openxmlformats.org/drawingml/2006/main">
            <a:r>
              <a:t>Germany (West)	7.8	19.7</a:t>
            </a:r>
          </a:p>
          <a:p xmlns:a="http://schemas.openxmlformats.org/drawingml/2006/main">
            <a:r>
              <a:t>Italy	5.0	9.2</a:t>
            </a:r>
          </a:p>
          <a:p xmlns:a="http://schemas.openxmlformats.org/drawingml/2006/main">
            <a:r>
              <a:t>Netherlands	4.3	11.7</a:t>
            </a:r>
          </a:p>
          <a:p xmlns:a="http://schemas.openxmlformats.org/drawingml/2006/main">
            <a:r>
              <a:t>UK	2.0	1.8</a:t>
            </a:r>
          </a:p>
          <a:p xmlns:a="http://schemas.openxmlformats.org/drawingml/2006/main">
            <a:r>
              <a:t>France	4.4	3.8</a:t>
            </a:r>
          </a:p>
          <a:p xmlns:a="http://schemas.openxmlformats.org/drawingml/2006/main">
            <a:r>
              <a:t/>
            </a:r>
          </a:p>
          <a:p xmlns:a="http://schemas.openxmlformats.org/drawingml/2006/main">
            <a:r>
              <a:t>Source as cited in the original table: Milward (1992), Table 4.1.</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https://davidchivers.co.uk/teaching/macro-applications/lecture_1.html#/the-marshall-plan</a:t>
            </a:r>
          </a:p>
          <a:p xmlns:a="http://schemas.openxmlformats.org/drawingml/2006/main">
            <a:r>
              <a:t/>
            </a:r>
          </a:p>
          <a:p xmlns:a="http://schemas.openxmlformats.org/drawingml/2006/main">
            <a:r>
              <a:t>The Marshall Plan</a:t>
            </a:r>
          </a:p>
          <a:p xmlns:a="http://schemas.openxmlformats.org/drawingml/2006/main">
            <a:r>
              <a:t/>
            </a:r>
          </a:p>
          <a:p xmlns:a="http://schemas.openxmlformats.org/drawingml/2006/main">
            <a:r>
              <a:t>President Truman signs the Foreign Assistance Act, 3 April 1948. George C. Marshall Foundation, p. 11.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a:t>
            </a:r>
          </a:p>
          <a:p xmlns:a="http://schemas.openxmlformats.org/drawingml/2006/main">
            <a:r>
              <a:t>Intergovernmentalism</a:t>
            </a:r>
          </a:p>
          <a:p xmlns:a="http://schemas.openxmlformats.org/drawingml/2006/main">
            <a:r>
              <a:t/>
            </a:r>
          </a:p>
          <a:p xmlns:a="http://schemas.openxmlformats.org/drawingml/2006/main">
            <a:r>
              <a:t>Nations retain all sovereignty.</a:t>
            </a:r>
          </a:p>
          <a:p xmlns:a="http://schemas.openxmlformats.org/drawingml/2006/main">
            <a:r>
              <a:t/>
            </a:r>
          </a:p>
          <a:p xmlns:a="http://schemas.openxmlformats.org/drawingml/2006/main">
            <a:r>
              <a:t>OEEC (1948)</a:t>
            </a:r>
          </a:p>
          <a:p xmlns:a="http://schemas.openxmlformats.org/drawingml/2006/main">
            <a:r>
              <a:t>Council of Europe (1949)</a:t>
            </a:r>
          </a:p>
          <a:p xmlns:a="http://schemas.openxmlformats.org/drawingml/2006/main">
            <a:r>
              <a:t>Court of Human Rights (1950)</a:t>
            </a:r>
          </a:p>
          <a:p xmlns:a="http://schemas.openxmlformats.org/drawingml/2006/main">
            <a:r>
              <a:t>EFTA (1960)</a:t>
            </a:r>
          </a:p>
          <a:p xmlns:a="http://schemas.openxmlformats.org/drawingml/2006/main">
            <a:r>
              <a:t>Federalism</a:t>
            </a:r>
          </a:p>
          <a:p xmlns:a="http://schemas.openxmlformats.org/drawingml/2006/main">
            <a:r>
              <a:t/>
            </a:r>
          </a:p>
          <a:p xmlns:a="http://schemas.openxmlformats.org/drawingml/2006/main">
            <a:r>
              <a:t>Supranational institutions.</a:t>
            </a:r>
          </a:p>
          <a:p xmlns:a="http://schemas.openxmlformats.org/drawingml/2006/main">
            <a:r>
              <a:t/>
            </a:r>
          </a:p>
          <a:p xmlns:a="http://schemas.openxmlformats.org/drawingml/2006/main">
            <a:r>
              <a:t>ECSC (1951): Belgium, France, Germany, Italy, the Netherlands and Luxembourg (the “Six”) place coal and steel under a supranational authority.</a:t>
            </a:r>
          </a:p>
          <a:p xmlns:a="http://schemas.openxmlformats.org/drawingml/2006/main">
            <a:r>
              <a:t>EEC (1957): the Six commit to a customs union, free labour mobility, capital-market integration, free trade in services and common policies.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a:t>
            </a:r>
          </a:p>
          <a:p xmlns:a="http://schemas.openxmlformats.org/drawingml/2006/main">
            <a:r>
              <a:t>“The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“The abolition, as between Member States, of obstacles to freedom of movement for persons, services and capital”.</a:t>
            </a:r>
          </a:p>
          <a:p xmlns:a="http://schemas.openxmlformats.org/drawingml/2006/main">
            <a:r>
              <a:t>The adoption of common policies in agriculture, transport and other areas.</a:t>
            </a:r>
          </a:p>
          <a:p xmlns:a="http://schemas.openxmlformats.org/drawingml/2006/main">
            <a:r>
              <a:t>The establishment of supranational institutions: the European Commission, European Parliamentary Assembly and European Court of Justice.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https://davidchivers.co.uk/teaching/macro-applications/lecture_1.html#/treaty-of-rome</a:t>
            </a:r>
          </a:p>
          <a:p xmlns:a="http://schemas.openxmlformats.org/drawingml/2006/main">
            <a:r>
              <a:t/>
            </a:r>
          </a:p>
          <a:p xmlns:a="http://schemas.openxmlformats.org/drawingml/2006/main">
            <a:r>
              <a:t>Treaty of Rome</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a:t>
            </a:r>
          </a:p>
          <a:p xmlns:a="http://schemas.openxmlformats.org/drawingml/2006/main">
            <a:r>
              <a:t>Two separate trade blocs</a:t>
            </a:r>
          </a:p>
          <a:p xmlns:a="http://schemas.openxmlformats.org/drawingml/2006/main">
            <a:r>
              <a:t/>
            </a:r>
          </a:p>
          <a:p xmlns:a="http://schemas.openxmlformats.org/drawingml/2006/main">
            <a:r>
              <a:t>EEC: six members</a:t>
            </a:r>
          </a:p>
          <a:p xmlns:a="http://schemas.openxmlformats.org/drawingml/2006/main">
            <a:r>
              <a:t>A customs union</a:t>
            </a:r>
          </a:p>
          <a:p xmlns:a="http://schemas.openxmlformats.org/drawingml/2006/main">
            <a:r>
              <a:t/>
            </a:r>
          </a:p>
          <a:p xmlns:a="http://schemas.openxmlformats.org/drawingml/2006/main">
            <a:r>
              <a:t>EFTA: seven members</a:t>
            </a:r>
          </a:p>
          <a:p xmlns:a="http://schemas.openxmlformats.org/drawingml/2006/main">
            <a:r>
              <a:t>A free-trade area</a:t>
            </a:r>
          </a:p>
          <a:p xmlns:a="http://schemas.openxmlformats.org/drawingml/2006/main">
            <a:r>
              <a:t/>
            </a:r>
          </a:p>
          <a:p xmlns:a="http://schemas.openxmlformats.org/drawingml/2006/main">
            <a:r>
              <a:t>Finland: EFTA associate</a:t>
            </a:r>
          </a:p>
          <a:p xmlns:a="http://schemas.openxmlformats.org/drawingml/2006/main">
            <a:r>
              <a:t/>
            </a:r>
          </a:p>
          <a:p xmlns:a="http://schemas.openxmlformats.org/drawingml/2006/main">
            <a:r>
              <a:t>AT Austria · BE Belgium · CH Switzerland</a:t>
            </a:r>
          </a:p>
          <a:p xmlns:a="http://schemas.openxmlformats.org/drawingml/2006/main">
            <a:r>
              <a:t>DK Denmark · LU Luxembourg</a:t>
            </a:r>
          </a:p>
          <a:p xmlns:a="http://schemas.openxmlformats.org/drawingml/2006/main">
            <a:r>
              <a:t>NL Netherlands · PT Portugal</a:t>
            </a:r>
          </a:p>
          <a:p xmlns:a="http://schemas.openxmlformats.org/drawingml/2006/main">
            <a:r>
              <a:t/>
            </a:r>
          </a:p>
          <a:p xmlns:a="http://schemas.openxmlformats.org/drawingml/2006/main">
            <a:r>
              <a:t>Historical membership: Baldwin and Wyplosz; EFTA. Map adapted from Sémhur, CC BY-SA 4.0.</a:t>
            </a:r>
          </a:p>
          <a:p xmlns:a="http://schemas.openxmlformats.org/drawingml/2006/main">
            <a:r>
              <a:t/>
            </a:r>
          </a:p>
          <a:p xmlns:a="http://schemas.openxmlformats.org/drawingml/2006/main">
            <a:r>
              <a:t>Geographical map of Western Europe in the late 1960s. The EEC Six are blue: Belgium, France, West Germany, Italy, Luxembourg and the Netherlands. The EFTA Seven are purple: Austria, Denmark, Norway, Portugal, Sweden, Switzerland and the UK. Finland is hatched as an EFTA associate. The historical West/East German border is shown.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a:t>
            </a:r>
          </a:p>
          <a:p xmlns:a="http://schemas.openxmlformats.org/drawingml/2006/main">
            <a:r>
              <a:t>EEC incomes were growing twice as fast.</a:t>
            </a:r>
          </a:p>
          <a:p xmlns:a="http://schemas.openxmlformats.org/drawingml/2006/main">
            <a:r>
              <a:t>The aggregate GDP of the EEC was much larger than EFTA: the market-size effect.</a:t>
            </a:r>
          </a:p>
          <a:p xmlns:a="http://schemas.openxmlformats.org/drawingml/2006/main">
            <a:r>
              <a:t/>
            </a:r>
          </a:p>
          <a:p xmlns:a="http://schemas.openxmlformats.org/drawingml/2006/main">
            <a:r>
              <a:t>The UK, Ireland and Denmark join in 1973.</a:t>
            </a:r>
          </a:p>
          <a:p xmlns:a="http://schemas.openxmlformats.org/drawingml/2006/main">
            <a:r>
              <a:t/>
            </a:r>
          </a:p>
          <a:p xmlns:a="http://schemas.openxmlformats.org/drawingml/2006/main">
            <a:r>
              <a:t>EEC: nine members</a:t>
            </a:r>
          </a:p>
          <a:p xmlns:a="http://schemas.openxmlformats.org/drawingml/2006/main">
            <a:r>
              <a:t>EFTA members</a:t>
            </a:r>
          </a:p>
          <a:p xmlns:a="http://schemas.openxmlformats.org/drawingml/2006/main">
            <a:r>
              <a:t>Finland: associate</a:t>
            </a:r>
          </a:p>
          <a:p xmlns:a="http://schemas.openxmlformats.org/drawingml/2006/main">
            <a:r>
              <a:t/>
            </a:r>
          </a:p>
          <a:p xmlns:a="http://schemas.openxmlformats.org/drawingml/2006/main">
            <a:r>
              <a:t>Industrial free-trade agreements now link the two blocs.</a:t>
            </a:r>
          </a:p>
          <a:p xmlns:a="http://schemas.openxmlformats.org/drawingml/2006/main">
            <a:r>
              <a:t/>
            </a:r>
          </a:p>
          <a:p xmlns:a="http://schemas.openxmlformats.org/drawingml/2006/main">
            <a:r>
              <a:t>Mid-1970s; industrial tariffs phased out by 1977. EFTA history. Map adapted from Sémhur, CC BY-SA 4.0.</a:t>
            </a:r>
          </a:p>
          <a:p xmlns:a="http://schemas.openxmlformats.org/drawingml/2006/main">
            <a:r>
              <a:t/>
            </a:r>
          </a:p>
          <a:p xmlns:a="http://schemas.openxmlformats.org/drawingml/2006/main">
            <a:r>
              <a:t>The same geographical map in the mid-1970s. The UK, Denmark and Ireland are now blue as part of the EEC Nine. Iceland has joined EFTA, shown in purple with Austria, Norway, Portugal, Sweden and Switzerland. Finland remains an associate. Industrial free-trade agreements link EEC and EFTA countries.</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a:t>
            </a:r>
          </a:p>
          <a:p xmlns:a="http://schemas.openxmlformats.org/drawingml/2006/main">
            <a:r>
              <a:t/>
            </a:r>
          </a:p>
          <a:p xmlns:a="http://schemas.openxmlformats.org/drawingml/2006/main">
            <a:r>
              <a:t>David Hasselhoff above the Berlin Wall, 31 December 1989.</a:t>
            </a:r>
          </a:p>
          <a:p xmlns:a="http://schemas.openxmlformats.org/drawingml/2006/main">
            <a:r>
              <a:t>Photograph: Wöstmann/picture alliance/Getty Images, via TIME.</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a:t>
            </a:r>
          </a:p>
          <a:p xmlns:a="http://schemas.openxmlformats.org/drawingml/2006/main">
            <a:r>
              <a:t>Implementing the “four freedoms”</a:t>
            </a:r>
          </a:p>
          <a:p xmlns:a="http://schemas.openxmlformats.org/drawingml/2006/main">
            <a:r>
              <a:t/>
            </a:r>
          </a:p>
          <a:p xmlns:a="http://schemas.openxmlformats.org/drawingml/2006/main">
            <a:r>
              <a:t>Goods trade: removing non-tariff barriers</a:t>
            </a:r>
          </a:p>
          <a:p xmlns:a="http://schemas.openxmlformats.org/drawingml/2006/main">
            <a:r>
              <a:t/>
            </a:r>
          </a:p>
          <a:p xmlns:a="http://schemas.openxmlformats.org/drawingml/2006/main">
            <a:r>
              <a:t>Streamline or eliminate border formalities.</a:t>
            </a:r>
          </a:p>
          <a:p xmlns:a="http://schemas.openxmlformats.org/drawingml/2006/main">
            <a:r>
              <a:t>Harmonise VAT rates within wide bands.</a:t>
            </a:r>
          </a:p>
          <a:p xmlns:a="http://schemas.openxmlformats.org/drawingml/2006/main">
            <a:r>
              <a:t>Liberalise government procurement.</a:t>
            </a:r>
          </a:p>
          <a:p xmlns:a="http://schemas.openxmlformats.org/drawingml/2006/main">
            <a:r>
              <a:t>Harmonise and mutually recognise technical standards in production, packaging and marketing.</a:t>
            </a:r>
          </a:p>
          <a:p xmlns:a="http://schemas.openxmlformats.org/drawingml/2006/main">
            <a:r>
              <a:t/>
            </a:r>
          </a:p>
          <a:p xmlns:a="http://schemas.openxmlformats.org/drawingml/2006/main">
            <a:r>
              <a:t>Factor-market liberalisation</a:t>
            </a:r>
          </a:p>
          <a:p xmlns:a="http://schemas.openxmlformats.org/drawingml/2006/main">
            <a:r>
              <a:t/>
            </a:r>
          </a:p>
          <a:p xmlns:a="http://schemas.openxmlformats.org/drawingml/2006/main">
            <a:r>
              <a:t>Remove all capital controls.</a:t>
            </a:r>
          </a:p>
          <a:p xmlns:a="http://schemas.openxmlformats.org/drawingml/2006/main">
            <a:r>
              <a:t>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After 1993</a:t>
            </a:r>
          </a:p>
          <a:p xmlns:a="http://schemas.openxmlformats.org/drawingml/2006/main">
            <a:r>
              <a:t>Enlargement</a:t>
            </a:r>
          </a:p>
          <a:p xmlns:a="http://schemas.openxmlformats.org/drawingml/2006/main">
            <a:r>
              <a:t>Deeper integration in the EU12 induces a new “domino effect”.</a:t>
            </a:r>
          </a:p>
          <a:p xmlns:a="http://schemas.openxmlformats.org/drawingml/2006/main">
            <a:r>
              <a:t>Finland, Sweden and Austria join in 1995.</a:t>
            </a:r>
          </a:p>
          <a:p xmlns:a="http://schemas.openxmlformats.org/drawingml/2006/main">
            <a:r>
              <a:t>The EU sets the Copenhagen criteria for the accession of Central and Eastern European countries.</a:t>
            </a:r>
          </a:p>
          <a:p xmlns:a="http://schemas.openxmlformats.org/drawingml/2006/main">
            <a:r>
              <a:t>Deepening</a:t>
            </a:r>
          </a:p>
          <a:p xmlns:a="http://schemas.openxmlformats.org/drawingml/2006/main">
            <a:r>
              <a:t>The Maastricht Treaty, signed in 1992, commits EU countries to monetary union by 1999 and a single currency by 2002.</a:t>
            </a:r>
          </a:p>
          <a:p xmlns:a="http://schemas.openxmlformats.org/drawingml/2006/main">
            <a:r>
              <a:t>The Schengen Agreement, implemented in 1995, abolishes checks at borders.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https://davidchivers.co.uk/teaching/macro-applications/lecture_1.html#/the-maastricht-treaty</a:t>
            </a:r>
          </a:p>
          <a:p xmlns:a="http://schemas.openxmlformats.org/drawingml/2006/main">
            <a:r>
              <a:t/>
            </a:r>
          </a:p>
          <a:p xmlns:a="http://schemas.openxmlformats.org/drawingml/2006/main">
            <a:r>
              <a:t>The Maastricht Treaty</a:t>
            </a:r>
          </a:p>
          <a:p xmlns:a="http://schemas.openxmlformats.org/drawingml/2006/main">
            <a:r>
              <a:t/>
            </a:r>
          </a:p>
          <a:p xmlns:a="http://schemas.openxmlformats.org/drawingml/2006/main">
            <a:r>
              <a:t>Group photograph of European leaders and officials associated with the Maastricht Treaty.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50%, 50–60%, and over 60%. Scotland and much of Northern Ireland are in the lower category, while much of England and Wales is above 50%. Local variation is visible within countries.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a:t>
            </a:r>
          </a:p>
          <a:p xmlns:a="http://schemas.openxmlformats.org/drawingml/2006/main">
            <a:r>
              <a:t/>
            </a:r>
          </a:p>
          <a:p xmlns:a="http://schemas.openxmlformats.org/drawingml/2006/main">
            <a:r>
              <a:t>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a:t>
            </a:r>
          </a:p>
          <a:p xmlns:a="http://schemas.openxmlformats.org/drawingml/2006/main">
            <a:r>
              <a:t>European countries wanted to avoid another war and its economic destruction. Federalism and intergovernmentalism offered ways to counter extreme nationalism and its consequences.</a:t>
            </a:r>
          </a:p>
          <a:p xmlns:a="http://schemas.openxmlformats.org/drawingml/2006/main">
            <a:r>
              <a:t>The European Union proved a magnet for even initially reluctant outsiders: the market-size and domino effects, alongside its pro-democratic role.</a:t>
            </a:r>
          </a:p>
          <a:p xmlns:a="http://schemas.openxmlformats.org/drawingml/2006/main">
            <a:r>
              <a:t>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a:t>
            </a:r>
          </a:p>
          <a:p xmlns:a="http://schemas.openxmlformats.org/drawingml/2006/main">
            <a:r>
              <a:t/>
            </a:r>
          </a:p>
          <a:p xmlns:a="http://schemas.openxmlformats.org/drawingml/2006/main">
            <a:r>
              <a:t>We will examine the formation and completion of the customs union in Europe: the welfare effects of eliminating tariff and non-tariff barriers.</a:t>
            </a:r>
          </a:p>
          <a:p xmlns:a="http://schemas.openxmlformats.org/drawingml/2006/main">
            <a:r>
              <a:t/>
            </a:r>
          </a:p>
          <a:p xmlns:a="http://schemas.openxmlformats.org/drawingml/2006/main">
            <a:r>
              <a:t>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
            </a:r>
          </a:p>
          <a:p xmlns:a="http://schemas.openxmlformats.org/drawingml/2006/main">
            <a:r>
              <a:t>Baldwin and Wyplosz, The Economics of European Integration, Chapter 1 (any edition).</a:t>
            </a:r>
          </a:p>
          <a:p xmlns:a="http://schemas.openxmlformats.org/drawingml/2006/main">
            <a:r>
              <a:t/>
            </a:r>
          </a:p>
          <a:p xmlns:a="http://schemas.openxmlformats.org/drawingml/2006/main">
            <a:r>
              <a:t>The Talis reading list links to the 2022 seventh edition online.</a:t>
            </a:r>
          </a:p>
          <a:p xmlns:a="http://schemas.openxmlformats.org/drawingml/2006/main">
            <a:r>
              <a:t/>
            </a:r>
          </a:p>
          <a:p xmlns:a="http://schemas.openxmlformats.org/drawingml/2006/main">
            <a:r>
              <a:t>Additional references</a:t>
            </a:r>
          </a:p>
          <a:p xmlns:a="http://schemas.openxmlformats.org/drawingml/2006/main">
            <a:r>
              <a:t>See Talis on Blackboard.</a:t>
            </a:r>
          </a:p>
          <a:p xmlns:a="http://schemas.openxmlformats.org/drawingml/2006/main">
            <a:r>
              <a:t>The most important event of the 20th century?</a:t>
            </a:r>
          </a:p>
          <a:p xmlns:a="http://schemas.openxmlformats.org/drawingml/2006/main">
            <a:r>
              <a:t>Contact</a:t>
            </a:r>
          </a:p>
          <a:p xmlns:a="http://schemas.openxmlformats.org/drawingml/2006/main">
            <a:r>
              <a:t/>
            </a:r>
          </a:p>
          <a:p xmlns:a="http://schemas.openxmlformats.org/drawingml/2006/main">
            <a:r>
              <a:t>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https://durham.rl.talis.com/modules/econ2271.html</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51ebb21ffbd45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f4a4f4bd5fc4faf" /><Relationship Type="http://schemas.openxmlformats.org/officeDocument/2006/relationships/slideLayout" Target="/ppt/slideLayouts/slideLayout1.xml" Id="R3294e4dbf33a4a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94e4dbf33a4a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a647c3bfd5e48cb" /><Relationship Type="http://schemas.openxmlformats.org/officeDocument/2006/relationships/image" Target="/ppt/media/image.jpeg" Id="R1fadce5945a54c74" /><Relationship Type="http://schemas.openxmlformats.org/officeDocument/2006/relationships/notesSlide" Target="/ppt/notesSlides/notesSlide1.xml" Id="Re935f3fc33054f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2fb9a0aefb74617" /><Relationship Type="http://schemas.openxmlformats.org/officeDocument/2006/relationships/image" Target="/ppt/media/image2.jpeg" Id="R4c607f5ec93742fa" /><Relationship Type="http://schemas.openxmlformats.org/officeDocument/2006/relationships/notesSlide" Target="/ppt/notesSlides/notesSlide2.xml" Id="R16c7e7cb1b16423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8ac31416c87418f" /><Relationship Type="http://schemas.openxmlformats.org/officeDocument/2006/relationships/image" Target="/ppt/media/image3.jpeg" Id="Rcebfba481e3c4630" /><Relationship Type="http://schemas.openxmlformats.org/officeDocument/2006/relationships/notesSlide" Target="/ppt/notesSlides/notesSlide3.xml" Id="R3824525315ad413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c0dd58d9a164355" /><Relationship Type="http://schemas.openxmlformats.org/officeDocument/2006/relationships/image" Target="/ppt/media/image4.jpeg" Id="Rd2f0b490e8564d2a" /><Relationship Type="http://schemas.openxmlformats.org/officeDocument/2006/relationships/notesSlide" Target="/ppt/notesSlides/notesSlide4.xml" Id="R924a610e4e6b45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c9c230f5bec44f7" /><Relationship Type="http://schemas.openxmlformats.org/officeDocument/2006/relationships/image" Target="/ppt/media/image5.jpeg" Id="Rfdc68a689f254435" /><Relationship Type="http://schemas.openxmlformats.org/officeDocument/2006/relationships/notesSlide" Target="/ppt/notesSlides/notesSlide5.xml" Id="Rf62b04a8e34845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8b356f4862d4bcb" /><Relationship Type="http://schemas.openxmlformats.org/officeDocument/2006/relationships/image" Target="/ppt/media/image6.jpeg" Id="R0e6c59792805443a" /><Relationship Type="http://schemas.openxmlformats.org/officeDocument/2006/relationships/notesSlide" Target="/ppt/notesSlides/notesSlide6.xml" Id="Re8a6a4ed605b41f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a1aa8281dab4f66" /><Relationship Type="http://schemas.openxmlformats.org/officeDocument/2006/relationships/image" Target="/ppt/media/image7.jpeg" Id="Rfdc7bc30f79f426c" /><Relationship Type="http://schemas.openxmlformats.org/officeDocument/2006/relationships/notesSlide" Target="/ppt/notesSlides/notesSlide7.xml" Id="Ra4ac5a34cea843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304a892166f4439" /><Relationship Type="http://schemas.openxmlformats.org/officeDocument/2006/relationships/image" Target="/ppt/media/image8.jpeg" Id="Re8a97589736e45c2" /><Relationship Type="http://schemas.openxmlformats.org/officeDocument/2006/relationships/notesSlide" Target="/ppt/notesSlides/notesSlide8.xml" Id="R583df39c10b444c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ed9e54e30924318" /><Relationship Type="http://schemas.openxmlformats.org/officeDocument/2006/relationships/image" Target="/ppt/media/image.png" Id="Rac156a2fac0d42ad" /><Relationship Type="http://schemas.openxmlformats.org/officeDocument/2006/relationships/notesSlide" Target="/ppt/notesSlides/notesSlide9.xml" Id="R038ab7458c424e7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42b77c8b1a74fd6" /><Relationship Type="http://schemas.openxmlformats.org/officeDocument/2006/relationships/image" Target="/ppt/media/image9.jpeg" Id="R83df1b9c6f7b4570" /><Relationship Type="http://schemas.openxmlformats.org/officeDocument/2006/relationships/notesSlide" Target="/ppt/notesSlides/notesSlide10.xml" Id="Rd76be7a9a9f845e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93bd904a00e43de" /><Relationship Type="http://schemas.openxmlformats.org/officeDocument/2006/relationships/image" Target="/ppt/media/image10.jpeg" Id="R4a5f323550854e13" /><Relationship Type="http://schemas.openxmlformats.org/officeDocument/2006/relationships/notesSlide" Target="/ppt/notesSlides/notesSlide11.xml" Id="Rddb3976a23ff45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8bf26432c4d48a5" /><Relationship Type="http://schemas.openxmlformats.org/officeDocument/2006/relationships/image" Target="/ppt/media/image11.jpeg" Id="Rf8a41412116a4793" /><Relationship Type="http://schemas.openxmlformats.org/officeDocument/2006/relationships/notesSlide" Target="/ppt/notesSlides/notesSlide12.xml" Id="R899d9386d84a44e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665ae93d22b4eed" /><Relationship Type="http://schemas.openxmlformats.org/officeDocument/2006/relationships/image" Target="/ppt/media/image12.jpeg" Id="Rfd0f276edadc41da" /><Relationship Type="http://schemas.openxmlformats.org/officeDocument/2006/relationships/notesSlide" Target="/ppt/notesSlides/notesSlide13.xml" Id="Rcd14b0313e8c48b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b79c159f8634138" /><Relationship Type="http://schemas.openxmlformats.org/officeDocument/2006/relationships/image" Target="/ppt/media/image13.jpeg" Id="R94130d2a6737457e" /><Relationship Type="http://schemas.openxmlformats.org/officeDocument/2006/relationships/notesSlide" Target="/ppt/notesSlides/notesSlide14.xml" Id="Rac3180cad8594f3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60e0ea3e481400a" /><Relationship Type="http://schemas.openxmlformats.org/officeDocument/2006/relationships/image" Target="/ppt/media/image14.jpeg" Id="Rdb91ec2476eb4174" /><Relationship Type="http://schemas.openxmlformats.org/officeDocument/2006/relationships/notesSlide" Target="/ppt/notesSlides/notesSlide15.xml" Id="R3f69ebe3b64f49e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1cbf9b2af444351" /><Relationship Type="http://schemas.openxmlformats.org/officeDocument/2006/relationships/image" Target="/ppt/media/image15.jpeg" Id="R84ce68acfb424fa0" /><Relationship Type="http://schemas.openxmlformats.org/officeDocument/2006/relationships/notesSlide" Target="/ppt/notesSlides/notesSlide16.xml" Id="R9d00c50bac0f46f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717ce64183e408e" /><Relationship Type="http://schemas.openxmlformats.org/officeDocument/2006/relationships/image" Target="/ppt/media/image2.png" Id="Rd1070fab71bc4388" /><Relationship Type="http://schemas.openxmlformats.org/officeDocument/2006/relationships/notesSlide" Target="/ppt/notesSlides/notesSlide17.xml" Id="R00db79dd9d8541a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1ffad34a01f4e7c" /><Relationship Type="http://schemas.openxmlformats.org/officeDocument/2006/relationships/image" Target="/ppt/media/image3.png" Id="Re8204770d3e84bec" /><Relationship Type="http://schemas.openxmlformats.org/officeDocument/2006/relationships/notesSlide" Target="/ppt/notesSlides/notesSlide18.xml" Id="R8601dc8f24ad4df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a26911ba39547e3" /><Relationship Type="http://schemas.openxmlformats.org/officeDocument/2006/relationships/image" Target="/ppt/media/image4.png" Id="Rb38b2c4c0cae4700" /><Relationship Type="http://schemas.openxmlformats.org/officeDocument/2006/relationships/notesSlide" Target="/ppt/notesSlides/notesSlide19.xml" Id="R8352336d1f68498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f2ef390d9d54609" /><Relationship Type="http://schemas.openxmlformats.org/officeDocument/2006/relationships/image" Target="/ppt/media/image16.jpeg" Id="R44eccdf8b9504ba4" /><Relationship Type="http://schemas.openxmlformats.org/officeDocument/2006/relationships/notesSlide" Target="/ppt/notesSlides/notesSlide20.xml" Id="R4e0ebbbfb8d4442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60986d7661c41ae" /><Relationship Type="http://schemas.openxmlformats.org/officeDocument/2006/relationships/image" Target="/ppt/media/image17.jpeg" Id="Rbe77efeb9c4f45eb" /><Relationship Type="http://schemas.openxmlformats.org/officeDocument/2006/relationships/notesSlide" Target="/ppt/notesSlides/notesSlide21.xml" Id="R1664c96a5a2640c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06ce4d9abf84cda" /><Relationship Type="http://schemas.openxmlformats.org/officeDocument/2006/relationships/image" Target="/ppt/media/image18.jpeg" Id="R85a66d15ffd04e5a" /><Relationship Type="http://schemas.openxmlformats.org/officeDocument/2006/relationships/notesSlide" Target="/ppt/notesSlides/notesSlide22.xml" Id="Rc997cf9d3aad418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7ae39afc82646d7" /><Relationship Type="http://schemas.openxmlformats.org/officeDocument/2006/relationships/image" Target="/ppt/media/image19.jpeg" Id="Ra460add9a8e04ce3" /><Relationship Type="http://schemas.openxmlformats.org/officeDocument/2006/relationships/notesSlide" Target="/ppt/notesSlides/notesSlide23.xml" Id="Rb2b97103ee8f447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2dda732c26a4a26" /><Relationship Type="http://schemas.openxmlformats.org/officeDocument/2006/relationships/image" Target="/ppt/media/image20.jpeg" Id="Rd1895353e8964d54" /><Relationship Type="http://schemas.openxmlformats.org/officeDocument/2006/relationships/notesSlide" Target="/ppt/notesSlides/notesSlide24.xml" Id="Rba73a755edeb44d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a1077060f0e4af8" /><Relationship Type="http://schemas.openxmlformats.org/officeDocument/2006/relationships/image" Target="/ppt/media/image21.jpeg" Id="R3cf57fbb174c49e5" /><Relationship Type="http://schemas.openxmlformats.org/officeDocument/2006/relationships/notesSlide" Target="/ppt/notesSlides/notesSlide25.xml" Id="Rad5a73d29340461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64b0d59deea4670" /><Relationship Type="http://schemas.openxmlformats.org/officeDocument/2006/relationships/image" Target="/ppt/media/image22.jpeg" Id="Raa411436e7f6461b" /><Relationship Type="http://schemas.openxmlformats.org/officeDocument/2006/relationships/notesSlide" Target="/ppt/notesSlides/notesSlide26.xml" Id="R2d7b122fb8034aa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e6234a1fc7a407a" /><Relationship Type="http://schemas.openxmlformats.org/officeDocument/2006/relationships/image" Target="/ppt/media/image5.png" Id="Rf5ada75d2d664960" /><Relationship Type="http://schemas.openxmlformats.org/officeDocument/2006/relationships/notesSlide" Target="/ppt/notesSlides/notesSlide27.xml" Id="Re0099f248b884ec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fadce5945a54c7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3985846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c607f5ec93742f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78802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ebfba481e3c463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119880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2f0b490e8564d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5291666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dc68a689f25443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1143269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e6c59792805443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2885897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dc7bc30f79f426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25386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8a97589736e45c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6807078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c156a2fac0d42a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8564111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3df1b9c6f7b457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0460960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a5f323550854e1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1279384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8a41412116a479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4262685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d0f276edadc41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0452857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4130d2a6737457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5210319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b91ec2476eb417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224715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4ce68acfb424fa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938081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1070fab71bc438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0847143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8204770d3e84be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3008162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38b2c4c0cae470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5754586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4eccdf8b9504ba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0084997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e77efeb9c4f45e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062534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5a66d15ffd04e5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6401582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460add9a8e04ce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5592368"/>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1895353e8964d5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617821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cf57fbb174c49e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23007840"/>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a411436e7f6461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00249309"/>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5ada75d2d66496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282327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2026-10-06T10:57:16.2730000Z</dcterms:created>
  <dcterms:modified xsi:type="dcterms:W3CDTF">2026-10-06T10:57:16.2730000Z</dcterms:modified>
</coreProperties>
</file>