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4"/>
  </p:sldMasterIdLst>
  <p:notesMasterIdLst>
    <p:notesMasterId r:id="rId21"/>
  </p:notesMasterIdLst>
  <p:handoutMasterIdLst>
    <p:handoutMasterId r:id="rId22"/>
  </p:handoutMasterIdLst>
  <p:sldIdLst>
    <p:sldId id="326" r:id="rId5"/>
    <p:sldId id="340" r:id="rId6"/>
    <p:sldId id="341" r:id="rId7"/>
    <p:sldId id="327" r:id="rId8"/>
    <p:sldId id="328" r:id="rId9"/>
    <p:sldId id="329" r:id="rId10"/>
    <p:sldId id="330" r:id="rId11"/>
    <p:sldId id="304" r:id="rId12"/>
    <p:sldId id="331" r:id="rId13"/>
    <p:sldId id="337" r:id="rId14"/>
    <p:sldId id="332" r:id="rId15"/>
    <p:sldId id="333" r:id="rId16"/>
    <p:sldId id="334" r:id="rId17"/>
    <p:sldId id="343" r:id="rId18"/>
    <p:sldId id="336" r:id="rId19"/>
    <p:sldId id="339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4135A"/>
    <a:srgbClr val="00AEEF"/>
    <a:srgbClr val="109DEC"/>
    <a:srgbClr val="0A91C3"/>
    <a:srgbClr val="68246D"/>
    <a:srgbClr val="AF0822"/>
    <a:srgbClr val="002A41"/>
    <a:srgbClr val="FFCE2D"/>
    <a:srgbClr val="9F9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0E5E0-4A24-439C-A81E-F07A546AACB1}" v="7" dt="2026-02-20T13:30:22.557"/>
    <p1510:client id="{FD4CEB93-89EB-40C4-B2AD-8CD14FA01C15}" v="9" dt="2026-02-20T12:44:03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5138" autoAdjust="0"/>
  </p:normalViewPr>
  <p:slideViewPr>
    <p:cSldViewPr snapToGrid="0" snapToObjects="1">
      <p:cViewPr varScale="1">
        <p:scale>
          <a:sx n="210" d="100"/>
          <a:sy n="210" d="100"/>
        </p:scale>
        <p:origin x="354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2812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Chivers" userId="34def9d130aed1a9" providerId="LiveId" clId="{96261DAA-65AE-49FB-A14E-0060BD2A227A}"/>
    <pc:docChg chg="undo custSel addSld delSld modSld sldOrd">
      <pc:chgData name="Dave Chivers" userId="34def9d130aed1a9" providerId="LiveId" clId="{96261DAA-65AE-49FB-A14E-0060BD2A227A}" dt="2026-02-20T13:31:47.733" v="4047" actId="313"/>
      <pc:docMkLst>
        <pc:docMk/>
      </pc:docMkLst>
      <pc:sldChg chg="modSp mod">
        <pc:chgData name="Dave Chivers" userId="34def9d130aed1a9" providerId="LiveId" clId="{96261DAA-65AE-49FB-A14E-0060BD2A227A}" dt="2026-02-20T11:58:08.460" v="1305" actId="1076"/>
        <pc:sldMkLst>
          <pc:docMk/>
          <pc:sldMk cId="0" sldId="256"/>
        </pc:sldMkLst>
        <pc:spChg chg="mod">
          <ac:chgData name="Dave Chivers" userId="34def9d130aed1a9" providerId="LiveId" clId="{96261DAA-65AE-49FB-A14E-0060BD2A227A}" dt="2026-02-20T11:32:24.977" v="8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1:58:08.460" v="1305" actId="1076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Dave Chivers" userId="34def9d130aed1a9" providerId="LiveId" clId="{96261DAA-65AE-49FB-A14E-0060BD2A227A}" dt="2026-02-20T13:05:46.343" v="2434" actId="20577"/>
        <pc:sldMkLst>
          <pc:docMk/>
          <pc:sldMk cId="0" sldId="257"/>
        </pc:sldMkLst>
        <pc:spChg chg="mod">
          <ac:chgData name="Dave Chivers" userId="34def9d130aed1a9" providerId="LiveId" clId="{96261DAA-65AE-49FB-A14E-0060BD2A227A}" dt="2026-02-20T12:39:05.337" v="1392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05:46.343" v="2434" actId="20577"/>
          <ac:spMkLst>
            <pc:docMk/>
            <pc:sldMk cId="0" sldId="257"/>
            <ac:spMk id="3" creationId="{00000000-0000-0000-0000-000000000000}"/>
          </ac:spMkLst>
        </pc:spChg>
        <pc:spChg chg="add">
          <ac:chgData name="Dave Chivers" userId="34def9d130aed1a9" providerId="LiveId" clId="{96261DAA-65AE-49FB-A14E-0060BD2A227A}" dt="2026-02-20T12:38:04.388" v="1326"/>
          <ac:spMkLst>
            <pc:docMk/>
            <pc:sldMk cId="0" sldId="257"/>
            <ac:spMk id="4" creationId="{D423D9E8-71F7-2280-F293-AD7A5D96E4DC}"/>
          </ac:spMkLst>
        </pc:spChg>
        <pc:spChg chg="add">
          <ac:chgData name="Dave Chivers" userId="34def9d130aed1a9" providerId="LiveId" clId="{96261DAA-65AE-49FB-A14E-0060BD2A227A}" dt="2026-02-20T12:38:07.313" v="1327"/>
          <ac:spMkLst>
            <pc:docMk/>
            <pc:sldMk cId="0" sldId="257"/>
            <ac:spMk id="5" creationId="{45FBADDB-C391-70DF-A287-898F2E6A0CA6}"/>
          </ac:spMkLst>
        </pc:spChg>
      </pc:sldChg>
      <pc:sldChg chg="modSp del mod ord">
        <pc:chgData name="Dave Chivers" userId="34def9d130aed1a9" providerId="LiveId" clId="{96261DAA-65AE-49FB-A14E-0060BD2A227A}" dt="2026-02-20T12:36:58.618" v="1323" actId="47"/>
        <pc:sldMkLst>
          <pc:docMk/>
          <pc:sldMk cId="0" sldId="258"/>
        </pc:sldMkLst>
        <pc:spChg chg="mod">
          <ac:chgData name="Dave Chivers" userId="34def9d130aed1a9" providerId="LiveId" clId="{96261DAA-65AE-49FB-A14E-0060BD2A227A}" dt="2026-02-20T11:34:17.120" v="300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 ord">
        <pc:chgData name="Dave Chivers" userId="34def9d130aed1a9" providerId="LiveId" clId="{96261DAA-65AE-49FB-A14E-0060BD2A227A}" dt="2026-02-20T13:11:32.630" v="2872" actId="20577"/>
        <pc:sldMkLst>
          <pc:docMk/>
          <pc:sldMk cId="0" sldId="259"/>
        </pc:sldMkLst>
        <pc:spChg chg="mod">
          <ac:chgData name="Dave Chivers" userId="34def9d130aed1a9" providerId="LiveId" clId="{96261DAA-65AE-49FB-A14E-0060BD2A227A}" dt="2026-02-20T13:03:35.148" v="2138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11:32.630" v="2872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ord">
        <pc:chgData name="Dave Chivers" userId="34def9d130aed1a9" providerId="LiveId" clId="{96261DAA-65AE-49FB-A14E-0060BD2A227A}" dt="2026-02-20T13:09:42.289" v="2837" actId="20577"/>
        <pc:sldMkLst>
          <pc:docMk/>
          <pc:sldMk cId="0" sldId="260"/>
        </pc:sldMkLst>
        <pc:spChg chg="mod">
          <ac:chgData name="Dave Chivers" userId="34def9d130aed1a9" providerId="LiveId" clId="{96261DAA-65AE-49FB-A14E-0060BD2A227A}" dt="2026-02-20T13:09:34.523" v="2823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09:42.289" v="2837" actId="20577"/>
          <ac:spMkLst>
            <pc:docMk/>
            <pc:sldMk cId="0" sldId="260"/>
            <ac:spMk id="3" creationId="{00000000-0000-0000-0000-000000000000}"/>
          </ac:spMkLst>
        </pc:spChg>
        <pc:picChg chg="del mod">
          <ac:chgData name="Dave Chivers" userId="34def9d130aed1a9" providerId="LiveId" clId="{96261DAA-65AE-49FB-A14E-0060BD2A227A}" dt="2026-02-20T11:35:15.615" v="473" actId="478"/>
          <ac:picMkLst>
            <pc:docMk/>
            <pc:sldMk cId="0" sldId="260"/>
            <ac:picMk id="4" creationId="{00000000-0000-0000-0000-000000000000}"/>
          </ac:picMkLst>
        </pc:picChg>
        <pc:picChg chg="add mod">
          <ac:chgData name="Dave Chivers" userId="34def9d130aed1a9" providerId="LiveId" clId="{96261DAA-65AE-49FB-A14E-0060BD2A227A}" dt="2026-02-20T11:36:32.546" v="476" actId="1076"/>
          <ac:picMkLst>
            <pc:docMk/>
            <pc:sldMk cId="0" sldId="260"/>
            <ac:picMk id="6" creationId="{0AB7C000-7290-CC22-6EB6-A9B2C93D7300}"/>
          </ac:picMkLst>
        </pc:picChg>
      </pc:sldChg>
      <pc:sldChg chg="modSp mod ord">
        <pc:chgData name="Dave Chivers" userId="34def9d130aed1a9" providerId="LiveId" clId="{96261DAA-65AE-49FB-A14E-0060BD2A227A}" dt="2026-02-20T13:11:49.170" v="2875" actId="113"/>
        <pc:sldMkLst>
          <pc:docMk/>
          <pc:sldMk cId="0" sldId="261"/>
        </pc:sldMkLst>
        <pc:spChg chg="mod">
          <ac:chgData name="Dave Chivers" userId="34def9d130aed1a9" providerId="LiveId" clId="{96261DAA-65AE-49FB-A14E-0060BD2A227A}" dt="2026-02-20T13:11:49.170" v="2875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ord">
        <pc:chgData name="Dave Chivers" userId="34def9d130aed1a9" providerId="LiveId" clId="{96261DAA-65AE-49FB-A14E-0060BD2A227A}" dt="2026-02-20T13:27:45.240" v="3482" actId="20577"/>
        <pc:sldMkLst>
          <pc:docMk/>
          <pc:sldMk cId="0" sldId="262"/>
        </pc:sldMkLst>
        <pc:spChg chg="mod">
          <ac:chgData name="Dave Chivers" userId="34def9d130aed1a9" providerId="LiveId" clId="{96261DAA-65AE-49FB-A14E-0060BD2A227A}" dt="2026-02-20T11:42:06.064" v="1205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27:45.240" v="348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del mod">
        <pc:chgData name="Dave Chivers" userId="34def9d130aed1a9" providerId="LiveId" clId="{96261DAA-65AE-49FB-A14E-0060BD2A227A}" dt="2026-02-20T11:42:00.662" v="1204" actId="47"/>
        <pc:sldMkLst>
          <pc:docMk/>
          <pc:sldMk cId="0" sldId="263"/>
        </pc:sldMkLst>
        <pc:spChg chg="mod">
          <ac:chgData name="Dave Chivers" userId="34def9d130aed1a9" providerId="LiveId" clId="{96261DAA-65AE-49FB-A14E-0060BD2A227A}" dt="2026-02-20T11:41:46.374" v="1203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1:41:30.018" v="1188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ave Chivers" userId="34def9d130aed1a9" providerId="LiveId" clId="{96261DAA-65AE-49FB-A14E-0060BD2A227A}" dt="2026-02-20T13:31:47.733" v="4047" actId="313"/>
        <pc:sldMkLst>
          <pc:docMk/>
          <pc:sldMk cId="0" sldId="264"/>
        </pc:sldMkLst>
        <pc:spChg chg="mod">
          <ac:chgData name="Dave Chivers" userId="34def9d130aed1a9" providerId="LiveId" clId="{96261DAA-65AE-49FB-A14E-0060BD2A227A}" dt="2026-02-20T13:31:47.733" v="4047" actId="313"/>
          <ac:spMkLst>
            <pc:docMk/>
            <pc:sldMk cId="0" sldId="264"/>
            <ac:spMk id="3" creationId="{00000000-0000-0000-0000-000000000000}"/>
          </ac:spMkLst>
        </pc:spChg>
      </pc:sldChg>
      <pc:sldChg chg="del">
        <pc:chgData name="Dave Chivers" userId="34def9d130aed1a9" providerId="LiveId" clId="{96261DAA-65AE-49FB-A14E-0060BD2A227A}" dt="2026-02-20T13:10:00.328" v="2838" actId="47"/>
        <pc:sldMkLst>
          <pc:docMk/>
          <pc:sldMk cId="0" sldId="265"/>
        </pc:sldMkLst>
      </pc:sldChg>
      <pc:sldChg chg="modSp mod">
        <pc:chgData name="Dave Chivers" userId="34def9d130aed1a9" providerId="LiveId" clId="{96261DAA-65AE-49FB-A14E-0060BD2A227A}" dt="2026-02-20T13:27:27.465" v="3436" actId="313"/>
        <pc:sldMkLst>
          <pc:docMk/>
          <pc:sldMk cId="0" sldId="266"/>
        </pc:sldMkLst>
        <pc:spChg chg="mod">
          <ac:chgData name="Dave Chivers" userId="34def9d130aed1a9" providerId="LiveId" clId="{96261DAA-65AE-49FB-A14E-0060BD2A227A}" dt="2026-02-20T13:27:27.465" v="3436" actId="313"/>
          <ac:spMkLst>
            <pc:docMk/>
            <pc:sldMk cId="0" sldId="266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11:18.262" v="2871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ord">
        <pc:chgData name="Dave Chivers" userId="34def9d130aed1a9" providerId="LiveId" clId="{96261DAA-65AE-49FB-A14E-0060BD2A227A}" dt="2026-02-20T13:10:33.704" v="2843" actId="113"/>
        <pc:sldMkLst>
          <pc:docMk/>
          <pc:sldMk cId="0" sldId="267"/>
        </pc:sldMkLst>
        <pc:spChg chg="mod">
          <ac:chgData name="Dave Chivers" userId="34def9d130aed1a9" providerId="LiveId" clId="{96261DAA-65AE-49FB-A14E-0060BD2A227A}" dt="2026-02-20T13:04:42.129" v="2236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Dave Chivers" userId="34def9d130aed1a9" providerId="LiveId" clId="{96261DAA-65AE-49FB-A14E-0060BD2A227A}" dt="2026-02-20T13:10:33.704" v="2843" actId="113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Dave Chivers" userId="34def9d130aed1a9" providerId="LiveId" clId="{96261DAA-65AE-49FB-A14E-0060BD2A227A}" dt="2026-02-20T13:27:13.874" v="3403" actId="20577"/>
        <pc:sldMkLst>
          <pc:docMk/>
          <pc:sldMk cId="0" sldId="268"/>
        </pc:sldMkLst>
        <pc:spChg chg="mod">
          <ac:chgData name="Dave Chivers" userId="34def9d130aed1a9" providerId="LiveId" clId="{96261DAA-65AE-49FB-A14E-0060BD2A227A}" dt="2026-02-20T13:27:13.874" v="3403" actId="20577"/>
          <ac:spMkLst>
            <pc:docMk/>
            <pc:sldMk cId="0" sldId="268"/>
            <ac:spMk id="3" creationId="{00000000-0000-0000-0000-000000000000}"/>
          </ac:spMkLst>
        </pc:spChg>
      </pc:sldChg>
      <pc:sldChg chg="del">
        <pc:chgData name="Dave Chivers" userId="34def9d130aed1a9" providerId="LiveId" clId="{96261DAA-65AE-49FB-A14E-0060BD2A227A}" dt="2026-02-20T13:22:17.284" v="2876" actId="47"/>
        <pc:sldMkLst>
          <pc:docMk/>
          <pc:sldMk cId="0" sldId="269"/>
        </pc:sldMkLst>
      </pc:sldChg>
      <pc:sldChg chg="modSp add mod">
        <pc:chgData name="Dave Chivers" userId="34def9d130aed1a9" providerId="LiveId" clId="{96261DAA-65AE-49FB-A14E-0060BD2A227A}" dt="2026-02-20T13:24:15.510" v="3065" actId="20577"/>
        <pc:sldMkLst>
          <pc:docMk/>
          <pc:sldMk cId="3814786226" sldId="269"/>
        </pc:sldMkLst>
        <pc:spChg chg="mod">
          <ac:chgData name="Dave Chivers" userId="34def9d130aed1a9" providerId="LiveId" clId="{96261DAA-65AE-49FB-A14E-0060BD2A227A}" dt="2026-02-20T13:24:11.112" v="3048" actId="313"/>
          <ac:spMkLst>
            <pc:docMk/>
            <pc:sldMk cId="3814786226" sldId="269"/>
            <ac:spMk id="2" creationId="{68AB4F8D-89DF-9BD6-2BA7-FB1E9B901F2A}"/>
          </ac:spMkLst>
        </pc:spChg>
        <pc:spChg chg="mod">
          <ac:chgData name="Dave Chivers" userId="34def9d130aed1a9" providerId="LiveId" clId="{96261DAA-65AE-49FB-A14E-0060BD2A227A}" dt="2026-02-20T13:24:15.510" v="3065" actId="20577"/>
          <ac:spMkLst>
            <pc:docMk/>
            <pc:sldMk cId="3814786226" sldId="269"/>
            <ac:spMk id="3" creationId="{43C9538B-AF2E-757C-22E6-DEE308F56F4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ACD56-CA7D-3A42-9B42-9FD56464B91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8D3B8-2EC2-4F46-B8AF-ABD68D921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77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FD2D5-AB94-4C28-8208-573619E6539A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8D5FC-6253-4ACB-83B0-56F5FD721A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34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907" y="1252280"/>
            <a:ext cx="7826186" cy="1102519"/>
          </a:xfr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chemeClr val="dk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906" y="2977658"/>
            <a:ext cx="7826187" cy="131445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chemeClr val="dk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5C5DC-0311-DD3A-1694-FF867F036145}"/>
              </a:ext>
            </a:extLst>
          </p:cNvPr>
          <p:cNvSpPr txBox="1"/>
          <p:nvPr userDrawn="1"/>
        </p:nvSpPr>
        <p:spPr>
          <a:xfrm>
            <a:off x="7145314" y="48232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838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3" y="277484"/>
            <a:ext cx="7902388" cy="496239"/>
          </a:xfrm>
        </p:spPr>
        <p:txBody>
          <a:bodyPr lIns="0" tIns="0" rIns="0" bIns="0" anchor="t">
            <a:noAutofit/>
          </a:bodyPr>
          <a:lstStyle>
            <a:lvl1pPr algn="ctr">
              <a:defRPr sz="2400" b="1">
                <a:solidFill>
                  <a:schemeClr val="dk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621553" y="844062"/>
            <a:ext cx="7902388" cy="3642528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800"/>
              </a:spcBef>
              <a:buNone/>
              <a:defRPr sz="1800">
                <a:solidFill>
                  <a:schemeClr val="dk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chemeClr val="dk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1600">
                <a:solidFill>
                  <a:schemeClr val="dk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907" y="1252280"/>
            <a:ext cx="7826186" cy="1102519"/>
          </a:xfr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906" y="2977658"/>
            <a:ext cx="7826187" cy="131445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5C5DC-0311-DD3A-1694-FF867F036145}"/>
              </a:ext>
            </a:extLst>
          </p:cNvPr>
          <p:cNvSpPr txBox="1"/>
          <p:nvPr userDrawn="1"/>
        </p:nvSpPr>
        <p:spPr>
          <a:xfrm>
            <a:off x="7145314" y="48232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838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3" y="277484"/>
            <a:ext cx="7902388" cy="496239"/>
          </a:xfrm>
        </p:spPr>
        <p:txBody>
          <a:bodyPr lIns="0" tIns="0" rIns="0" bIns="0" anchor="t">
            <a:noAutofit/>
          </a:bodyPr>
          <a:lstStyle>
            <a:lvl1pPr algn="ctr">
              <a:defRPr sz="24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621553" y="844062"/>
            <a:ext cx="7902388" cy="3642528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8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16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907" y="1252280"/>
            <a:ext cx="7826186" cy="1102519"/>
          </a:xfr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906" y="2977658"/>
            <a:ext cx="7826187" cy="131445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5C5DC-0311-DD3A-1694-FF867F036145}"/>
              </a:ext>
            </a:extLst>
          </p:cNvPr>
          <p:cNvSpPr txBox="1"/>
          <p:nvPr userDrawn="1"/>
        </p:nvSpPr>
        <p:spPr>
          <a:xfrm>
            <a:off x="7145314" y="48232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838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3" y="277484"/>
            <a:ext cx="7902388" cy="496239"/>
          </a:xfrm>
        </p:spPr>
        <p:txBody>
          <a:bodyPr lIns="0" tIns="0" rIns="0" bIns="0" anchor="t">
            <a:noAutofit/>
          </a:bodyPr>
          <a:lstStyle>
            <a:lvl1pPr algn="ctr">
              <a:defRPr sz="24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621553" y="844062"/>
            <a:ext cx="7902388" cy="3642528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8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16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907" y="1252280"/>
            <a:ext cx="7826186" cy="1102519"/>
          </a:xfr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906" y="2977658"/>
            <a:ext cx="7826187" cy="131445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5C5DC-0311-DD3A-1694-FF867F036145}"/>
              </a:ext>
            </a:extLst>
          </p:cNvPr>
          <p:cNvSpPr txBox="1"/>
          <p:nvPr userDrawn="1"/>
        </p:nvSpPr>
        <p:spPr>
          <a:xfrm>
            <a:off x="7145314" y="48232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838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3" y="277484"/>
            <a:ext cx="7902388" cy="496239"/>
          </a:xfrm>
        </p:spPr>
        <p:txBody>
          <a:bodyPr lIns="0" tIns="0" rIns="0" bIns="0" anchor="t">
            <a:noAutofit/>
          </a:bodyPr>
          <a:lstStyle>
            <a:lvl1pPr algn="ctr">
              <a:defRPr sz="24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621553" y="844062"/>
            <a:ext cx="7902388" cy="3642528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8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16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907" y="1252280"/>
            <a:ext cx="7826186" cy="1102519"/>
          </a:xfr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906" y="2977658"/>
            <a:ext cx="7826187" cy="131445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5C5DC-0311-DD3A-1694-FF867F036145}"/>
              </a:ext>
            </a:extLst>
          </p:cNvPr>
          <p:cNvSpPr txBox="1"/>
          <p:nvPr userDrawn="1"/>
        </p:nvSpPr>
        <p:spPr>
          <a:xfrm>
            <a:off x="7145314" y="48232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838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3" y="277484"/>
            <a:ext cx="7902388" cy="496239"/>
          </a:xfrm>
        </p:spPr>
        <p:txBody>
          <a:bodyPr lIns="0" tIns="0" rIns="0" bIns="0" anchor="t">
            <a:noAutofit/>
          </a:bodyPr>
          <a:lstStyle>
            <a:lvl1pPr algn="ctr">
              <a:defRPr sz="24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621553" y="844062"/>
            <a:ext cx="7902388" cy="3642528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8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16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  <p:sp>
        <p:nvSpPr>
          <p:cNvPr id="200" name="BottomAccent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45B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1A1A2E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1A1A2E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A1A2E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1A1A2E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rgbClr val="1A1A2E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rgbClr val="1A1A2E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1A1A2E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1A1A2E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1A1A2E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1A1A2E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143000"/>
          </a:xfrm>
        </p:spPr>
        <p:txBody>
          <a:bodyPr anchor="ctr" anchorCtr="0">
            <a:noAutofit/>
          </a:bodyPr>
          <a:lstStyle/>
          <a:p>
            <a:pPr algn="ctr">
              <a:buNone/>
            </a:pPr>
            <a:r>
              <a:rPr lang="en-US" sz="3400" b="1" dirty="0">
                <a:solidFill>
                  <a:schemeClr val="dk1"/>
                </a:solidFill>
              </a:rPr>
              <a:t>A Beginner's Guide to AI</a:t>
            </a:r>
          </a:p>
          <a:p>
            <a:pPr algn="ctr">
              <a:buNone/>
            </a:pPr>
            <a:r>
              <a:rPr lang="en-US" sz="2600" dirty="0">
                <a:solidFill>
                  <a:schemeClr val="dk1"/>
                </a:solidFill>
                <a:latin typeface="+mj-lt"/>
              </a:rPr>
              <a:t>(Beyond ChatGPT)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048000"/>
            <a:ext cx="7772400" cy="635000"/>
          </a:xfrm>
        </p:spPr>
        <p:txBody>
          <a:bodyPr anchor="ctr" anchorCtr="0">
            <a:noAutofit/>
          </a:bodyPr>
          <a:lstStyle/>
          <a:p>
            <a:pPr algn="ctr">
              <a:buNone/>
            </a:pPr>
            <a:r>
              <a:rPr lang="en-US" sz="1800" dirty="0"/>
              <a:t>david.chivers.co.uk/</a:t>
            </a:r>
            <a:r>
              <a:rPr lang="en-US" sz="1800" dirty="0" err="1"/>
              <a:t>ai_install</a:t>
            </a:r>
            <a:endParaRPr lang="en-US" sz="1800" dirty="0">
              <a:solidFill>
                <a:schemeClr val="dk1"/>
              </a:solidFill>
            </a:endParaRPr>
          </a:p>
        </p:txBody>
      </p:sp>
      <p:sp>
        <p:nvSpPr>
          <p:cNvPr id="50" name="AccentLine"/>
          <p:cNvSpPr/>
          <p:nvPr/>
        </p:nvSpPr>
        <p:spPr>
          <a:xfrm>
            <a:off x="2971800" y="2914650"/>
            <a:ext cx="3200400" cy="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0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81B78-93FE-F06E-0240-21DD2E14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8B6B-6379-E7D7-809F-979EF7000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143000"/>
          </a:xfrm>
        </p:spPr>
        <p:txBody>
          <a:bodyPr anchor="ctr" anchorCtr="0">
            <a:noAutofit/>
          </a:bodyPr>
          <a:lstStyle/>
          <a:p>
            <a:pPr algn="ctr">
              <a:buNone/>
            </a:pPr>
            <a:r>
              <a:rPr lang="en-US" sz="3400" dirty="0">
                <a:latin typeface="+mj-lt"/>
              </a:rPr>
              <a:t>DISCLAIMER!</a:t>
            </a:r>
            <a:endParaRPr lang="en-US" sz="2600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50" name="AccentLine">
            <a:extLst>
              <a:ext uri="{FF2B5EF4-FFF2-40B4-BE49-F238E27FC236}">
                <a16:creationId xmlns:a16="http://schemas.microsoft.com/office/drawing/2014/main" id="{6AF16E58-24DA-00A2-D5BA-D1879FBF1867}"/>
              </a:ext>
            </a:extLst>
          </p:cNvPr>
          <p:cNvSpPr/>
          <p:nvPr/>
        </p:nvSpPr>
        <p:spPr>
          <a:xfrm>
            <a:off x="2971800" y="2914650"/>
            <a:ext cx="3200400" cy="0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2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130E-2C48-F53B-0EBA-8BF68C41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is getting exponentially better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5FA73F5E-9CBB-78D6-3394-2488BCABA6AD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73" y="844550"/>
            <a:ext cx="7738054" cy="364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81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Economists are now using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None/>
              <a:defRPr sz="1400"/>
            </a:pPr>
            <a:r>
              <a:rPr lang="en-US" sz="1500" b="1" dirty="0">
                <a:solidFill>
                  <a:schemeClr val="dk1"/>
                </a:solidFill>
              </a:rPr>
              <a:t>Chris Blattman (Chicago)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pPr>
            <a:r>
              <a:rPr lang="en-US" sz="1400" i="1" dirty="0">
                <a:solidFill>
                  <a:schemeClr val="dk1"/>
                </a:solidFill>
              </a:rPr>
              <a:t>"For each of about 10 research projects, I built an automated skill where Claude Code pulls, integrates, and generates a weekly overview with priorities."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None/>
              <a:defRPr sz="1400"/>
            </a:pPr>
            <a:r>
              <a:rPr lang="en-US" sz="1500" b="1" dirty="0">
                <a:solidFill>
                  <a:schemeClr val="dk1"/>
                </a:solidFill>
              </a:rPr>
              <a:t>Antonio Mele (LSE)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None/>
              <a:defRPr sz="1400"/>
            </a:pPr>
            <a:r>
              <a:rPr lang="en-US" sz="1400" i="1" dirty="0">
                <a:solidFill>
                  <a:schemeClr val="dk1"/>
                </a:solidFill>
              </a:rPr>
              <a:t>"Workflow transformed … 50–200x productivity multiplier."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None/>
              <a:defRPr sz="1400"/>
            </a:pPr>
            <a:r>
              <a:rPr lang="en-US" sz="1500" b="1" dirty="0">
                <a:solidFill>
                  <a:schemeClr val="dk1"/>
                </a:solidFill>
              </a:rPr>
              <a:t>Paul Novosad (Dartmouth)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700"/>
              </a:spcAft>
              <a:buNone/>
              <a:defRPr sz="1400"/>
            </a:pPr>
            <a:r>
              <a:rPr lang="en-US" sz="1400" i="1" dirty="0">
                <a:solidFill>
                  <a:schemeClr val="dk1"/>
                </a:solidFill>
              </a:rPr>
              <a:t>"I wrote a decent paper with AI in about 3 hours from start to finish.“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700"/>
              </a:spcAft>
              <a:buNone/>
              <a:defRPr sz="1400"/>
            </a:pPr>
            <a:endParaRPr lang="en-US" sz="1400" i="1" dirty="0">
              <a:solidFill>
                <a:schemeClr val="dk1"/>
              </a:solidFill>
            </a:endParaRPr>
          </a:p>
          <a:p>
            <a:pPr algn="ctr">
              <a:lnSpc>
                <a:spcPts val="1800"/>
              </a:lnSpc>
              <a:spcBef>
                <a:spcPts val="200"/>
              </a:spcBef>
              <a:buNone/>
              <a:defRPr sz="1400"/>
            </a:pPr>
            <a:endParaRPr lang="en-US" sz="1600" b="1" dirty="0">
              <a:solidFill>
                <a:schemeClr val="dk1"/>
              </a:solidFill>
            </a:endParaRPr>
          </a:p>
          <a:p>
            <a:pPr algn="ctr">
              <a:lnSpc>
                <a:spcPts val="1800"/>
              </a:lnSpc>
              <a:spcBef>
                <a:spcPts val="200"/>
              </a:spcBef>
              <a:buNone/>
              <a:defRPr sz="1400"/>
            </a:pPr>
            <a:r>
              <a:rPr lang="en-US" sz="2400" b="1" i="1" dirty="0"/>
              <a:t>Vibe Coding</a:t>
            </a:r>
          </a:p>
          <a:p>
            <a:pPr algn="ctr">
              <a:lnSpc>
                <a:spcPts val="1800"/>
              </a:lnSpc>
              <a:spcBef>
                <a:spcPts val="200"/>
              </a:spcBef>
              <a:buNone/>
              <a:defRPr sz="1400"/>
            </a:pPr>
            <a:r>
              <a:rPr lang="en-US" sz="1600" b="1" dirty="0">
                <a:solidFill>
                  <a:schemeClr val="dk1"/>
                </a:solidFill>
              </a:rPr>
              <a:t>You don't need to know how to code — just give instructions in plain English</a:t>
            </a:r>
          </a:p>
        </p:txBody>
      </p:sp>
    </p:spTree>
    <p:extLst>
      <p:ext uri="{BB962C8B-B14F-4D97-AF65-F5344CB8AC3E}">
        <p14:creationId xmlns:p14="http://schemas.microsoft.com/office/powerpoint/2010/main" val="222331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  <a:r>
              <a:rPr dirty="0"/>
              <a:t>Problem</a:t>
            </a:r>
            <a:r>
              <a:rPr lang="en-GB" dirty="0"/>
              <a:t> with ChatGPT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dirty="0">
                <a:solidFill>
                  <a:schemeClr val="dk1"/>
                </a:solidFill>
              </a:rPr>
              <a:t>Chat-only models can generate </a:t>
            </a:r>
            <a:r>
              <a:rPr lang="en-US" sz="2000" b="1" dirty="0">
                <a:solidFill>
                  <a:schemeClr val="dk1"/>
                </a:solidFill>
              </a:rPr>
              <a:t>plausible but fake</a:t>
            </a:r>
            <a:r>
              <a:rPr lang="en-US" sz="2000" dirty="0">
                <a:solidFill>
                  <a:schemeClr val="dk1"/>
                </a:solidFill>
              </a:rPr>
              <a:t> citations and references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dirty="0">
                <a:solidFill>
                  <a:schemeClr val="dk1"/>
                </a:solidFill>
              </a:rPr>
              <a:t>Risky for academic work if outputs are not verified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dirty="0">
                <a:solidFill>
                  <a:schemeClr val="dk1"/>
                </a:solidFill>
              </a:rPr>
              <a:t>Common failure: invented paper titles, authors, or journals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dirty="0">
                <a:solidFill>
                  <a:schemeClr val="dk1"/>
                </a:solidFill>
              </a:rPr>
              <a:t>AI coding agents solve this by working with your </a:t>
            </a:r>
            <a:r>
              <a:rPr lang="en-US" sz="2000" b="1" dirty="0">
                <a:solidFill>
                  <a:schemeClr val="dk1"/>
                </a:solidFill>
              </a:rPr>
              <a:t>actual files</a:t>
            </a:r>
          </a:p>
        </p:txBody>
      </p:sp>
    </p:spTree>
    <p:extLst>
      <p:ext uri="{BB962C8B-B14F-4D97-AF65-F5344CB8AC3E}">
        <p14:creationId xmlns:p14="http://schemas.microsoft.com/office/powerpoint/2010/main" val="126704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AI Coding Helps: Prevent, Check,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b="1" dirty="0">
                <a:solidFill>
                  <a:schemeClr val="dk1"/>
                </a:solidFill>
              </a:rPr>
              <a:t>Prevent</a:t>
            </a:r>
            <a:r>
              <a:rPr lang="en-US" sz="2000" dirty="0">
                <a:solidFill>
                  <a:schemeClr val="dk1"/>
                </a:solidFill>
              </a:rPr>
              <a:t>  —  Set rules in project files (AGENTS.md, project.md)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b="1" dirty="0">
                <a:solidFill>
                  <a:schemeClr val="dk1"/>
                </a:solidFill>
              </a:rPr>
              <a:t>Check</a:t>
            </a:r>
            <a:r>
              <a:rPr lang="en-US" sz="2000" dirty="0">
                <a:solidFill>
                  <a:schemeClr val="dk1"/>
                </a:solidFill>
              </a:rPr>
              <a:t>  —  Verify outputs against local files and known sources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b="1" dirty="0">
                <a:solidFill>
                  <a:schemeClr val="dk1"/>
                </a:solidFill>
              </a:rPr>
              <a:t>Fix</a:t>
            </a:r>
            <a:r>
              <a:rPr lang="en-US" sz="2000" dirty="0">
                <a:solidFill>
                  <a:schemeClr val="dk1"/>
                </a:solidFill>
              </a:rPr>
              <a:t>  —  Update instructions and rerun with tighter constraints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b="1" dirty="0"/>
              <a:t>Result </a:t>
            </a:r>
            <a:r>
              <a:rPr lang="en-US" sz="2000" dirty="0"/>
              <a:t>— well written literature review without hallucinations</a:t>
            </a:r>
            <a:endParaRPr lang="en-US" sz="2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78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Economist Software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▸"/>
              <a:defRPr sz="1900"/>
            </a:pPr>
            <a:r>
              <a:rPr lang="en-US" sz="1900" b="1" dirty="0">
                <a:solidFill>
                  <a:schemeClr val="dk1"/>
                </a:solidFill>
              </a:rPr>
              <a:t>Writing</a:t>
            </a:r>
            <a:r>
              <a:rPr lang="en-US" sz="1900" dirty="0">
                <a:solidFill>
                  <a:schemeClr val="dk1"/>
                </a:solidFill>
              </a:rPr>
              <a:t>  —  Word, Overleaf, LaTeX, Beamer</a:t>
            </a:r>
          </a:p>
          <a:p>
            <a:pPr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▸"/>
              <a:defRPr sz="1900"/>
            </a:pPr>
            <a:r>
              <a:rPr lang="en-US" sz="1900" b="1" dirty="0">
                <a:solidFill>
                  <a:schemeClr val="dk1"/>
                </a:solidFill>
              </a:rPr>
              <a:t>Data</a:t>
            </a:r>
            <a:r>
              <a:rPr lang="en-US" sz="1900" dirty="0">
                <a:solidFill>
                  <a:schemeClr val="dk1"/>
                </a:solidFill>
              </a:rPr>
              <a:t>  —  Stata, R, Python, Excel</a:t>
            </a:r>
          </a:p>
          <a:p>
            <a:pPr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▸"/>
              <a:defRPr sz="1900"/>
            </a:pPr>
            <a:r>
              <a:rPr lang="en-US" sz="1900" b="1" dirty="0"/>
              <a:t>Coding </a:t>
            </a:r>
            <a:r>
              <a:rPr lang="en-US" sz="1900" dirty="0"/>
              <a:t>– MATLAB, C++, Fortran, Julia</a:t>
            </a:r>
            <a:endParaRPr lang="en-US" sz="1900" dirty="0">
              <a:solidFill>
                <a:schemeClr val="dk1"/>
              </a:solidFill>
            </a:endParaRPr>
          </a:p>
          <a:p>
            <a:pPr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▸"/>
              <a:defRPr sz="1900"/>
            </a:pPr>
            <a:r>
              <a:rPr lang="en-US" sz="1900" b="1" dirty="0">
                <a:solidFill>
                  <a:schemeClr val="dk1"/>
                </a:solidFill>
              </a:rPr>
              <a:t>References</a:t>
            </a:r>
            <a:r>
              <a:rPr lang="en-US" sz="1900" dirty="0">
                <a:solidFill>
                  <a:schemeClr val="dk1"/>
                </a:solidFill>
              </a:rPr>
              <a:t>  —  Zotero, Mendeley, EndNote, BibTeX</a:t>
            </a:r>
          </a:p>
          <a:p>
            <a:pPr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Char char="▸"/>
              <a:defRPr sz="1900"/>
            </a:pPr>
            <a:r>
              <a:rPr lang="en-US" sz="1900" b="1" dirty="0">
                <a:solidFill>
                  <a:schemeClr val="dk1"/>
                </a:solidFill>
              </a:rPr>
              <a:t>Storage</a:t>
            </a:r>
            <a:r>
              <a:rPr lang="en-US" sz="1900" dirty="0">
                <a:solidFill>
                  <a:schemeClr val="dk1"/>
                </a:solidFill>
              </a:rPr>
              <a:t>  —  Local folders, cloud drives, mixed naming rules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pPr>
            <a:r>
              <a:rPr lang="en-US" sz="1800" i="1" dirty="0">
                <a:solidFill>
                  <a:schemeClr val="dk1"/>
                </a:solidFill>
              </a:rPr>
              <a:t>AI coding agents connect these fragmented workflows with consistent, file-based rules.</a:t>
            </a:r>
          </a:p>
        </p:txBody>
      </p:sp>
    </p:spTree>
    <p:extLst>
      <p:ext uri="{BB962C8B-B14F-4D97-AF65-F5344CB8AC3E}">
        <p14:creationId xmlns:p14="http://schemas.microsoft.com/office/powerpoint/2010/main" val="2717527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432C9-3D5E-F2E5-96B9-5668308E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 used AI for</a:t>
            </a:r>
          </a:p>
        </p:txBody>
      </p:sp>
      <p:sp>
        <p:nvSpPr>
          <p:cNvPr id="10" name="LeftColumn"/>
          <p:cNvSpPr txBox="1"/>
          <p:nvPr/>
        </p:nvSpPr>
        <p:spPr>
          <a:xfrm>
            <a:off x="622300" y="863600"/>
            <a:ext cx="3873500" cy="40005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1. Paper Writing &amp; Revision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LaTeX/LyX drafting, math derivations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Lit reviews w/ hallucination checks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Referee rebuttals &amp; marked-up revisions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2. Literature &amp; References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Scoping, synthesis &amp; mapping by method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BibTeX management &amp; citation verification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3. Data &amp; Empirical Work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Auto-download from Census/BLS/FRED APIs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Harmonisation, crosswalks, panel construction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ID strategy design; pilot analysis &amp; stats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4. Tables &amp; Figures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Pub-ready LaTeX tables; auto-generation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Time-series, IRFs, recession shading plots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5. Modelling &amp; Calibration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GE model design: theory, code, solver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Calibration, counterfactuals</a:t>
            </a:r>
            <a:endParaRPr lang="en-GB" sz="1200" dirty="0"/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Model extension brainstorming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6. Quality Assurance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Math audits: code vs. equations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Variable crosswalks &amp; source documentation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Table consistency checks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7. Presentations &amp; Slides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Beamer from paper; PPT-to-LaTeX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Figure embedding &amp; formatting</a:t>
            </a:r>
          </a:p>
        </p:txBody>
      </p:sp>
      <p:sp>
        <p:nvSpPr>
          <p:cNvPr id="11" name="RightColumn"/>
          <p:cNvSpPr txBox="1"/>
          <p:nvPr/>
        </p:nvSpPr>
        <p:spPr>
          <a:xfrm>
            <a:off x="4699000" y="863600"/>
            <a:ext cx="3873500" cy="40005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8. Collaboration &amp; Coauthorship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Handoff packages (code, docs, results)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Voice-to-prompt; research ideation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9. Referee Reports on Others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Structuring &amp; drafting reports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10. Project &amp; Repo Management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Git branching, commits, repo organisation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Folder naming conventions (01_, 02_...)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Status/memory tracking &amp; work logs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Build artifact cleanup &amp; backups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11. File &amp; Document Management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Auto PDF renaming (Author, Year, Title)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Literature PDF &amp; archive organisation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12. Teaching &amp; Outreach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HTML/JS student tools &amp; websites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Workshop materials &amp; install guides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Starter packs &amp; IDE profiles</a:t>
            </a:r>
          </a:p>
          <a:p>
            <a:pPr marL="0" indent="0">
              <a:lnSpc>
                <a:spcPts val="12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tx1"/>
                </a:solidFill>
              </a:rPr>
              <a:t>13. Coding &amp; Debugging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Bug fixes: C++, Python, PS, LaTeX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Data pipeline &amp; figure scripts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>
                <a:solidFill>
                  <a:schemeClr val="tx1"/>
                </a:solidFill>
              </a:rPr>
              <a:t>Reusable AI skill packs</a:t>
            </a:r>
          </a:p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GB" sz="1400" b="1" dirty="0"/>
              <a:t>14. Writing this Presentation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/>
              <a:t>And this bullet point</a:t>
            </a:r>
          </a:p>
          <a:p>
            <a:pPr marL="100000" indent="-1000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GB" sz="1200" dirty="0"/>
              <a:t>And this bullet point also</a:t>
            </a:r>
          </a:p>
        </p:txBody>
      </p:sp>
    </p:spTree>
    <p:extLst>
      <p:ext uri="{BB962C8B-B14F-4D97-AF65-F5344CB8AC3E}">
        <p14:creationId xmlns:p14="http://schemas.microsoft.com/office/powerpoint/2010/main" val="1265786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9D1B8-B6E1-8789-B5F1-BCF1BD56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4F8D-89DF-9BD6-2BA7-FB1E9B90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concepts of coding with AI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9538B-AF2E-757C-22E6-DEE308F56F48}"/>
              </a:ext>
            </a:extLst>
          </p:cNvPr>
          <p:cNvSpPr txBox="1"/>
          <p:nvPr/>
        </p:nvSpPr>
        <p:spPr>
          <a:xfrm>
            <a:off x="622300" y="838200"/>
            <a:ext cx="7899400" cy="36449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indent="0">
              <a:lnSpc>
                <a:spcPts val="18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dk1"/>
                </a:solidFill>
              </a:rPr>
              <a:t>Memory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AI has no long-term memory — you provide context via files</a:t>
            </a:r>
          </a:p>
          <a:p>
            <a:pPr marL="0" indent="0">
              <a:lnSpc>
                <a:spcPts val="18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dk1"/>
                </a:solidFill>
              </a:rPr>
              <a:t>Organisation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Structure your project so the AI can navigate it</a:t>
            </a:r>
          </a:p>
          <a:p>
            <a:pPr marL="0" indent="0">
              <a:lnSpc>
                <a:spcPts val="18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dk1"/>
                </a:solidFill>
              </a:rPr>
              <a:t>Focus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One clear task per agent session gets the best results</a:t>
            </a:r>
          </a:p>
          <a:p>
            <a:pPr marL="0" indent="0">
              <a:lnSpc>
                <a:spcPts val="18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dk1"/>
                </a:solidFill>
              </a:rPr>
              <a:t>Tokens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Everything costs tokens — keep prompts concise</a:t>
            </a:r>
          </a:p>
        </p:txBody>
      </p:sp>
    </p:spTree>
    <p:extLst>
      <p:ext uri="{BB962C8B-B14F-4D97-AF65-F5344CB8AC3E}">
        <p14:creationId xmlns:p14="http://schemas.microsoft.com/office/powerpoint/2010/main" val="1599567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Folder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2300" y="838200"/>
            <a:ext cx="7899400" cy="36449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indent="0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nsolas"/>
              </a:rPr>
              <a:t>David / Global Folder /</a:t>
            </a:r>
          </a:p>
          <a:p>
            <a:pPr marL="45720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</a:rPr>
              <a:t>├── AGENTS.md</a:t>
            </a:r>
            <a:r>
              <a:rPr lang="en-US" sz="1600" dirty="0">
                <a:solidFill>
                  <a:schemeClr val="dk1"/>
                </a:solidFill>
              </a:rPr>
              <a:t>    Global rules for how the AI behaves</a:t>
            </a:r>
          </a:p>
          <a:p>
            <a:pPr marL="45720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</a:rPr>
              <a:t>├── project.md</a:t>
            </a:r>
            <a:r>
              <a:rPr lang="en-US" sz="1600" dirty="0">
                <a:solidFill>
                  <a:schemeClr val="dk1"/>
                </a:solidFill>
              </a:rPr>
              <a:t>   Goals, progress, and next steps</a:t>
            </a:r>
          </a:p>
          <a:p>
            <a:pPr marL="45720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</a:rPr>
              <a:t>├── Skills/</a:t>
            </a:r>
            <a:r>
              <a:rPr lang="en-US" sz="1600" dirty="0">
                <a:solidFill>
                  <a:schemeClr val="dk1"/>
                </a:solidFill>
              </a:rPr>
              <a:t>        Reusable methods for recurring tasks</a:t>
            </a:r>
          </a:p>
          <a:p>
            <a:pPr marL="45720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</a:rPr>
              <a:t>├── Agents/</a:t>
            </a:r>
            <a:r>
              <a:rPr lang="en-US" sz="1600" dirty="0">
                <a:solidFill>
                  <a:schemeClr val="dk1"/>
                </a:solidFill>
              </a:rPr>
              <a:t>       Defined roles — which agent does what</a:t>
            </a:r>
          </a:p>
          <a:p>
            <a:pPr marL="45720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</a:rPr>
              <a:t>└── projects/</a:t>
            </a:r>
            <a:r>
              <a:rPr lang="en-US" sz="1600" dirty="0">
                <a:solidFill>
                  <a:schemeClr val="dk1"/>
                </a:solidFill>
              </a:rPr>
              <a:t>     Your research projects, each with its own .md</a:t>
            </a:r>
          </a:p>
        </p:txBody>
      </p:sp>
    </p:spTree>
    <p:extLst>
      <p:ext uri="{BB962C8B-B14F-4D97-AF65-F5344CB8AC3E}">
        <p14:creationId xmlns:p14="http://schemas.microsoft.com/office/powerpoint/2010/main" val="15554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Memory: Limits to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dirty="0">
                <a:solidFill>
                  <a:schemeClr val="dk1"/>
                </a:solidFill>
              </a:rPr>
              <a:t>AI agents have </a:t>
            </a:r>
            <a:r>
              <a:rPr lang="en-US" sz="2000" b="1" dirty="0">
                <a:solidFill>
                  <a:schemeClr val="dk1"/>
                </a:solidFill>
              </a:rPr>
              <a:t>no persistent memory</a:t>
            </a:r>
            <a:r>
              <a:rPr lang="en-US" sz="2000" dirty="0">
                <a:solidFill>
                  <a:schemeClr val="dk1"/>
                </a:solidFill>
              </a:rPr>
              <a:t> between sessions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dirty="0">
                <a:solidFill>
                  <a:schemeClr val="dk1"/>
                </a:solidFill>
              </a:rPr>
              <a:t>Working context is limited — early details fade in long chats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dirty="0">
                <a:solidFill>
                  <a:schemeClr val="dk1"/>
                </a:solidFill>
              </a:rPr>
              <a:t>Every new session starts fresh — like a smart colleague reading your notes for the first time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  <a:defRPr sz="2000"/>
            </a:pPr>
            <a:r>
              <a:rPr lang="en-US" sz="2000" dirty="0">
                <a:solidFill>
                  <a:schemeClr val="dk1"/>
                </a:solidFill>
              </a:rPr>
              <a:t>Solution: get the </a:t>
            </a:r>
            <a:r>
              <a:rPr lang="en-US" sz="2000" dirty="0"/>
              <a:t>AI to </a:t>
            </a:r>
            <a:r>
              <a:rPr lang="en-US" sz="2000" dirty="0">
                <a:solidFill>
                  <a:schemeClr val="dk1"/>
                </a:solidFill>
              </a:rPr>
              <a:t>write good notes (.md files) so the AI picks up where it left off</a:t>
            </a:r>
          </a:p>
        </p:txBody>
      </p:sp>
    </p:spTree>
    <p:extLst>
      <p:ext uri="{BB962C8B-B14F-4D97-AF65-F5344CB8AC3E}">
        <p14:creationId xmlns:p14="http://schemas.microsoft.com/office/powerpoint/2010/main" val="1362164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We Create </a:t>
            </a:r>
            <a:r>
              <a:rPr lang="en-GB" dirty="0"/>
              <a:t>“Memory”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Font typeface="Arial"/>
              <a:buChar char="▸"/>
              <a:defRPr sz="1800"/>
            </a:pPr>
            <a:r>
              <a:rPr lang="en-US" sz="1800" b="1" dirty="0">
                <a:solidFill>
                  <a:schemeClr val="dk1"/>
                </a:solidFill>
                <a:latin typeface="Consolas"/>
              </a:rPr>
              <a:t>AGENTS.md</a:t>
            </a:r>
            <a:r>
              <a:rPr lang="en-US" sz="1800" dirty="0">
                <a:solidFill>
                  <a:schemeClr val="dk1"/>
                </a:solidFill>
              </a:rPr>
              <a:t>  —  Global rules: how the AI should behave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Font typeface="Arial"/>
              <a:buChar char="▸"/>
              <a:defRPr sz="1800"/>
            </a:pPr>
            <a:r>
              <a:rPr lang="en-US" b="1" dirty="0">
                <a:latin typeface="Consolas"/>
              </a:rPr>
              <a:t>STATUS</a:t>
            </a:r>
            <a:r>
              <a:rPr lang="en-US" sz="1800" b="1" dirty="0">
                <a:solidFill>
                  <a:schemeClr val="dk1"/>
                </a:solidFill>
                <a:latin typeface="Consolas"/>
              </a:rPr>
              <a:t>.md</a:t>
            </a:r>
            <a:r>
              <a:rPr lang="en-US" sz="1800" dirty="0">
                <a:solidFill>
                  <a:schemeClr val="dk1"/>
                </a:solidFill>
              </a:rPr>
              <a:t>  —  Goals, progress, and next steps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Font typeface="Arial"/>
              <a:buChar char="▸"/>
              <a:defRPr sz="1800"/>
            </a:pPr>
            <a:r>
              <a:rPr lang="en-US" sz="1800" b="1" dirty="0">
                <a:solidFill>
                  <a:schemeClr val="dk1"/>
                </a:solidFill>
                <a:latin typeface="Consolas"/>
              </a:rPr>
              <a:t>Skills/</a:t>
            </a:r>
            <a:r>
              <a:rPr lang="en-US" sz="1800" dirty="0">
                <a:solidFill>
                  <a:schemeClr val="dk1"/>
                </a:solidFill>
              </a:rPr>
              <a:t>  —  Reusable methods (how to do recurring tasks)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Font typeface="Arial"/>
              <a:buChar char="▸"/>
              <a:defRPr sz="1800"/>
            </a:pPr>
            <a:r>
              <a:rPr lang="en-US" sz="1800" b="1" dirty="0">
                <a:solidFill>
                  <a:schemeClr val="dk1"/>
                </a:solidFill>
                <a:latin typeface="Consolas"/>
              </a:rPr>
              <a:t>Agents/</a:t>
            </a:r>
            <a:r>
              <a:rPr lang="en-US" sz="1800" dirty="0">
                <a:solidFill>
                  <a:schemeClr val="dk1"/>
                </a:solidFill>
              </a:rPr>
              <a:t>  —  Defined roles (which agent handles what)]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Font typeface="Arial"/>
              <a:buChar char="▸"/>
              <a:defRPr sz="1800"/>
            </a:pPr>
            <a:r>
              <a:rPr lang="en-US" sz="1800" b="1" dirty="0">
                <a:solidFill>
                  <a:schemeClr val="dk1"/>
                </a:solidFill>
                <a:latin typeface="Consolas"/>
              </a:rPr>
              <a:t>Projects/</a:t>
            </a:r>
            <a:r>
              <a:rPr lang="en-US" sz="1800" dirty="0">
                <a:solidFill>
                  <a:schemeClr val="dk1"/>
                </a:solidFill>
              </a:rPr>
              <a:t>  —  Each research project, with its own .md files</a:t>
            </a:r>
          </a:p>
          <a:p>
            <a:pPr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pPr>
            <a:r>
              <a:rPr lang="en-US" sz="1700" i="1" dirty="0">
                <a:solidFill>
                  <a:schemeClr val="dk1"/>
                </a:solidFill>
              </a:rPr>
              <a:t>These files are the AI's "memory" — keep them updated and it stays on track.</a:t>
            </a:r>
          </a:p>
        </p:txBody>
      </p:sp>
    </p:spTree>
    <p:extLst>
      <p:ext uri="{BB962C8B-B14F-4D97-AF65-F5344CB8AC3E}">
        <p14:creationId xmlns:p14="http://schemas.microsoft.com/office/powerpoint/2010/main" val="1013557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Agents with Clear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Font typeface="Arial"/>
              <a:buChar char="▸"/>
              <a:defRPr sz="1900"/>
            </a:pPr>
            <a:r>
              <a:rPr lang="en-US" sz="1900" dirty="0">
                <a:solidFill>
                  <a:schemeClr val="dk1"/>
                </a:solidFill>
              </a:rPr>
              <a:t>Run multiple AI workstreams in parallel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400"/>
              </a:spcAft>
              <a:buFont typeface="Arial"/>
              <a:buChar char="▸"/>
              <a:defRPr sz="1900"/>
            </a:pPr>
            <a:r>
              <a:rPr lang="en-US" sz="1900" dirty="0">
                <a:solidFill>
                  <a:schemeClr val="dk1"/>
                </a:solidFill>
              </a:rPr>
              <a:t>Best results come from </a:t>
            </a:r>
            <a:r>
              <a:rPr lang="en-US" sz="1900" b="1" dirty="0">
                <a:solidFill>
                  <a:schemeClr val="dk1"/>
                </a:solidFill>
              </a:rPr>
              <a:t>one clear task per session</a:t>
            </a:r>
          </a:p>
          <a:p>
            <a:pPr marL="457200" indent="-22860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–"/>
              <a:defRPr sz="1800"/>
            </a:pPr>
            <a:r>
              <a:rPr lang="en-US" sz="1800" dirty="0">
                <a:solidFill>
                  <a:schemeClr val="dk1"/>
                </a:solidFill>
              </a:rPr>
              <a:t>Agent A  —  Literature notes</a:t>
            </a:r>
          </a:p>
          <a:p>
            <a:pPr marL="457200" indent="-22860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–"/>
              <a:defRPr sz="1800"/>
            </a:pPr>
            <a:r>
              <a:rPr lang="en-US" sz="1800" dirty="0">
                <a:solidFill>
                  <a:schemeClr val="dk1"/>
                </a:solidFill>
              </a:rPr>
              <a:t>Agent B  —  Data cleaning</a:t>
            </a:r>
          </a:p>
          <a:p>
            <a:pPr marL="457200" indent="-22860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–"/>
              <a:defRPr sz="1800"/>
            </a:pPr>
            <a:r>
              <a:rPr lang="en-US" sz="1800" dirty="0">
                <a:solidFill>
                  <a:schemeClr val="dk1"/>
                </a:solidFill>
              </a:rPr>
              <a:t>Agent C  —  Model write-up</a:t>
            </a:r>
          </a:p>
          <a:p>
            <a:pPr marL="457200" indent="-22860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/>
              <a:buChar char="–"/>
              <a:defRPr sz="1800"/>
            </a:pPr>
            <a:r>
              <a:rPr lang="en-US" sz="1800" dirty="0">
                <a:solidFill>
                  <a:schemeClr val="dk1"/>
                </a:solidFill>
              </a:rPr>
              <a:t>Agent D  —  Slides and figures</a:t>
            </a:r>
          </a:p>
          <a:p>
            <a:pPr marL="22860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defRPr sz="1800"/>
            </a:pPr>
            <a:endParaRPr lang="en-US" dirty="0"/>
          </a:p>
          <a:p>
            <a:pPr marL="22860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defRPr sz="1800"/>
            </a:pPr>
            <a:r>
              <a:rPr lang="en-US" b="1" dirty="0"/>
              <a:t>Multi-agent</a:t>
            </a:r>
            <a:r>
              <a:rPr lang="en-US" dirty="0"/>
              <a:t>: different chat sessions (make sure not to work on same file) </a:t>
            </a:r>
          </a:p>
          <a:p>
            <a:pPr marL="22860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defRPr sz="1800"/>
            </a:pPr>
            <a:r>
              <a:rPr lang="en-US" b="1" dirty="0"/>
              <a:t>Sub-agent: </a:t>
            </a:r>
            <a:r>
              <a:rPr lang="en-US" dirty="0"/>
              <a:t>within same chat session (coordinates itself)</a:t>
            </a:r>
          </a:p>
        </p:txBody>
      </p:sp>
    </p:spTree>
    <p:extLst>
      <p:ext uri="{BB962C8B-B14F-4D97-AF65-F5344CB8AC3E}">
        <p14:creationId xmlns:p14="http://schemas.microsoft.com/office/powerpoint/2010/main" val="3354049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You Work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ts val="18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GB" sz="1800" b="1" dirty="0">
                <a:solidFill>
                  <a:schemeClr val="dk1"/>
                </a:solidFill>
              </a:rPr>
              <a:t>Claude Cowork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600" dirty="0">
                <a:solidFill>
                  <a:schemeClr val="dk1"/>
                </a:solidFill>
              </a:rPr>
              <a:t>Describe a task in plain language and the AI carries it out </a:t>
            </a:r>
            <a:r>
              <a:rPr lang="en-GB" sz="1600" b="1" dirty="0">
                <a:solidFill>
                  <a:schemeClr val="dk1"/>
                </a:solidFill>
              </a:rPr>
              <a:t>(easiest to use)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en-GB" sz="1600" b="1" dirty="0">
              <a:solidFill>
                <a:schemeClr val="dk1"/>
              </a:solidFill>
            </a:endParaRPr>
          </a:p>
          <a:p>
            <a:pPr>
              <a:lnSpc>
                <a:spcPts val="18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GB" sz="1800" b="1" dirty="0">
                <a:solidFill>
                  <a:schemeClr val="dk1"/>
                </a:solidFill>
              </a:rPr>
              <a:t>Codex / Claude Code / Antigravity IDEs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600" dirty="0">
                <a:solidFill>
                  <a:schemeClr val="dk1"/>
                </a:solidFill>
              </a:rPr>
              <a:t>AI coding agents that build or edit research code from instructions </a:t>
            </a:r>
            <a:r>
              <a:rPr lang="en-GB" sz="1600" b="1" dirty="0">
                <a:solidFill>
                  <a:schemeClr val="dk1"/>
                </a:solidFill>
              </a:rPr>
              <a:t>(easy to set up)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en-GB" sz="1600" b="1" dirty="0">
              <a:solidFill>
                <a:schemeClr val="dk1"/>
              </a:solidFill>
            </a:endParaRPr>
          </a:p>
          <a:p>
            <a:pPr>
              <a:lnSpc>
                <a:spcPts val="18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GB" sz="1800" b="1" dirty="0">
                <a:solidFill>
                  <a:schemeClr val="dk1"/>
                </a:solidFill>
              </a:rPr>
              <a:t>Cursor / VS Code IDEs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600" dirty="0">
                <a:solidFill>
                  <a:schemeClr val="dk1"/>
                </a:solidFill>
              </a:rPr>
              <a:t>Code editors where you code with optional AI assistance </a:t>
            </a:r>
            <a:r>
              <a:rPr lang="en-GB" sz="1600" b="1" dirty="0">
                <a:solidFill>
                  <a:schemeClr val="dk1"/>
                </a:solidFill>
              </a:rPr>
              <a:t>(most options)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en-GB" sz="1600" b="1" dirty="0">
              <a:solidFill>
                <a:schemeClr val="dk1"/>
              </a:solidFill>
            </a:endParaRPr>
          </a:p>
          <a:p>
            <a:pPr>
              <a:lnSpc>
                <a:spcPts val="18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GB" sz="1800" b="1" dirty="0">
                <a:solidFill>
                  <a:schemeClr val="dk1"/>
                </a:solidFill>
              </a:rPr>
              <a:t>Terminal (PowerShell / macOS Terminal)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</a:rPr>
              <a:t>Command-line interface used to run scripts and control software directly </a:t>
            </a:r>
            <a:r>
              <a:rPr lang="en-GB" sz="1600" b="1" dirty="0">
                <a:solidFill>
                  <a:schemeClr val="dk1"/>
                </a:solidFill>
              </a:rPr>
              <a:t>(most </a:t>
            </a:r>
            <a:r>
              <a:rPr lang="en-GB" sz="1600" b="1" dirty="0"/>
              <a:t>direct</a:t>
            </a:r>
            <a:r>
              <a:rPr lang="en-GB" sz="1600" b="1" dirty="0">
                <a:solidFill>
                  <a:schemeClr val="dk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8775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3CEE2-19C8-3053-4202-BF77C856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Tips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DF2AD-FF99-AC34-7A39-BE569E3279B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</a:pPr>
            <a:r>
              <a:rPr lang="en-US" sz="2000" b="1" dirty="0"/>
              <a:t>Be persistent</a:t>
            </a:r>
            <a:r>
              <a:rPr lang="en-US" sz="2000" dirty="0"/>
              <a:t>  —  Prompts are a conversation, </a:t>
            </a:r>
            <a:r>
              <a:rPr lang="en-US" sz="2000" u="sng" dirty="0"/>
              <a:t>not a one-shot</a:t>
            </a:r>
            <a:endParaRPr lang="en-US" sz="2000" b="1" u="sng" dirty="0">
              <a:solidFill>
                <a:schemeClr val="dk1"/>
              </a:solidFill>
            </a:endParaRP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</a:pPr>
            <a:r>
              <a:rPr lang="en-US" sz="2000" b="1" dirty="0">
                <a:solidFill>
                  <a:schemeClr val="dk1"/>
                </a:solidFill>
              </a:rPr>
              <a:t>Learn by doing</a:t>
            </a:r>
            <a:r>
              <a:rPr lang="en-US" sz="2000" dirty="0">
                <a:solidFill>
                  <a:schemeClr val="dk1"/>
                </a:solidFill>
              </a:rPr>
              <a:t>  —  Start with a small, real task from your own work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</a:pPr>
            <a:r>
              <a:rPr lang="en-US" sz="2000" b="1" dirty="0">
                <a:solidFill>
                  <a:schemeClr val="dk1"/>
                </a:solidFill>
              </a:rPr>
              <a:t>Reset when stuck</a:t>
            </a:r>
            <a:r>
              <a:rPr lang="en-US" sz="2000" dirty="0">
                <a:solidFill>
                  <a:schemeClr val="dk1"/>
                </a:solidFill>
              </a:rPr>
              <a:t>  —  Close the session and start fresh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</a:pPr>
            <a:r>
              <a:rPr lang="en-US" sz="2000" b="1" dirty="0">
                <a:solidFill>
                  <a:schemeClr val="dk1"/>
                </a:solidFill>
              </a:rPr>
              <a:t>Ask the AI</a:t>
            </a:r>
            <a:r>
              <a:rPr lang="en-US" sz="2000" dirty="0">
                <a:solidFill>
                  <a:schemeClr val="dk1"/>
                </a:solidFill>
              </a:rPr>
              <a:t>  —  It can suggest approaches you haven't considered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</a:pPr>
            <a:r>
              <a:rPr lang="en-US" sz="2000" b="1" dirty="0">
                <a:solidFill>
                  <a:schemeClr val="dk1"/>
                </a:solidFill>
              </a:rPr>
              <a:t>Think in automations</a:t>
            </a:r>
            <a:r>
              <a:rPr lang="en-US" sz="2000" dirty="0">
                <a:solidFill>
                  <a:schemeClr val="dk1"/>
                </a:solidFill>
              </a:rPr>
              <a:t>  —  If you do it often, the AI can do it for you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</a:pPr>
            <a:r>
              <a:rPr lang="en-US" sz="2000" b="1" dirty="0"/>
              <a:t>Ask the AI to be its own critic </a:t>
            </a:r>
            <a:r>
              <a:rPr lang="en-US" sz="2000" dirty="0"/>
              <a:t>– “you are an AER referee…”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buFont typeface="Arial"/>
              <a:buChar char="▸"/>
            </a:pPr>
            <a:r>
              <a:rPr lang="en-US" sz="2000" b="1" dirty="0">
                <a:solidFill>
                  <a:schemeClr val="dk1"/>
                </a:solidFill>
              </a:rPr>
              <a:t>Plan first with the AI </a:t>
            </a:r>
            <a:r>
              <a:rPr lang="en-US" sz="2000" dirty="0">
                <a:solidFill>
                  <a:schemeClr val="dk1"/>
                </a:solidFill>
              </a:rPr>
              <a:t>–</a:t>
            </a:r>
            <a:r>
              <a:rPr lang="en-US" sz="2000" b="1" dirty="0">
                <a:solidFill>
                  <a:schemeClr val="dk1"/>
                </a:solidFill>
              </a:rPr>
              <a:t> </a:t>
            </a:r>
            <a:r>
              <a:rPr lang="en-US" sz="2000" dirty="0">
                <a:solidFill>
                  <a:schemeClr val="dk1"/>
                </a:solidFill>
              </a:rPr>
              <a:t>this helps set your AI workflow</a:t>
            </a:r>
            <a:endParaRPr lang="en-US" sz="20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495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F5FC-6B92-51B5-E788-4671E2A8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2AB7-642B-B4AD-DE55-CC3E4F26EB7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3" y="844062"/>
            <a:ext cx="7902388" cy="3851228"/>
          </a:xfrm>
        </p:spPr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1.  </a:t>
            </a:r>
            <a:r>
              <a:rPr lang="en-US" sz="1800" i="1" dirty="0">
                <a:solidFill>
                  <a:schemeClr val="dk1"/>
                </a:solidFill>
              </a:rPr>
              <a:t>Overview</a:t>
            </a:r>
            <a:r>
              <a:rPr lang="en-US" sz="1800" dirty="0">
                <a:solidFill>
                  <a:schemeClr val="dk1"/>
                </a:solidFill>
              </a:rPr>
              <a:t>  –  AI, IDE and working folders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2.  </a:t>
            </a:r>
            <a:r>
              <a:rPr lang="en-US" sz="1800" i="1" dirty="0">
                <a:solidFill>
                  <a:schemeClr val="dk1"/>
                </a:solidFill>
              </a:rPr>
              <a:t>Viewing</a:t>
            </a:r>
            <a:r>
              <a:rPr lang="en-US" sz="1800" dirty="0">
                <a:solidFill>
                  <a:schemeClr val="dk1"/>
                </a:solidFill>
              </a:rPr>
              <a:t>  –  .md files and PDFs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3.  </a:t>
            </a:r>
            <a:r>
              <a:rPr lang="en-US" sz="1800" i="1" dirty="0">
                <a:solidFill>
                  <a:schemeClr val="dk1"/>
                </a:solidFill>
              </a:rPr>
              <a:t>Editing</a:t>
            </a:r>
            <a:r>
              <a:rPr lang="en-US" sz="1800" dirty="0">
                <a:solidFill>
                  <a:schemeClr val="dk1"/>
                </a:solidFill>
              </a:rPr>
              <a:t>  –  documents, files and folders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solidFill>
                  <a:schemeClr val="dk1"/>
                </a:solidFill>
              </a:rPr>
              <a:t>4.  </a:t>
            </a:r>
            <a:r>
              <a:rPr lang="en-US" sz="1800" i="1" dirty="0">
                <a:solidFill>
                  <a:schemeClr val="dk1"/>
                </a:solidFill>
              </a:rPr>
              <a:t>Memory</a:t>
            </a:r>
            <a:r>
              <a:rPr lang="en-US" sz="1800" dirty="0">
                <a:solidFill>
                  <a:schemeClr val="dk1"/>
                </a:solidFill>
              </a:rPr>
              <a:t>  –</a:t>
            </a:r>
            <a:r>
              <a:rPr lang="en-US" dirty="0"/>
              <a:t>how to make the AI sound like you</a:t>
            </a:r>
            <a:endParaRPr lang="en-US" sz="1800" dirty="0">
              <a:solidFill>
                <a:schemeClr val="dk1"/>
              </a:solidFill>
            </a:endParaRPr>
          </a:p>
          <a:p>
            <a:pPr marL="342900" indent="-342900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AutoNum type="arabicPeriod" startAt="5"/>
            </a:pPr>
            <a:r>
              <a:rPr lang="en-US" sz="1800" i="1" dirty="0">
                <a:solidFill>
                  <a:schemeClr val="dk1"/>
                </a:solidFill>
              </a:rPr>
              <a:t>Agents</a:t>
            </a:r>
            <a:r>
              <a:rPr lang="en-US" sz="1800" dirty="0">
                <a:solidFill>
                  <a:schemeClr val="dk1"/>
                </a:solidFill>
              </a:rPr>
              <a:t>  –</a:t>
            </a:r>
            <a:r>
              <a:rPr lang="en-US" dirty="0"/>
              <a:t>  make a referee report of your own work</a:t>
            </a:r>
          </a:p>
          <a:p>
            <a:pPr marL="342900" indent="-342900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Font typeface="Arial"/>
              <a:buAutoNum type="arabicPeriod" startAt="5"/>
            </a:pPr>
            <a:r>
              <a:rPr lang="en-US" i="1" dirty="0"/>
              <a:t>Skills</a:t>
            </a:r>
            <a:r>
              <a:rPr lang="en-US" dirty="0"/>
              <a:t>  –  literature review with hallucination mitigation</a:t>
            </a:r>
          </a:p>
          <a:p>
            <a:pPr marL="342900" indent="-342900"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Font typeface="Arial"/>
              <a:buAutoNum type="arabicPeriod" startAt="5"/>
            </a:pPr>
            <a:r>
              <a:rPr lang="en-US" i="1" dirty="0"/>
              <a:t>Multi-agents</a:t>
            </a:r>
            <a:r>
              <a:rPr lang="en-US" dirty="0"/>
              <a:t> – brainstorming new ideas 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/>
              <a:t>8</a:t>
            </a:r>
            <a:r>
              <a:rPr lang="en-US" sz="1800" dirty="0">
                <a:solidFill>
                  <a:schemeClr val="dk1"/>
                </a:solidFill>
              </a:rPr>
              <a:t>.  </a:t>
            </a:r>
            <a:r>
              <a:rPr lang="en-US" sz="1800" i="1" dirty="0">
                <a:solidFill>
                  <a:schemeClr val="dk1"/>
                </a:solidFill>
              </a:rPr>
              <a:t>Data</a:t>
            </a:r>
            <a:r>
              <a:rPr lang="en-US" sz="1800" dirty="0">
                <a:solidFill>
                  <a:schemeClr val="dk1"/>
                </a:solidFill>
              </a:rPr>
              <a:t>  –  download data, relabel automatically and make graphs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/>
              <a:t>9</a:t>
            </a:r>
            <a:r>
              <a:rPr lang="en-US" sz="1800" dirty="0">
                <a:solidFill>
                  <a:schemeClr val="dk1"/>
                </a:solidFill>
              </a:rPr>
              <a:t>.  </a:t>
            </a:r>
            <a:r>
              <a:rPr lang="en-US" sz="1800" i="1" dirty="0">
                <a:solidFill>
                  <a:schemeClr val="dk1"/>
                </a:solidFill>
              </a:rPr>
              <a:t>Modelling</a:t>
            </a:r>
            <a:r>
              <a:rPr lang="en-US" sz="1800" dirty="0">
                <a:solidFill>
                  <a:schemeClr val="dk1"/>
                </a:solidFill>
              </a:rPr>
              <a:t>  –  check mathematics, reason through complex models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lang="en-US"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691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ean Workshop">
      <a:dk1>
        <a:srgbClr val="1A1A2E"/>
      </a:dk1>
      <a:lt1>
        <a:srgbClr val="FFFFFF"/>
      </a:lt1>
      <a:dk2>
        <a:srgbClr val="1A1A2E"/>
      </a:dk2>
      <a:lt2>
        <a:srgbClr val="F5F0EB"/>
      </a:lt2>
      <a:accent1>
        <a:srgbClr val="C45B28"/>
      </a:accent1>
      <a:accent2>
        <a:srgbClr val="8B5E3C"/>
      </a:accent2>
      <a:accent3>
        <a:srgbClr val="2D6B4F"/>
      </a:accent3>
      <a:accent4>
        <a:srgbClr val="D4A853"/>
      </a:accent4>
      <a:accent5>
        <a:srgbClr val="A67B5B"/>
      </a:accent5>
      <a:accent6>
        <a:srgbClr val="4A6741"/>
      </a:accent6>
      <a:hlink>
        <a:srgbClr val="BE1E2D"/>
      </a:hlink>
      <a:folHlink>
        <a:srgbClr val="B6AAA7"/>
      </a:folHlink>
    </a:clrScheme>
    <a:fontScheme name="Clean Workshop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Econ Powerpoint Template" id="{385A3E7A-610F-415A-B0E0-F55464881EC3}" vid="{3EDB6E1F-02B3-4D18-A7A1-5845D442FB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0EB489-9F73-4EAA-99D4-74875A592BBD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CE951B1D604F47AD4EB98F3F9810DA" ma:contentTypeVersion="17" ma:contentTypeDescription="Create a new document." ma:contentTypeScope="" ma:versionID="d4663f88488be562d3f390fca421bab7">
  <xsd:schema xmlns:xsd="http://www.w3.org/2001/XMLSchema" xmlns:xs="http://www.w3.org/2001/XMLSchema" xmlns:p="http://schemas.microsoft.com/office/2006/metadata/properties" xmlns:ns2="674d51e3-3ba6-45e1-9e5a-18c440d6de5a" xmlns:ns3="8f612c8a-2dfb-4a1a-9050-5ffbd886e57b" xmlns:ns4="3bf6d2de-cfb7-466c-825b-051a8e3c8b7d" targetNamespace="http://schemas.microsoft.com/office/2006/metadata/properties" ma:root="true" ma:fieldsID="052c01f55c071f2d871bf6b211514e8a" ns2:_="" ns3:_="" ns4:_="">
    <xsd:import namespace="674d51e3-3ba6-45e1-9e5a-18c440d6de5a"/>
    <xsd:import namespace="8f612c8a-2dfb-4a1a-9050-5ffbd886e57b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d51e3-3ba6-45e1-9e5a-18c440d6de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612c8a-2dfb-4a1a-9050-5ffbd886e57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3486cac2-4f56-4b4b-adbf-6e8d99c61e39}" ma:internalName="TaxCatchAll" ma:showField="CatchAllData" ma:web="8f612c8a-2dfb-4a1a-9050-5ffbd886e5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4d51e3-3ba6-45e1-9e5a-18c440d6de5a">
      <Terms xmlns="http://schemas.microsoft.com/office/infopath/2007/PartnerControls"/>
    </lcf76f155ced4ddcb4097134ff3c332f>
    <TaxCatchAll xmlns="3bf6d2de-cfb7-466c-825b-051a8e3c8b7d" xsi:nil="true"/>
    <SharedWithUsers xmlns="8f612c8a-2dfb-4a1a-9050-5ffbd886e57b">
      <UserInfo>
        <DisplayName>WILLIAMS, ASHLEIGH</DisplayName>
        <AccountId>22577</AccountId>
        <AccountType/>
      </UserInfo>
      <UserInfo>
        <DisplayName>HUNTER, CLAIRE L.</DisplayName>
        <AccountId>910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592A46E8-E1F1-4337-B47E-59BACB0570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5DD064-5E72-447A-82E3-EC274E7B6E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4d51e3-3ba6-45e1-9e5a-18c440d6de5a"/>
    <ds:schemaRef ds:uri="8f612c8a-2dfb-4a1a-9050-5ffbd886e57b"/>
    <ds:schemaRef ds:uri="3bf6d2de-cfb7-466c-825b-051a8e3c8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3F50C3-625F-4387-85F6-F8762EB49D72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8f612c8a-2dfb-4a1a-9050-5ffbd886e57b"/>
    <ds:schemaRef ds:uri="http://schemas.microsoft.com/office/infopath/2007/PartnerControls"/>
    <ds:schemaRef ds:uri="3bf6d2de-cfb7-466c-825b-051a8e3c8b7d"/>
    <ds:schemaRef ds:uri="674d51e3-3ba6-45e1-9e5a-18c440d6de5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</TotalTime>
  <Words>1153</Words>
  <Application>Microsoft Office PowerPoint</Application>
  <PresentationFormat>On-screen Show (16:9)</PresentationFormat>
  <Paragraphs>151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Consolas</vt:lpstr>
      <vt:lpstr>Georgia</vt:lpstr>
      <vt:lpstr>Lucida Grande</vt:lpstr>
      <vt:lpstr>Office Theme</vt:lpstr>
      <vt:lpstr>A Beginner's Guide to AI (Beyond ChatGPT)</vt:lpstr>
      <vt:lpstr>DISCLAIMER!</vt:lpstr>
      <vt:lpstr>AI is getting exponentially better</vt:lpstr>
      <vt:lpstr>Economists are now using AI</vt:lpstr>
      <vt:lpstr>Example Problem with ChatGPT</vt:lpstr>
      <vt:lpstr>How AI Coding Helps: Prevent, Check, Fix</vt:lpstr>
      <vt:lpstr>Economist Software Today</vt:lpstr>
      <vt:lpstr>What I used AI for</vt:lpstr>
      <vt:lpstr>Key concepts of coding with AI</vt:lpstr>
      <vt:lpstr>Example Folder Structure</vt:lpstr>
      <vt:lpstr>Memory: Limits to Know</vt:lpstr>
      <vt:lpstr>How We Create “Memory”</vt:lpstr>
      <vt:lpstr>Agents with Clear Jobs</vt:lpstr>
      <vt:lpstr>Where You Work With AI</vt:lpstr>
      <vt:lpstr>Tips </vt:lpstr>
      <vt:lpstr>Live Demo Plan</vt:lpstr>
    </vt:vector>
  </TitlesOfParts>
  <Company>Durham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DAWSON, STEPH</dc:creator>
  <cp:lastModifiedBy>Dave Chivers</cp:lastModifiedBy>
  <cp:revision>8</cp:revision>
  <dcterms:created xsi:type="dcterms:W3CDTF">2019-09-04T13:17:49Z</dcterms:created>
  <dcterms:modified xsi:type="dcterms:W3CDTF">2026-03-17T13:37:21Z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0x0101003BCE951B1D604F47AD4EB98F3F9810DA</vt:lpwstr>
  </property>
  <property fmtid="{D5CDD505-2E9C-101B-9397-08002B2CF9AE}" pid="3" name="MediaServiceImageTags">
    <vt:lpwstr/>
  </property>
</Properties>
</file>